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256" r:id="rId2"/>
    <p:sldId id="261" r:id="rId3"/>
    <p:sldId id="279" r:id="rId4"/>
    <p:sldId id="262" r:id="rId5"/>
    <p:sldId id="263" r:id="rId6"/>
    <p:sldId id="280" r:id="rId7"/>
    <p:sldId id="264" r:id="rId8"/>
    <p:sldId id="281" r:id="rId9"/>
    <p:sldId id="265" r:id="rId10"/>
    <p:sldId id="282" r:id="rId11"/>
    <p:sldId id="266" r:id="rId12"/>
    <p:sldId id="283" r:id="rId13"/>
    <p:sldId id="267" r:id="rId14"/>
    <p:sldId id="268" r:id="rId15"/>
    <p:sldId id="269" r:id="rId16"/>
    <p:sldId id="284" r:id="rId17"/>
    <p:sldId id="285" r:id="rId18"/>
    <p:sldId id="272" r:id="rId19"/>
    <p:sldId id="286" r:id="rId20"/>
    <p:sldId id="287" r:id="rId21"/>
    <p:sldId id="288" r:id="rId22"/>
    <p:sldId id="270" r:id="rId23"/>
    <p:sldId id="271" r:id="rId24"/>
    <p:sldId id="275" r:id="rId25"/>
    <p:sldId id="273" r:id="rId26"/>
    <p:sldId id="274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F7A09-32A3-474E-AD1F-A4F14C936E71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C0645-3A07-483F-9AA3-784F5D472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7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846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14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804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32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283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018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14BA1-E738-4A28-BF3E-968E14B3E3B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093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6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6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6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9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2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6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5EB87-604F-4C23-8143-ABDF09FE74D9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8F31-9F3A-464A-BCDD-7B812C92B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jpg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jpg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448" y="2919632"/>
            <a:ext cx="6858000" cy="60133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Process Dynamics &amp; Control</a:t>
            </a:r>
          </a:p>
        </p:txBody>
      </p:sp>
    </p:spTree>
    <p:extLst>
      <p:ext uri="{BB962C8B-B14F-4D97-AF65-F5344CB8AC3E}">
        <p14:creationId xmlns:p14="http://schemas.microsoft.com/office/powerpoint/2010/main" val="55216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8484"/>
          </a:xfrm>
        </p:spPr>
        <p:txBody>
          <a:bodyPr/>
          <a:lstStyle/>
          <a:p>
            <a:r>
              <a:rPr lang="en-IN" b="1" dirty="0"/>
              <a:t>Development of Mathematical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03611"/>
            <a:ext cx="7886700" cy="5173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Motivation: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Develop understanding of process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Build a mathematical hypothesis of process mechanisms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Match observed process behavior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useful in design, optimization and </a:t>
            </a:r>
            <a:r>
              <a:rPr lang="en-US" sz="2400" i="1" dirty="0"/>
              <a:t>control </a:t>
            </a:r>
            <a:r>
              <a:rPr lang="en-US" sz="2400" dirty="0"/>
              <a:t>of process</a:t>
            </a:r>
          </a:p>
          <a:p>
            <a:pPr marL="342900" lvl="1" indent="0" eaLnBrk="0" fontAlgn="base" hangingPunc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97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8484"/>
          </a:xfrm>
        </p:spPr>
        <p:txBody>
          <a:bodyPr/>
          <a:lstStyle/>
          <a:p>
            <a:r>
              <a:rPr lang="en-IN" b="1" dirty="0"/>
              <a:t>Development of Mathematical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03611"/>
            <a:ext cx="7886700" cy="5173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Motivation: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Develop understanding of process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Build a mathematical hypothesis of process mechanisms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Match observed process behavior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useful in design, optimization and </a:t>
            </a:r>
            <a:r>
              <a:rPr lang="en-US" sz="2400" i="1" dirty="0"/>
              <a:t>control </a:t>
            </a:r>
            <a:r>
              <a:rPr lang="en-US" sz="2400" dirty="0"/>
              <a:t>of process</a:t>
            </a:r>
          </a:p>
          <a:p>
            <a:pPr marL="342900" lvl="1" indent="0" eaLnBrk="0" fontAlgn="base" hangingPunct="0">
              <a:buNone/>
            </a:pPr>
            <a:endParaRPr lang="en-IN" sz="2400" dirty="0"/>
          </a:p>
          <a:p>
            <a:pPr marL="0" indent="0" eaLnBrk="0" fontAlgn="base" hangingPunct="0">
              <a:buNone/>
            </a:pPr>
            <a:r>
              <a:rPr lang="en-US" sz="2400" dirty="0"/>
              <a:t>Control:</a:t>
            </a:r>
            <a:endParaRPr lang="en-IN" sz="2400" dirty="0"/>
          </a:p>
          <a:p>
            <a:pPr lvl="1" eaLnBrk="0" fontAlgn="base" hangingPunct="0"/>
            <a:r>
              <a:rPr lang="en-US" sz="2400" dirty="0"/>
              <a:t>Interested in description of process dynamics</a:t>
            </a:r>
          </a:p>
          <a:p>
            <a:pPr lvl="1" eaLnBrk="0" fontAlgn="base" hangingPunct="0"/>
            <a:endParaRPr lang="en-IN" sz="2400" dirty="0"/>
          </a:p>
          <a:p>
            <a:pPr lvl="2" eaLnBrk="0" fontAlgn="base" hangingPunct="0">
              <a:buFont typeface="Wingdings" panose="05000000000000000000" pitchFamily="2" charset="2"/>
              <a:buChar char="Ø"/>
            </a:pPr>
            <a:r>
              <a:rPr lang="en-US" sz="2400" dirty="0"/>
              <a:t>Dynamic model is used to predict how process responds to given input</a:t>
            </a:r>
          </a:p>
          <a:p>
            <a:pPr marL="685800" lvl="2" indent="0" eaLnBrk="0" fontAlgn="base" hangingPunct="0">
              <a:buNone/>
            </a:pPr>
            <a:endParaRPr lang="en-IN" sz="2400" dirty="0"/>
          </a:p>
          <a:p>
            <a:pPr lvl="2" eaLnBrk="0" fontAlgn="base" hangingPunct="0">
              <a:buFont typeface="Wingdings" panose="05000000000000000000" pitchFamily="2" charset="2"/>
              <a:buChar char="Ø"/>
            </a:pPr>
            <a:r>
              <a:rPr lang="en-US" sz="2400" dirty="0"/>
              <a:t>Tells us how to react</a:t>
            </a:r>
            <a:endParaRPr lang="en-IN" sz="2400" dirty="0"/>
          </a:p>
          <a:p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21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IN" b="1" dirty="0"/>
              <a:t>Development of Mathematical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37063"/>
            <a:ext cx="7886700" cy="5139900"/>
          </a:xfrm>
        </p:spPr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lang="en-IN" sz="2800" dirty="0"/>
              <a:t>Mathematical </a:t>
            </a:r>
            <a:r>
              <a:rPr lang="en-IN" sz="2800" dirty="0" err="1"/>
              <a:t>Modeling</a:t>
            </a:r>
            <a:r>
              <a:rPr lang="en-IN" sz="2800" dirty="0"/>
              <a:t> of a process require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Understanding of the process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Writing conservation balance for Mass, Momentum and Energy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Writing closure equations, </a:t>
            </a:r>
            <a:r>
              <a:rPr lang="en-IN" sz="2800" dirty="0" err="1"/>
              <a:t>i.e</a:t>
            </a:r>
            <a:r>
              <a:rPr lang="en-IN" sz="2800" dirty="0"/>
              <a:t>, constitutive relationships defining equilibrium and rate parameters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Devising solution technique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78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What kind of model do we need?</a:t>
            </a:r>
            <a:br>
              <a:rPr lang="en-IN" sz="18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8507"/>
            <a:ext cx="7886700" cy="4738456"/>
          </a:xfrm>
        </p:spPr>
        <p:txBody>
          <a:bodyPr/>
          <a:lstStyle/>
          <a:p>
            <a:pPr marL="0" indent="0">
              <a:buNone/>
            </a:pPr>
            <a:r>
              <a:rPr lang="en-US" sz="2800" i="1" dirty="0"/>
              <a:t>Dynamic vs. Steady-state</a:t>
            </a:r>
            <a:endParaRPr lang="en-IN" sz="2800" dirty="0"/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Steady-state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Variables not a function of time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useful for design calculation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90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What kind of model do we need?</a:t>
            </a:r>
            <a:br>
              <a:rPr lang="en-IN" sz="18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8507"/>
            <a:ext cx="7886700" cy="4738456"/>
          </a:xfrm>
        </p:spPr>
        <p:txBody>
          <a:bodyPr/>
          <a:lstStyle/>
          <a:p>
            <a:pPr marL="0" indent="0">
              <a:buNone/>
            </a:pPr>
            <a:r>
              <a:rPr lang="en-US" sz="2800" i="1" dirty="0"/>
              <a:t>Dynamic vs. Steady-state</a:t>
            </a:r>
            <a:endParaRPr lang="en-IN" sz="2800" dirty="0"/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Steady-state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Variables not a function of time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useful for design calculation</a:t>
            </a:r>
            <a:endParaRPr lang="en-IN" sz="2800" dirty="0"/>
          </a:p>
          <a:p>
            <a:pPr lvl="0"/>
            <a:endParaRPr lang="en-US" sz="2800" i="1" dirty="0"/>
          </a:p>
          <a:p>
            <a:pPr lvl="0"/>
            <a:r>
              <a:rPr lang="en-US" sz="2800" i="1" dirty="0"/>
              <a:t>Dynamic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Variables are a function of time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Control requires dynamic model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15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6839"/>
            <a:ext cx="7886700" cy="89209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What kind of model do we need?</a:t>
            </a:r>
            <a:br>
              <a:rPr lang="en-IN" sz="18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48937"/>
            <a:ext cx="7886700" cy="4928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dirty="0"/>
              <a:t>Experimental vs Theoretical</a:t>
            </a:r>
            <a:endParaRPr lang="en-IN" sz="2800" dirty="0"/>
          </a:p>
          <a:p>
            <a:pPr lvl="0"/>
            <a:r>
              <a:rPr lang="en-US" sz="2800" dirty="0"/>
              <a:t>Experimental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Derived from tests performed on actual process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Simpler model forms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Easier to manipulate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7703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6839"/>
            <a:ext cx="7886700" cy="89209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What kind of model do we need?</a:t>
            </a:r>
            <a:br>
              <a:rPr lang="en-IN" sz="18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48937"/>
            <a:ext cx="7886700" cy="4928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dirty="0"/>
              <a:t>Experimental vs Theoretical</a:t>
            </a:r>
            <a:endParaRPr lang="en-IN" sz="2800" dirty="0"/>
          </a:p>
          <a:p>
            <a:pPr lvl="0"/>
            <a:r>
              <a:rPr lang="en-US" sz="2800" dirty="0"/>
              <a:t>Experimental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Derived from tests performed on actual process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Simpler model forms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Easier to manipulate</a:t>
            </a:r>
            <a:endParaRPr lang="en-IN" sz="2800" dirty="0"/>
          </a:p>
          <a:p>
            <a:pPr lvl="0"/>
            <a:r>
              <a:rPr lang="en-US" sz="2800" dirty="0"/>
              <a:t>Theoretical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Application of fundamental laws of physics and  	chemistry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more complex but provides understanding</a:t>
            </a:r>
            <a:endParaRPr lang="en-IN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Required in design stages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2629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138" y="992459"/>
            <a:ext cx="7886700" cy="5542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i="1" dirty="0"/>
              <a:t>Empirical vs. Mechanistic models</a:t>
            </a:r>
            <a:endParaRPr lang="en-IN" sz="2500" dirty="0"/>
          </a:p>
          <a:p>
            <a:r>
              <a:rPr lang="en-US" sz="2500" dirty="0"/>
              <a:t>Empirical Models</a:t>
            </a:r>
            <a:endParaRPr lang="en-IN" sz="2500" dirty="0"/>
          </a:p>
          <a:p>
            <a:pPr lvl="1"/>
            <a:r>
              <a:rPr lang="en-US" sz="2500" dirty="0"/>
              <a:t>only local representation of the process (no extrapolation)</a:t>
            </a:r>
            <a:endParaRPr lang="en-IN" sz="2500" dirty="0"/>
          </a:p>
          <a:p>
            <a:pPr lvl="1"/>
            <a:r>
              <a:rPr lang="en-US" sz="2500" dirty="0"/>
              <a:t>model only as good as the data</a:t>
            </a:r>
            <a:endParaRPr lang="en-IN" sz="2500" dirty="0"/>
          </a:p>
          <a:p>
            <a:pPr lvl="1"/>
            <a:r>
              <a:rPr lang="en-US" sz="2500" dirty="0"/>
              <a:t>do not rely on underlying mechanisms </a:t>
            </a:r>
            <a:endParaRPr lang="en-IN" sz="2500" dirty="0"/>
          </a:p>
          <a:p>
            <a:pPr lvl="1"/>
            <a:r>
              <a:rPr lang="en-US" sz="2500" dirty="0"/>
              <a:t>Fit specific function to match process</a:t>
            </a:r>
            <a:endParaRPr lang="en-IN" sz="2500" dirty="0"/>
          </a:p>
          <a:p>
            <a:endParaRPr lang="en-IN" sz="3600" dirty="0"/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479502"/>
            <a:ext cx="7886700" cy="61331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What kind of model do we need?</a:t>
            </a:r>
            <a:br>
              <a:rPr lang="en-IN" sz="18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77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138" y="992459"/>
            <a:ext cx="7886700" cy="55421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i="1" dirty="0"/>
              <a:t>Empirical vs. Mechanistic models</a:t>
            </a:r>
            <a:endParaRPr lang="en-IN" sz="3600" dirty="0"/>
          </a:p>
          <a:p>
            <a:r>
              <a:rPr lang="en-US" sz="3600" dirty="0"/>
              <a:t>Empirical Models</a:t>
            </a:r>
            <a:endParaRPr lang="en-IN" sz="3600" dirty="0"/>
          </a:p>
          <a:p>
            <a:pPr lvl="1"/>
            <a:r>
              <a:rPr lang="en-US" sz="3300" dirty="0"/>
              <a:t>only local representation of the process (no extrapolation)</a:t>
            </a:r>
            <a:endParaRPr lang="en-IN" sz="3300" dirty="0"/>
          </a:p>
          <a:p>
            <a:pPr lvl="1"/>
            <a:r>
              <a:rPr lang="en-US" sz="3300" dirty="0"/>
              <a:t>model only as good as the data</a:t>
            </a:r>
            <a:endParaRPr lang="en-IN" sz="3300" dirty="0"/>
          </a:p>
          <a:p>
            <a:pPr lvl="1"/>
            <a:r>
              <a:rPr lang="en-US" sz="3300" dirty="0"/>
              <a:t>do not rely on underlying mechanisms </a:t>
            </a:r>
            <a:endParaRPr lang="en-IN" sz="3300" dirty="0"/>
          </a:p>
          <a:p>
            <a:pPr lvl="1"/>
            <a:r>
              <a:rPr lang="en-US" sz="3300" dirty="0"/>
              <a:t>Fit specific function to match process</a:t>
            </a:r>
            <a:endParaRPr lang="en-IN" sz="3300" dirty="0"/>
          </a:p>
          <a:p>
            <a:endParaRPr lang="en-IN" sz="3600" dirty="0"/>
          </a:p>
          <a:p>
            <a:r>
              <a:rPr lang="en-US" sz="3600" dirty="0"/>
              <a:t>Mechanistic Models</a:t>
            </a:r>
            <a:endParaRPr lang="en-IN" sz="3600" dirty="0"/>
          </a:p>
          <a:p>
            <a:pPr lvl="1"/>
            <a:r>
              <a:rPr lang="en-US" sz="3300" dirty="0"/>
              <a:t>Rely on our understanding of a process</a:t>
            </a:r>
            <a:endParaRPr lang="en-IN" sz="3300" dirty="0"/>
          </a:p>
          <a:p>
            <a:pPr lvl="1"/>
            <a:r>
              <a:rPr lang="en-US" sz="3300" dirty="0"/>
              <a:t>Derived from first principles</a:t>
            </a:r>
            <a:endParaRPr lang="en-IN" sz="3300" dirty="0"/>
          </a:p>
          <a:p>
            <a:pPr lvl="1"/>
            <a:r>
              <a:rPr lang="en-US" sz="3300" dirty="0"/>
              <a:t>Observing laws of conservation of </a:t>
            </a:r>
            <a:endParaRPr lang="en-IN" sz="3300" dirty="0"/>
          </a:p>
          <a:p>
            <a:pPr lvl="2"/>
            <a:r>
              <a:rPr lang="en-US" sz="3000" dirty="0"/>
              <a:t>Mass</a:t>
            </a:r>
            <a:endParaRPr lang="en-IN" sz="3000" dirty="0"/>
          </a:p>
          <a:p>
            <a:pPr lvl="2"/>
            <a:r>
              <a:rPr lang="en-US" sz="3000" dirty="0"/>
              <a:t>Energy</a:t>
            </a:r>
            <a:endParaRPr lang="en-IN" sz="3000" dirty="0"/>
          </a:p>
          <a:p>
            <a:pPr lvl="2"/>
            <a:r>
              <a:rPr lang="en-US" sz="3000" dirty="0"/>
              <a:t>Momentum</a:t>
            </a:r>
            <a:endParaRPr lang="en-IN" sz="3000" dirty="0"/>
          </a:p>
          <a:p>
            <a:pPr lvl="1"/>
            <a:r>
              <a:rPr lang="en-US" sz="3300" dirty="0"/>
              <a:t>Useful for simulation and exploration of new operating conditions</a:t>
            </a:r>
            <a:endParaRPr lang="en-IN" sz="3300" dirty="0"/>
          </a:p>
          <a:p>
            <a:pPr lvl="1"/>
            <a:r>
              <a:rPr lang="en-US" sz="3300" dirty="0"/>
              <a:t>May contain unknown constants that must be estimated</a:t>
            </a:r>
            <a:endParaRPr lang="en-IN" sz="800" dirty="0"/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479502"/>
            <a:ext cx="7886700" cy="61331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What kind of model do we need?</a:t>
            </a:r>
            <a:br>
              <a:rPr lang="en-IN" sz="18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225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8484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What kind of model do we need?</a:t>
            </a:r>
            <a:br>
              <a:rPr lang="en-IN" sz="16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5262563"/>
          </a:xfrm>
        </p:spPr>
        <p:txBody>
          <a:bodyPr/>
          <a:lstStyle/>
          <a:p>
            <a:pPr marL="0" indent="0">
              <a:buNone/>
            </a:pPr>
            <a:r>
              <a:rPr lang="en-US" sz="2400" i="1" dirty="0"/>
              <a:t>Linear vs Nonlinear</a:t>
            </a:r>
            <a:endParaRPr lang="en-IN" sz="1400" dirty="0"/>
          </a:p>
          <a:p>
            <a:pPr lvl="0"/>
            <a:r>
              <a:rPr lang="en-US" sz="2400" dirty="0"/>
              <a:t>Linear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basis for most industrial control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simpler model form, easy to identify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easy to design controller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poor prediction, adequate control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487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8484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What kind of model do we need?</a:t>
            </a:r>
            <a:br>
              <a:rPr lang="en-IN" sz="16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5262563"/>
          </a:xfrm>
        </p:spPr>
        <p:txBody>
          <a:bodyPr/>
          <a:lstStyle/>
          <a:p>
            <a:pPr marL="0" indent="0">
              <a:buNone/>
            </a:pPr>
            <a:r>
              <a:rPr lang="en-US" sz="2400" i="1" dirty="0"/>
              <a:t>Linear vs Nonlinear</a:t>
            </a:r>
            <a:endParaRPr lang="en-IN" sz="1400" dirty="0"/>
          </a:p>
          <a:p>
            <a:pPr lvl="0"/>
            <a:r>
              <a:rPr lang="en-US" sz="2400" dirty="0"/>
              <a:t>Linear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basis for most industrial control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simpler model form, easy to identify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easy to design controller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poor prediction, adequate control</a:t>
            </a:r>
            <a:endParaRPr lang="en-IN" sz="2400" dirty="0"/>
          </a:p>
          <a:p>
            <a:pPr lvl="0"/>
            <a:r>
              <a:rPr lang="en-US" sz="2400" dirty="0"/>
              <a:t>Nonlinear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Reality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more complex and difficult to identify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need state-of-the-art controller design techniques to do the job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better prediction and control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153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21243"/>
            <a:ext cx="7886700" cy="593879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What kind of model do we need?</a:t>
            </a:r>
            <a:br>
              <a:rPr lang="en-IN" sz="18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8507"/>
            <a:ext cx="7886700" cy="4738456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In existing processes, we rely on</a:t>
            </a:r>
            <a:endParaRPr lang="en-IN" sz="2800" dirty="0"/>
          </a:p>
          <a:p>
            <a:pPr lvl="1"/>
            <a:r>
              <a:rPr lang="en-US" sz="2500" dirty="0"/>
              <a:t>Dynamic models obtained from experiments</a:t>
            </a:r>
            <a:endParaRPr lang="en-IN" sz="2500" dirty="0"/>
          </a:p>
          <a:p>
            <a:pPr lvl="1"/>
            <a:r>
              <a:rPr lang="en-US" sz="2500" dirty="0"/>
              <a:t>Usually of an empirical nature</a:t>
            </a:r>
            <a:endParaRPr lang="en-IN" sz="2500" dirty="0"/>
          </a:p>
          <a:p>
            <a:pPr lvl="1"/>
            <a:r>
              <a:rPr lang="en-US" sz="2500" dirty="0"/>
              <a:t>Linear</a:t>
            </a:r>
            <a:endParaRPr lang="en-IN" sz="25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In new applications (or difficult problems)</a:t>
            </a:r>
            <a:endParaRPr lang="en-IN" sz="2800" dirty="0"/>
          </a:p>
          <a:p>
            <a:pPr lvl="1"/>
            <a:r>
              <a:rPr lang="en-US" sz="2500" dirty="0"/>
              <a:t>Focus on mechanistic modeling</a:t>
            </a:r>
            <a:endParaRPr lang="en-IN" sz="2500" dirty="0"/>
          </a:p>
          <a:p>
            <a:pPr lvl="1"/>
            <a:r>
              <a:rPr lang="en-US" sz="2500" dirty="0"/>
              <a:t>Dynamic models derived from theory</a:t>
            </a:r>
            <a:endParaRPr lang="en-IN" sz="2500" dirty="0"/>
          </a:p>
          <a:p>
            <a:pPr lvl="1"/>
            <a:r>
              <a:rPr lang="en-US" sz="2500" dirty="0"/>
              <a:t>Nonlinear</a:t>
            </a:r>
            <a:endParaRPr lang="en-IN" sz="2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861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61147"/>
          </a:xfrm>
        </p:spPr>
        <p:txBody>
          <a:bodyPr/>
          <a:lstStyle/>
          <a:p>
            <a:r>
              <a:rPr lang="en-US" sz="3600" b="1" dirty="0"/>
              <a:t>General modeling procedure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37063"/>
            <a:ext cx="7886700" cy="5139900"/>
          </a:xfrm>
        </p:spPr>
        <p:txBody>
          <a:bodyPr>
            <a:normAutofit/>
          </a:bodyPr>
          <a:lstStyle/>
          <a:p>
            <a:endParaRPr lang="en-IN" sz="1200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Identify modeling objectives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end use of model (e.g. control)</a:t>
            </a:r>
            <a:endParaRPr lang="en-IN" sz="2000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Identify fundamental quantities of interest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Mass, Energy and/or Momentum</a:t>
            </a:r>
            <a:endParaRPr lang="en-IN" sz="2000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Identify boundaries</a:t>
            </a:r>
            <a:endParaRPr lang="en-IN" sz="1400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Apply fundamental physical and chemical laws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Mass, Energy and/or Momentum balances</a:t>
            </a:r>
            <a:endParaRPr lang="en-IN" sz="2000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Make appropriate assumptions (Simplify)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ideality (e.g. isothermal, adiabatic, ideal gas, no friction, incompressible flow, </a:t>
            </a:r>
            <a:r>
              <a:rPr lang="en-US" sz="2000" dirty="0" err="1"/>
              <a:t>etc</a:t>
            </a:r>
            <a:r>
              <a:rPr lang="en-US" sz="2000" dirty="0"/>
              <a:t>,…)</a:t>
            </a:r>
            <a:endParaRPr lang="en-IN" sz="2000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Write down energy, mass and momentum balances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develop the model equations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417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61147"/>
          </a:xfrm>
        </p:spPr>
        <p:txBody>
          <a:bodyPr/>
          <a:lstStyle/>
          <a:p>
            <a:r>
              <a:rPr lang="en-US" sz="3600" b="1" dirty="0"/>
              <a:t>General modeling procedure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37063"/>
            <a:ext cx="7886700" cy="5139900"/>
          </a:xfrm>
        </p:spPr>
        <p:txBody>
          <a:bodyPr>
            <a:normAutofit/>
          </a:bodyPr>
          <a:lstStyle/>
          <a:p>
            <a:endParaRPr lang="en-IN" sz="1200" dirty="0"/>
          </a:p>
          <a:p>
            <a:pPr marL="457200" lvl="0" indent="-457200">
              <a:buFont typeface="+mj-lt"/>
              <a:buAutoNum type="arabicPeriod" startAt="7"/>
            </a:pPr>
            <a:r>
              <a:rPr lang="en-US" sz="2400" dirty="0"/>
              <a:t>Check model consistency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do we have more unknowns than equations</a:t>
            </a:r>
            <a:endParaRPr lang="en-IN" sz="2000" dirty="0"/>
          </a:p>
          <a:p>
            <a:pPr marL="457200" lvl="0" indent="-457200">
              <a:buFont typeface="+mj-lt"/>
              <a:buAutoNum type="arabicPeriod" startAt="7"/>
            </a:pPr>
            <a:r>
              <a:rPr lang="en-US" sz="2400" dirty="0"/>
              <a:t>Determine unknown constants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e.g. friction coefficients, fluid density and viscosity</a:t>
            </a:r>
            <a:endParaRPr lang="en-IN" sz="2000" dirty="0"/>
          </a:p>
          <a:p>
            <a:pPr marL="457200" lvl="0" indent="-457200">
              <a:buFont typeface="+mj-lt"/>
              <a:buAutoNum type="arabicPeriod" startAt="7"/>
            </a:pPr>
            <a:r>
              <a:rPr lang="en-US" sz="2400" dirty="0"/>
              <a:t>Solve model equations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typically nonlinear ordinary (or partial) differential equations</a:t>
            </a:r>
            <a:endParaRPr lang="en-I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initial value problems</a:t>
            </a:r>
            <a:endParaRPr lang="en-IN" sz="2000" dirty="0"/>
          </a:p>
          <a:p>
            <a:pPr marL="457200" lvl="0" indent="-457200">
              <a:buFont typeface="+mj-lt"/>
              <a:buAutoNum type="arabicPeriod" startAt="7"/>
            </a:pPr>
            <a:r>
              <a:rPr lang="en-US" sz="2400" dirty="0"/>
              <a:t>Check the validity of the model</a:t>
            </a:r>
            <a:endParaRPr lang="en-IN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compare to process behavior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783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1782"/>
          </a:xfrm>
        </p:spPr>
        <p:txBody>
          <a:bodyPr>
            <a:normAutofit fontScale="90000"/>
          </a:bodyPr>
          <a:lstStyle/>
          <a:p>
            <a:br>
              <a:rPr lang="en-IN" sz="3600" b="1" dirty="0"/>
            </a:br>
            <a:r>
              <a:rPr lang="en-IN" sz="3600" b="1" dirty="0"/>
              <a:t>Benchmark Systems to be used for the course</a:t>
            </a:r>
            <a:br>
              <a:rPr lang="en-IN" sz="1800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4552"/>
            <a:ext cx="7886700" cy="5151051"/>
          </a:xfrm>
        </p:spPr>
        <p:txBody>
          <a:bodyPr/>
          <a:lstStyle/>
          <a:p>
            <a:pPr lvl="0"/>
            <a:r>
              <a:rPr lang="en-IN" sz="2400" dirty="0"/>
              <a:t>Tank Level System</a:t>
            </a:r>
            <a:endParaRPr lang="en-IN" sz="1200" dirty="0"/>
          </a:p>
          <a:p>
            <a:pPr lvl="1"/>
            <a:r>
              <a:rPr lang="en-IN" sz="2000" dirty="0"/>
              <a:t>3 tank in series</a:t>
            </a:r>
          </a:p>
          <a:p>
            <a:pPr lvl="1"/>
            <a:r>
              <a:rPr lang="en-IN" sz="2000" dirty="0"/>
              <a:t>Quadruple Tank </a:t>
            </a:r>
          </a:p>
          <a:p>
            <a:pPr lvl="0"/>
            <a:r>
              <a:rPr lang="en-IN" sz="2400" dirty="0"/>
              <a:t>Continuous Stirred Tank Heater</a:t>
            </a:r>
            <a:endParaRPr lang="en-IN" sz="1200" dirty="0"/>
          </a:p>
          <a:p>
            <a:pPr lvl="0"/>
            <a:r>
              <a:rPr lang="en-IN" sz="2400" dirty="0"/>
              <a:t>Continuous Stirred Tank Reactor system</a:t>
            </a:r>
            <a:endParaRPr lang="en-IN" sz="1200" dirty="0"/>
          </a:p>
          <a:p>
            <a:pPr lvl="1"/>
            <a:r>
              <a:rPr lang="en-IN" sz="2000" dirty="0"/>
              <a:t>Isothermal Reactor (Van de </a:t>
            </a:r>
            <a:r>
              <a:rPr lang="en-IN" sz="2000" dirty="0" err="1"/>
              <a:t>Vusse</a:t>
            </a:r>
            <a:r>
              <a:rPr lang="en-IN" sz="2000" dirty="0"/>
              <a:t> reaction)</a:t>
            </a:r>
          </a:p>
          <a:p>
            <a:pPr lvl="1"/>
            <a:r>
              <a:rPr lang="en-IN" sz="2000" dirty="0"/>
              <a:t>Non-isothermal Reactor</a:t>
            </a:r>
          </a:p>
          <a:p>
            <a:pPr lvl="1"/>
            <a:r>
              <a:rPr lang="en-US" sz="2000" dirty="0"/>
              <a:t>Polymerization Reactor</a:t>
            </a:r>
            <a:endParaRPr lang="en-IN" sz="2000" dirty="0"/>
          </a:p>
          <a:p>
            <a:pPr lvl="0"/>
            <a:r>
              <a:rPr lang="en-IN" sz="2400" dirty="0"/>
              <a:t>Distillation Column</a:t>
            </a:r>
            <a:endParaRPr lang="en-IN" sz="1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MATLAB / SIMULINK model will be developed based on nonlinear model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2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5071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Mathematical Model of tank level system</a:t>
            </a:r>
            <a:br>
              <a:rPr lang="en-IN" dirty="0"/>
            </a:br>
            <a:endParaRPr lang="en-IN" dirty="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248935" y="1483112"/>
            <a:ext cx="1124043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735979" y="1141268"/>
          <a:ext cx="3511825" cy="267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1752480" imgH="1333440" progId="Equation.DSMT4">
                  <p:embed/>
                </p:oleObj>
              </mc:Choice>
              <mc:Fallback>
                <p:oleObj name="Equation" r:id="rId4" imgW="1752480" imgH="133344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79" y="1141268"/>
                        <a:ext cx="3511825" cy="26743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98403" y="4214553"/>
            <a:ext cx="4780426" cy="222905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objective: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the 3</a:t>
            </a:r>
            <a:r>
              <a:rPr lang="en-IN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tank level by manipulating pump voltage V,  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F</a:t>
            </a:r>
            <a:r>
              <a:rPr lang="en-IN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K V</a:t>
            </a:r>
            <a:r>
              <a:rPr lang="en-IN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q</a:t>
            </a:r>
            <a:r>
              <a:rPr lang="en-IN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input flow on the tanks 2 and set q</a:t>
            </a:r>
            <a:r>
              <a:rPr lang="en-IN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manipulated variable.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one is difficult to control?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70269" y="4214553"/>
            <a:ext cx="3757352" cy="1779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for Simulation in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Matlab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/Simulink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28 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32 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V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 V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b="1" dirty="0"/>
              <a:t>0.06725</a:t>
            </a:r>
            <a:r>
              <a:rPr lang="en-IN" dirty="0"/>
              <a:t>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= </a:t>
            </a:r>
            <a:r>
              <a:rPr lang="en-IN" b="1" dirty="0"/>
              <a:t>0.05683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a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0.07089 cm</a:t>
            </a:r>
            <a:r>
              <a:rPr lang="en-IN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K=3.14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643" y="942916"/>
            <a:ext cx="2147255" cy="31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2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3522" y="353071"/>
                <a:ext cx="7886700" cy="585276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Transfer Function model</a:t>
                </a:r>
              </a:p>
              <a:p>
                <a:pPr marL="0" indent="0">
                  <a:buNone/>
                </a:pPr>
                <a:r>
                  <a:rPr lang="en-IN" dirty="0"/>
                  <a:t>Define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;  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;    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IN" dirty="0"/>
                  <a:t>   </a:t>
                </a:r>
              </a:p>
              <a:p>
                <a:pPr marL="0" indent="0">
                  <a:buNone/>
                </a:pPr>
                <a:r>
                  <a:rPr lang="en-IN" dirty="0"/>
                  <a:t>Linearizing around steady state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rad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rad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e>
                            </m:rad>
                          </m:den>
                        </m:f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Subtracting above from steady state equation,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rad>
                      </m:den>
                    </m:f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   </a:t>
                </a:r>
                <a:r>
                  <a:rPr lang="en-IN" dirty="0">
                    <a:sym typeface="Wingdings" panose="05000000000000000000" pitchFamily="2" charset="2"/>
                  </a:rPr>
                  <a:t> </a:t>
                </a:r>
                <a:r>
                  <a:rPr lang="en-IN" dirty="0"/>
                  <a:t>Transfer function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dirty="0"/>
                  <a:t> 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Similarly,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</m:e>
                    </m:rad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</m:e>
                    </m:rad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 and Transfer function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</m:e>
                    </m:rad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</m:e>
                    </m:rad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  and Transfer function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IN" dirty="0"/>
                  <a:t> 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bSup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dirty="0"/>
                  <a:t>       for j = 2,3</a:t>
                </a:r>
              </a:p>
              <a:p>
                <a:pPr marL="0" indent="0">
                  <a:buNone/>
                </a:pPr>
                <a:r>
                  <a:rPr lang="en-IN" dirty="0"/>
                  <a:t>So, Process Transfer function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+1)(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522" y="353071"/>
                <a:ext cx="7886700" cy="5852767"/>
              </a:xfrm>
              <a:blipFill>
                <a:blip r:embed="rId2"/>
                <a:stretch>
                  <a:fillRect l="-773" t="-1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17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284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Quadruple Tank problem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 descr="Image result for quadruple tank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628" y="1014413"/>
            <a:ext cx="6206743" cy="516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6373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38845"/>
          </a:xfrm>
        </p:spPr>
        <p:txBody>
          <a:bodyPr/>
          <a:lstStyle/>
          <a:p>
            <a:r>
              <a:rPr lang="en-IN" b="1" dirty="0"/>
              <a:t>Quadruple Tank problem</a:t>
            </a:r>
            <a:endParaRPr lang="en-IN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70659" y="1862253"/>
            <a:ext cx="125828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791738" y="1405054"/>
          <a:ext cx="4954184" cy="3612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2438400" imgH="1778000" progId="Equation.DSMT4">
                  <p:embed/>
                </p:oleObj>
              </mc:Choice>
              <mc:Fallback>
                <p:oleObj name="Equation" r:id="rId4" imgW="2438400" imgH="17780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738" y="1405054"/>
                        <a:ext cx="4954184" cy="3612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850171" y="1427357"/>
            <a:ext cx="3033170" cy="48396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Objective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Both the levels of tank1 and tank2 should be controlled by manipulating voltages to the pumps.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for simulation: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28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32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0.071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0.057 cm</a:t>
            </a:r>
            <a:r>
              <a:rPr lang="en-IN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3.33, 3.35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3.0, 3.0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γ</a:t>
            </a:r>
            <a:r>
              <a:rPr lang="en-IN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0.7, 0.6</a:t>
            </a:r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591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814039" y="171449"/>
            <a:ext cx="7839307" cy="62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744" tIns="31872" rIns="63744" bIns="31872" anchor="b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Monotype Sorts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ä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9900"/>
              </a:buClr>
              <a:buSzPct val="50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  <a:defRPr/>
            </a:pPr>
            <a:r>
              <a:rPr lang="en-US" altLang="en-US" sz="3200" dirty="0"/>
              <a:t>Jacketed heated stirred tank</a:t>
            </a: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814039" y="857250"/>
            <a:ext cx="7337501" cy="563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744" tIns="31872" rIns="63744" bIns="31872"/>
          <a:lstStyle>
            <a:lvl1pPr marL="342900" indent="-3429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Monotype Sorts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ä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Font typeface="Monotype Sorts" charset="2"/>
              <a:buChar char="è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00"/>
              </a:buClr>
              <a:buSzPct val="50000"/>
              <a:buFont typeface="Monotype Sorts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 sz="1662" dirty="0">
              <a:effectLst/>
            </a:endParaRPr>
          </a:p>
          <a:p>
            <a:pPr marL="0" indent="0">
              <a:buNone/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defRPr/>
            </a:pPr>
            <a:endParaRPr lang="en-US" altLang="en-US" sz="1662" dirty="0">
              <a:effectLst/>
            </a:endParaRPr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  <a:p>
            <a:pPr>
              <a:buFont typeface="Monotype Sorts" charset="2"/>
              <a:buNone/>
              <a:defRPr/>
            </a:pPr>
            <a:endParaRPr lang="en-US" altLang="en-US" sz="1662" dirty="0"/>
          </a:p>
        </p:txBody>
      </p:sp>
      <p:graphicFrame>
        <p:nvGraphicFramePr>
          <p:cNvPr id="20" name="Object 21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4556509" y="1996893"/>
          <a:ext cx="3678541" cy="2157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2273040" imgH="1333440" progId="Equation.DSMT4">
                  <p:embed/>
                </p:oleObj>
              </mc:Choice>
              <mc:Fallback>
                <p:oleObj name="Equation" r:id="rId4" imgW="2273040" imgH="1333440" progId="Equation.DSMT4">
                  <p:embed/>
                  <p:pic>
                    <p:nvPicPr>
                      <p:cNvPr id="2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509" y="1996893"/>
                        <a:ext cx="3678541" cy="2157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3995088" y="7965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Monotype Sorts" charset="2"/>
              <a:buNone/>
              <a:defRPr/>
            </a:pPr>
            <a:r>
              <a:rPr lang="en-US" altLang="en-US" dirty="0"/>
              <a:t>Assumptions: </a:t>
            </a:r>
          </a:p>
          <a:p>
            <a:pPr lvl="1">
              <a:defRPr/>
            </a:pPr>
            <a:r>
              <a:rPr lang="en-US" altLang="en-US" dirty="0"/>
              <a:t>Constant hold-up in tank and jacket</a:t>
            </a:r>
          </a:p>
          <a:p>
            <a:pPr lvl="1">
              <a:defRPr/>
            </a:pPr>
            <a:r>
              <a:rPr lang="en-US" altLang="en-US" dirty="0"/>
              <a:t>Constant heat capacities and densities</a:t>
            </a:r>
          </a:p>
          <a:p>
            <a:pPr lvl="1">
              <a:defRPr/>
            </a:pPr>
            <a:r>
              <a:rPr lang="en-US" altLang="en-US" dirty="0"/>
              <a:t>Incompressible flow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03" y="1068610"/>
            <a:ext cx="3366921" cy="36778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14039" y="5354653"/>
                <a:ext cx="7234010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Parameter and Steady State Values</a:t>
                </a:r>
              </a:p>
              <a:p>
                <a:r>
                  <a:rPr lang="en-US" dirty="0"/>
                  <a:t>F = 30 l/min; F</a:t>
                </a:r>
                <a:r>
                  <a:rPr lang="en-US" baseline="-25000" dirty="0"/>
                  <a:t>j</a:t>
                </a:r>
                <a:r>
                  <a:rPr lang="en-US" baseline="30000" dirty="0"/>
                  <a:t>s</a:t>
                </a:r>
                <a:r>
                  <a:rPr lang="en-US" dirty="0"/>
                  <a:t> = 50 l/min; T</a:t>
                </a:r>
                <a:r>
                  <a:rPr lang="en-US" baseline="-25000" dirty="0"/>
                  <a:t>0</a:t>
                </a:r>
                <a:r>
                  <a:rPr lang="en-US" dirty="0"/>
                  <a:t> = 15</a:t>
                </a:r>
                <a:r>
                  <a:rPr lang="en-US" baseline="30000" dirty="0"/>
                  <a:t>0</a:t>
                </a:r>
                <a:r>
                  <a:rPr lang="en-US" dirty="0"/>
                  <a:t>C; 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Jin</a:t>
                </a:r>
                <a:r>
                  <a:rPr lang="en-US" dirty="0"/>
                  <a:t> = 93</a:t>
                </a:r>
                <a:r>
                  <a:rPr lang="en-US" baseline="30000" dirty="0"/>
                  <a:t>0</a:t>
                </a:r>
                <a:r>
                  <a:rPr lang="en-US" dirty="0"/>
                  <a:t>C; V = 300 l; </a:t>
                </a:r>
                <a:r>
                  <a:rPr lang="en-US" dirty="0" err="1"/>
                  <a:t>V</a:t>
                </a:r>
                <a:r>
                  <a:rPr lang="en-US" baseline="-25000" dirty="0" err="1"/>
                  <a:t>j</a:t>
                </a:r>
                <a:r>
                  <a:rPr lang="en-US" dirty="0"/>
                  <a:t> = 30 l;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= 1 Kcal/K l;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𝑝𝑗</m:t>
                        </m:r>
                      </m:sub>
                    </m:sSub>
                  </m:oMath>
                </a14:m>
                <a:r>
                  <a:rPr lang="en-US" dirty="0"/>
                  <a:t> = 1.384 ; UA = 100 Kcal/min K; </a:t>
                </a:r>
                <a:r>
                  <a:rPr lang="en-US" dirty="0" err="1"/>
                  <a:t>T</a:t>
                </a:r>
                <a:r>
                  <a:rPr lang="en-US" baseline="30000" dirty="0" err="1"/>
                  <a:t>s</a:t>
                </a:r>
                <a:r>
                  <a:rPr lang="en-US" dirty="0"/>
                  <a:t> = 60</a:t>
                </a:r>
                <a:r>
                  <a:rPr lang="en-US" baseline="30000" dirty="0"/>
                  <a:t>0</a:t>
                </a:r>
                <a:r>
                  <a:rPr lang="en-US" dirty="0"/>
                  <a:t>C ; T</a:t>
                </a:r>
                <a:r>
                  <a:rPr lang="en-US" baseline="-25000" dirty="0"/>
                  <a:t>J</a:t>
                </a:r>
                <a:r>
                  <a:rPr lang="en-US" dirty="0"/>
                  <a:t> = 73.5 </a:t>
                </a:r>
                <a:r>
                  <a:rPr lang="en-US" baseline="30000" dirty="0"/>
                  <a:t>0</a:t>
                </a:r>
                <a:r>
                  <a:rPr lang="en-US" dirty="0"/>
                  <a:t>C </a:t>
                </a:r>
                <a:r>
                  <a:rPr lang="en-US" baseline="-25000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39" y="5354653"/>
                <a:ext cx="7234010" cy="944746"/>
              </a:xfrm>
              <a:prstGeom prst="rect">
                <a:avLst/>
              </a:prstGeom>
              <a:blipFill>
                <a:blip r:embed="rId7"/>
                <a:stretch>
                  <a:fillRect l="-759" t="-3226" b="-77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9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6697701" cy="906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Continuous Stirred Tank Reactor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84387" y="1382752"/>
            <a:ext cx="5713773" cy="2196847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758284" y="3102167"/>
          <a:ext cx="3122341" cy="117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5" imgW="1206500" imgH="457200" progId="Equation.DSMT4">
                  <p:embed/>
                </p:oleObj>
              </mc:Choice>
              <mc:Fallback>
                <p:oleObj name="Equation" r:id="rId5" imgW="1206500" imgH="4572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284" y="3102167"/>
                        <a:ext cx="3122341" cy="11778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47493" y="522783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77500" y="3841518"/>
            <a:ext cx="4572000" cy="22694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Assumption: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Exit Condition = Reactor Condition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Isothermal Reaction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 volume,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</a:t>
            </a:r>
            <a:r>
              <a:rPr lang="en-IN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IN" b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=F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reactant A in feed is consumed,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other reactant is in large excess. No product in the feed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83835" y="1271239"/>
            <a:ext cx="512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baseline="-25000" dirty="0"/>
              <a:t>in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211229" y="2958365"/>
            <a:ext cx="602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F</a:t>
            </a:r>
            <a:r>
              <a:rPr lang="en-IN" b="1" baseline="-25000" dirty="0" err="1"/>
              <a:t>out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40762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733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600" b="1" dirty="0"/>
              <a:t>Continuous Stirred Tank Reactor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37785"/>
                <a:ext cx="7886700" cy="49391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i="1" dirty="0">
                    <a:latin typeface="Cambria Math" panose="02040503050406030204" pitchFamily="18" charset="0"/>
                  </a:rPr>
                  <a:t>Constant volume : </a:t>
                </a:r>
                <a:r>
                  <a:rPr lang="en-IN" i="1" dirty="0" err="1">
                    <a:latin typeface="Cambria Math" panose="02040503050406030204" pitchFamily="18" charset="0"/>
                  </a:rPr>
                  <a:t>dV</a:t>
                </a:r>
                <a:r>
                  <a:rPr lang="en-IN" i="1" dirty="0">
                    <a:latin typeface="Cambria Math" panose="02040503050406030204" pitchFamily="18" charset="0"/>
                  </a:rPr>
                  <a:t>/</a:t>
                </a:r>
                <a:r>
                  <a:rPr lang="en-IN" i="1" dirty="0" err="1">
                    <a:latin typeface="Cambria Math" panose="02040503050406030204" pitchFamily="18" charset="0"/>
                  </a:rPr>
                  <a:t>dt</a:t>
                </a:r>
                <a:r>
                  <a:rPr lang="en-IN" i="1" dirty="0">
                    <a:latin typeface="Cambria Math" panose="02040503050406030204" pitchFamily="18" charset="0"/>
                  </a:rPr>
                  <a:t> = 0</a:t>
                </a:r>
              </a:p>
              <a:p>
                <a:pPr marL="0" indent="0">
                  <a:buNone/>
                </a:pPr>
                <a:r>
                  <a:rPr lang="en-IN" i="1" dirty="0">
                    <a:latin typeface="Cambria Math" panose="02040503050406030204" pitchFamily="18" charset="0"/>
                  </a:rPr>
                  <a:t>Dynamic model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Since our objective is to control C</a:t>
                </a:r>
                <a:r>
                  <a:rPr lang="en-IN" baseline="-25000" dirty="0"/>
                  <a:t>B</a:t>
                </a:r>
                <a:r>
                  <a:rPr lang="en-IN" dirty="0"/>
                  <a:t>, the reduced order model should be 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𝐴𝑓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IN" dirty="0"/>
                  <a:t>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IN" dirty="0"/>
                  <a:t>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37785"/>
                <a:ext cx="7886700" cy="4939178"/>
              </a:xfrm>
              <a:blipFill>
                <a:blip r:embed="rId3"/>
                <a:stretch>
                  <a:fillRect l="-927" t="-1481" r="-20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394037" y="1676049"/>
            <a:ext cx="24753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for the CSTR</a:t>
            </a:r>
          </a:p>
          <a:p>
            <a:r>
              <a:rPr lang="en-IN" i="1" dirty="0"/>
              <a:t>V </a:t>
            </a:r>
            <a:r>
              <a:rPr lang="en-IN" dirty="0"/>
              <a:t>= 1 l</a:t>
            </a:r>
          </a:p>
          <a:p>
            <a:r>
              <a:rPr lang="en-IN" i="1" dirty="0"/>
              <a:t>F </a:t>
            </a:r>
            <a:r>
              <a:rPr lang="en-IN" dirty="0"/>
              <a:t>= 78 l/h</a:t>
            </a:r>
          </a:p>
          <a:p>
            <a:r>
              <a:rPr lang="en-IN" i="1" dirty="0" err="1"/>
              <a:t>C</a:t>
            </a:r>
            <a:r>
              <a:rPr lang="en-IN" i="1" baseline="-25000" dirty="0" err="1"/>
              <a:t>Af</a:t>
            </a:r>
            <a:r>
              <a:rPr lang="en-IN" i="1" dirty="0"/>
              <a:t> </a:t>
            </a:r>
            <a:r>
              <a:rPr lang="en-IN" dirty="0"/>
              <a:t>= 10 </a:t>
            </a:r>
            <a:r>
              <a:rPr lang="en-IN" dirty="0" err="1"/>
              <a:t>mol</a:t>
            </a:r>
            <a:r>
              <a:rPr lang="en-IN" dirty="0"/>
              <a:t>/l</a:t>
            </a:r>
          </a:p>
          <a:p>
            <a:r>
              <a:rPr lang="en-IN" dirty="0"/>
              <a:t>kl = 50 h-1</a:t>
            </a:r>
          </a:p>
          <a:p>
            <a:r>
              <a:rPr lang="en-IN" i="1" dirty="0"/>
              <a:t>k2 </a:t>
            </a:r>
            <a:r>
              <a:rPr lang="en-IN" dirty="0"/>
              <a:t>= 100 h-1</a:t>
            </a:r>
          </a:p>
          <a:p>
            <a:r>
              <a:rPr lang="en-IN" i="1" dirty="0"/>
              <a:t>k3 </a:t>
            </a:r>
            <a:r>
              <a:rPr lang="en-IN" dirty="0"/>
              <a:t>= 10 l.mol-1.h-1</a:t>
            </a:r>
          </a:p>
        </p:txBody>
      </p:sp>
    </p:spTree>
    <p:extLst>
      <p:ext uri="{BB962C8B-B14F-4D97-AF65-F5344CB8AC3E}">
        <p14:creationId xmlns:p14="http://schemas.microsoft.com/office/powerpoint/2010/main" val="71312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11" y="733425"/>
            <a:ext cx="7399183" cy="55493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9240" y="4001729"/>
            <a:ext cx="3018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is the Process Gain at these points ? 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60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41209"/>
          </a:xfrm>
        </p:spPr>
        <p:txBody>
          <a:bodyPr>
            <a:normAutofit fontScale="90000"/>
          </a:bodyPr>
          <a:lstStyle/>
          <a:p>
            <a:r>
              <a:rPr lang="en-IN" dirty="0"/>
              <a:t>Non-Isothermal Jacketed CSTR</a:t>
            </a:r>
          </a:p>
        </p:txBody>
      </p:sp>
      <p:pic>
        <p:nvPicPr>
          <p:cNvPr id="7170" name="Picture 2" descr="https://www.rpi.edu/dept/chem-eng/WWW/faculty/bequette/education/links_mods/cstr/fig1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008972"/>
            <a:ext cx="3452576" cy="211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88905" y="1033193"/>
                <a:ext cx="4775859" cy="2232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UA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</m:sup>
                      </m:sSup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905" y="1033193"/>
                <a:ext cx="4775859" cy="2232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477645" y="3265343"/>
          <a:ext cx="5622520" cy="3200400"/>
        </p:xfrm>
        <a:graphic>
          <a:graphicData uri="http://schemas.openxmlformats.org/drawingml/2006/table">
            <a:tbl>
              <a:tblPr/>
              <a:tblGrid>
                <a:gridCol w="1405630">
                  <a:extLst>
                    <a:ext uri="{9D8B030D-6E8A-4147-A177-3AD203B41FA5}">
                      <a16:colId xmlns:a16="http://schemas.microsoft.com/office/drawing/2014/main" val="3699360910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3178201327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2768645011"/>
                    </a:ext>
                  </a:extLst>
                </a:gridCol>
                <a:gridCol w="1405630">
                  <a:extLst>
                    <a:ext uri="{9D8B030D-6E8A-4147-A177-3AD203B41FA5}">
                      <a16:colId xmlns:a16="http://schemas.microsoft.com/office/drawing/2014/main" val="869778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case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87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338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F/V, hr-1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97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k</a:t>
                      </a:r>
                      <a:r>
                        <a:rPr lang="en-IN" sz="1200" baseline="-25000" dirty="0"/>
                        <a:t>0</a:t>
                      </a:r>
                      <a:r>
                        <a:rPr lang="en-IN" sz="1200" dirty="0"/>
                        <a:t>, hr-1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14,825*3600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9,703*3600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18,194*3600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11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(</a:t>
                      </a:r>
                      <a:r>
                        <a:rPr lang="en-IN" sz="1200" dirty="0">
                          <a:latin typeface="Symbol" panose="05050102010706020507" pitchFamily="18" charset="2"/>
                        </a:rPr>
                        <a:t>-D</a:t>
                      </a:r>
                      <a:r>
                        <a:rPr lang="en-IN" sz="1200" dirty="0"/>
                        <a:t>H), kcal/</a:t>
                      </a:r>
                      <a:r>
                        <a:rPr lang="en-IN" sz="1200" dirty="0" err="1"/>
                        <a:t>kgmol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5215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5960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8195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091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E, kcal/</a:t>
                      </a:r>
                      <a:r>
                        <a:rPr lang="en-IN" sz="1200" dirty="0" err="1"/>
                        <a:t>kgmol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11,843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84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Symbol" panose="05050102010706020507" pitchFamily="18" charset="2"/>
                        </a:rPr>
                        <a:t>r</a:t>
                      </a:r>
                      <a:r>
                        <a:rPr lang="en-IN" sz="1200" dirty="0" err="1"/>
                        <a:t>cp</a:t>
                      </a:r>
                      <a:r>
                        <a:rPr lang="en-IN" sz="1200" dirty="0"/>
                        <a:t>, kcal/(m</a:t>
                      </a:r>
                      <a:r>
                        <a:rPr lang="en-IN" sz="1200" baseline="30000" dirty="0"/>
                        <a:t>3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r>
                        <a:rPr lang="en-IN" sz="12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4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/>
                        <a:t>T</a:t>
                      </a:r>
                      <a:r>
                        <a:rPr lang="en-IN" sz="1200" baseline="-25000" dirty="0" err="1"/>
                        <a:t>f</a:t>
                      </a:r>
                      <a:r>
                        <a:rPr lang="en-IN" sz="1200" dirty="0"/>
                        <a:t>,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50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 err="1"/>
                        <a:t>C</a:t>
                      </a:r>
                      <a:r>
                        <a:rPr lang="en-IN" sz="1200" baseline="-25000" dirty="0" err="1"/>
                        <a:t>Af</a:t>
                      </a:r>
                      <a:r>
                        <a:rPr lang="en-IN" sz="1200" dirty="0"/>
                        <a:t>, </a:t>
                      </a:r>
                      <a:r>
                        <a:rPr lang="en-IN" sz="1200" dirty="0" err="1"/>
                        <a:t>kgmol</a:t>
                      </a:r>
                      <a:r>
                        <a:rPr lang="en-IN" sz="1200" dirty="0"/>
                        <a:t>/m3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62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UA/V, kcal/(m</a:t>
                      </a:r>
                      <a:r>
                        <a:rPr lang="en-IN" sz="1200" baseline="30000" dirty="0"/>
                        <a:t>3 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r>
                        <a:rPr lang="en-IN" sz="1200" dirty="0"/>
                        <a:t> hr)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T</a:t>
                      </a:r>
                      <a:r>
                        <a:rPr lang="en-IN" sz="1200" baseline="-25000" dirty="0"/>
                        <a:t>C</a:t>
                      </a:r>
                      <a:r>
                        <a:rPr lang="en-IN" sz="1200" dirty="0"/>
                        <a:t>, </a:t>
                      </a:r>
                      <a:r>
                        <a:rPr lang="en-IN" sz="1200" baseline="30000" dirty="0" err="1"/>
                        <a:t>o</a:t>
                      </a:r>
                      <a:r>
                        <a:rPr lang="en-IN" sz="1200" dirty="0" err="1"/>
                        <a:t>C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94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96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27" y="889361"/>
            <a:ext cx="6683568" cy="5012675"/>
          </a:xfrm>
        </p:spPr>
      </p:pic>
      <p:sp>
        <p:nvSpPr>
          <p:cNvPr id="5" name="TextBox 4"/>
          <p:cNvSpPr txBox="1"/>
          <p:nvPr/>
        </p:nvSpPr>
        <p:spPr>
          <a:xfrm>
            <a:off x="5172364" y="1865745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1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454400" y="136698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2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382953" y="3457744"/>
            <a:ext cx="2635133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Steady State for case 2</a:t>
            </a:r>
          </a:p>
          <a:p>
            <a:r>
              <a:rPr lang="en-IN" sz="1400" dirty="0"/>
              <a:t>	C</a:t>
            </a:r>
            <a:r>
              <a:rPr lang="en-IN" sz="1400" baseline="-25000" dirty="0"/>
              <a:t>A</a:t>
            </a:r>
            <a:r>
              <a:rPr lang="en-IN" sz="1400" dirty="0"/>
              <a:t>        	T</a:t>
            </a:r>
          </a:p>
          <a:p>
            <a:r>
              <a:rPr lang="en-IN" sz="1400" dirty="0"/>
              <a:t>   1	8.564	311.2</a:t>
            </a:r>
          </a:p>
          <a:p>
            <a:r>
              <a:rPr lang="en-IN" sz="1400" dirty="0"/>
              <a:t>   2 	5.518	339.1</a:t>
            </a:r>
          </a:p>
          <a:p>
            <a:r>
              <a:rPr lang="en-IN" sz="1400" dirty="0"/>
              <a:t>   3	2.359	368.1</a:t>
            </a:r>
          </a:p>
        </p:txBody>
      </p:sp>
    </p:spTree>
    <p:extLst>
      <p:ext uri="{BB962C8B-B14F-4D97-AF65-F5344CB8AC3E}">
        <p14:creationId xmlns:p14="http://schemas.microsoft.com/office/powerpoint/2010/main" val="131918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3929"/>
          </a:xfrm>
        </p:spPr>
        <p:txBody>
          <a:bodyPr/>
          <a:lstStyle/>
          <a:p>
            <a:r>
              <a:rPr lang="en-US" dirty="0"/>
              <a:t>Styrene Polymerization Reactor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1" y="2180227"/>
            <a:ext cx="3494025" cy="388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910" y="979055"/>
            <a:ext cx="5937433" cy="2478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764452" y="625909"/>
                <a:ext cx="197314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Initiator </a:t>
                </a:r>
                <a:r>
                  <a:rPr lang="en-US" dirty="0" err="1"/>
                  <a:t>Conc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Monomer </a:t>
                </a:r>
                <a:r>
                  <a:rPr lang="en-US" dirty="0" err="1"/>
                  <a:t>Conc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Reactor Temp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Jacket Temp.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452" y="625909"/>
                <a:ext cx="1973148" cy="1200329"/>
              </a:xfrm>
              <a:prstGeom prst="rect">
                <a:avLst/>
              </a:prstGeom>
              <a:blipFill>
                <a:blip r:embed="rId4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756" y="3569368"/>
            <a:ext cx="2513819" cy="346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753" y="4121727"/>
            <a:ext cx="5077195" cy="708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85309" y="5061527"/>
                <a:ext cx="4516749" cy="1093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dissociation, propagation and termination</a:t>
                </a:r>
              </a:p>
              <a:p>
                <a:r>
                  <a:rPr lang="en-US" dirty="0"/>
                  <a:t>Rate constants follow Arrhenius law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    for I =d, p or t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309" y="5061527"/>
                <a:ext cx="4516749" cy="1093376"/>
              </a:xfrm>
              <a:prstGeom prst="rect">
                <a:avLst/>
              </a:prstGeom>
              <a:blipFill>
                <a:blip r:embed="rId7"/>
                <a:stretch>
                  <a:fillRect l="-1216" t="-2778" r="-676"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03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3" y="1487055"/>
            <a:ext cx="7524267" cy="4428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flipH="1">
            <a:off x="2151608" y="1034473"/>
            <a:ext cx="5366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Steady State Heat Power vs Reactor Temperature</a:t>
            </a:r>
            <a:endParaRPr lang="en-IN" sz="20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955636" y="3999345"/>
            <a:ext cx="0" cy="7296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11599" y="3422072"/>
            <a:ext cx="0" cy="7296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7075055" y="2540001"/>
            <a:ext cx="18472" cy="882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2364" y="3786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609913" y="32374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6945745" y="3500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753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88" y="851795"/>
            <a:ext cx="8506513" cy="52687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11419" y="633268"/>
            <a:ext cx="1655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Phase Portrait</a:t>
            </a:r>
            <a:endParaRPr lang="en-IN" sz="2000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3131128" y="4479636"/>
            <a:ext cx="314037" cy="43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883564" y="2041236"/>
            <a:ext cx="138545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597891" y="5163127"/>
            <a:ext cx="563418" cy="4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83564" y="3325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3460576" y="4816886"/>
            <a:ext cx="13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(unstable)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1431637" y="4881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2987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</TotalTime>
  <Words>1502</Words>
  <Application>Microsoft Office PowerPoint</Application>
  <PresentationFormat>On-screen Show (4:3)</PresentationFormat>
  <Paragraphs>308</Paragraphs>
  <Slides>29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Monotype Sorts</vt:lpstr>
      <vt:lpstr>Symbol</vt:lpstr>
      <vt:lpstr>Times New Roman</vt:lpstr>
      <vt:lpstr>Wingdings</vt:lpstr>
      <vt:lpstr>Office Theme</vt:lpstr>
      <vt:lpstr>Equation</vt:lpstr>
      <vt:lpstr>Process Dynamics &amp; Control</vt:lpstr>
      <vt:lpstr>Development of Mathematical Model</vt:lpstr>
      <vt:lpstr>Development of Mathematical Model</vt:lpstr>
      <vt:lpstr>Development of Mathematical Model</vt:lpstr>
      <vt:lpstr>What kind of model do we need? </vt:lpstr>
      <vt:lpstr>What kind of model do we need? </vt:lpstr>
      <vt:lpstr>What kind of model do we need? </vt:lpstr>
      <vt:lpstr>What kind of model do we need? </vt:lpstr>
      <vt:lpstr>What kind of model do we need? </vt:lpstr>
      <vt:lpstr>What kind of model do we need? </vt:lpstr>
      <vt:lpstr>What kind of model do we need? </vt:lpstr>
      <vt:lpstr>What kind of model do we need? </vt:lpstr>
      <vt:lpstr>What kind of model do we need? </vt:lpstr>
      <vt:lpstr>General modeling procedure</vt:lpstr>
      <vt:lpstr>General modeling procedure</vt:lpstr>
      <vt:lpstr> Benchmark Systems to be used for the course </vt:lpstr>
      <vt:lpstr>Mathematical Model of tank level system </vt:lpstr>
      <vt:lpstr>PowerPoint Presentation</vt:lpstr>
      <vt:lpstr>Quadruple Tank problem </vt:lpstr>
      <vt:lpstr>Quadruple Tank problem</vt:lpstr>
      <vt:lpstr>PowerPoint Presentation</vt:lpstr>
      <vt:lpstr>Continuous Stirred Tank Reactor </vt:lpstr>
      <vt:lpstr> Continuous Stirred Tank Reactor </vt:lpstr>
      <vt:lpstr>PowerPoint Presentation</vt:lpstr>
      <vt:lpstr>Non-Isothermal Jacketed CSTR</vt:lpstr>
      <vt:lpstr>PowerPoint Presentation</vt:lpstr>
      <vt:lpstr>Styrene Polymerization Reactor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Dynamics &amp; Control</dc:title>
  <dc:creator>Amar Samanta</dc:creator>
  <cp:lastModifiedBy>amar</cp:lastModifiedBy>
  <cp:revision>27</cp:revision>
  <dcterms:created xsi:type="dcterms:W3CDTF">2019-01-01T11:22:05Z</dcterms:created>
  <dcterms:modified xsi:type="dcterms:W3CDTF">2024-01-04T02:43:57Z</dcterms:modified>
</cp:coreProperties>
</file>