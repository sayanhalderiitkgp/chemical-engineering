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256" r:id="rId2"/>
    <p:sldId id="290" r:id="rId3"/>
    <p:sldId id="291" r:id="rId4"/>
    <p:sldId id="292" r:id="rId5"/>
    <p:sldId id="275" r:id="rId6"/>
    <p:sldId id="284" r:id="rId7"/>
    <p:sldId id="285" r:id="rId8"/>
    <p:sldId id="293" r:id="rId9"/>
    <p:sldId id="286" r:id="rId10"/>
    <p:sldId id="287" r:id="rId11"/>
    <p:sldId id="288" r:id="rId12"/>
    <p:sldId id="289" r:id="rId13"/>
    <p:sldId id="273" r:id="rId14"/>
    <p:sldId id="274" r:id="rId15"/>
    <p:sldId id="276" r:id="rId16"/>
    <p:sldId id="277" r:id="rId17"/>
    <p:sldId id="278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76" d="100"/>
          <a:sy n="76" d="100"/>
        </p:scale>
        <p:origin x="8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C</a:t>
            </a:r>
            <a:r>
              <a:rPr lang="en-US" b="1" baseline="-25000"/>
              <a:t>B</a:t>
            </a:r>
            <a:r>
              <a:rPr lang="en-US" b="1"/>
              <a:t> vs F/V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bn-I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Sheet1!$C$1:$C$41</c:f>
              <c:numCache>
                <c:formatCode>General</c:formatCode>
                <c:ptCount val="4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</c:numCache>
            </c:numRef>
          </c:xVal>
          <c:yVal>
            <c:numRef>
              <c:f>Sheet1!$H$1:$H$41</c:f>
              <c:numCache>
                <c:formatCode>General</c:formatCode>
                <c:ptCount val="41"/>
                <c:pt idx="0">
                  <c:v>0</c:v>
                </c:pt>
                <c:pt idx="1">
                  <c:v>1.2057325046483951E-2</c:v>
                </c:pt>
                <c:pt idx="2">
                  <c:v>1.9204560015721524E-2</c:v>
                </c:pt>
                <c:pt idx="3">
                  <c:v>2.3974939826121405E-2</c:v>
                </c:pt>
                <c:pt idx="4">
                  <c:v>2.7320992285711589E-2</c:v>
                </c:pt>
                <c:pt idx="5">
                  <c:v>2.972574768296225E-2</c:v>
                </c:pt>
                <c:pt idx="6">
                  <c:v>3.1471958880557906E-2</c:v>
                </c:pt>
                <c:pt idx="7">
                  <c:v>3.27398923564379E-2</c:v>
                </c:pt>
                <c:pt idx="8">
                  <c:v>3.3651188151564503E-2</c:v>
                </c:pt>
                <c:pt idx="9">
                  <c:v>3.4291323484321061E-2</c:v>
                </c:pt>
                <c:pt idx="10">
                  <c:v>3.4722222222222224E-2</c:v>
                </c:pt>
                <c:pt idx="11">
                  <c:v>3.4989824052662516E-2</c:v>
                </c:pt>
                <c:pt idx="12">
                  <c:v>3.5128866646587473E-2</c:v>
                </c:pt>
                <c:pt idx="13">
                  <c:v>3.5166031238676537E-2</c:v>
                </c:pt>
                <c:pt idx="14">
                  <c:v>3.5122080154466814E-2</c:v>
                </c:pt>
                <c:pt idx="15">
                  <c:v>3.501334884906137E-2</c:v>
                </c:pt>
                <c:pt idx="16">
                  <c:v>3.4852811112638972E-2</c:v>
                </c:pt>
                <c:pt idx="17">
                  <c:v>3.4650854286715944E-2</c:v>
                </c:pt>
                <c:pt idx="18">
                  <c:v>3.441585285909645E-2</c:v>
                </c:pt>
                <c:pt idx="19">
                  <c:v>3.4154599052681298E-2</c:v>
                </c:pt>
                <c:pt idx="20">
                  <c:v>3.3872630201149279E-2</c:v>
                </c:pt>
                <c:pt idx="21">
                  <c:v>3.3574480480213525E-2</c:v>
                </c:pt>
                <c:pt idx="22">
                  <c:v>3.3263876438950478E-2</c:v>
                </c:pt>
                <c:pt idx="23">
                  <c:v>3.2943890265430736E-2</c:v>
                </c:pt>
                <c:pt idx="24">
                  <c:v>3.2617060915247541E-2</c:v>
                </c:pt>
                <c:pt idx="25">
                  <c:v>3.2285490560232756E-2</c:v>
                </c:pt>
                <c:pt idx="26">
                  <c:v>3.1950921911969771E-2</c:v>
                </c:pt>
                <c:pt idx="27">
                  <c:v>3.1614800601434255E-2</c:v>
                </c:pt>
                <c:pt idx="28">
                  <c:v>3.1278325792899984E-2</c:v>
                </c:pt>
                <c:pt idx="29">
                  <c:v>3.0942491469275208E-2</c:v>
                </c:pt>
                <c:pt idx="30">
                  <c:v>3.060812027317605E-2</c:v>
                </c:pt>
                <c:pt idx="31">
                  <c:v>3.0275891371668102E-2</c:v>
                </c:pt>
                <c:pt idx="32">
                  <c:v>2.9946363496303592E-2</c:v>
                </c:pt>
                <c:pt idx="33">
                  <c:v>2.9619994067861144E-2</c:v>
                </c:pt>
                <c:pt idx="34">
                  <c:v>2.9297155128318458E-2</c:v>
                </c:pt>
                <c:pt idx="35">
                  <c:v>2.897814665740046E-2</c:v>
                </c:pt>
                <c:pt idx="36">
                  <c:v>2.8663207737508536E-2</c:v>
                </c:pt>
                <c:pt idx="37">
                  <c:v>2.8352525941506238E-2</c:v>
                </c:pt>
                <c:pt idx="38">
                  <c:v>2.8046245247146238E-2</c:v>
                </c:pt>
                <c:pt idx="39">
                  <c:v>2.7744472725678555E-2</c:v>
                </c:pt>
                <c:pt idx="40">
                  <c:v>2.7447284207201571E-2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A25-4C8B-866E-17C5D78F4B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63151"/>
        <c:axId val="2082063135"/>
      </c:scatterChart>
      <c:valAx>
        <c:axId val="96315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200" b="1"/>
                  <a:t>F/V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b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bn-IN"/>
          </a:p>
        </c:txPr>
        <c:crossAx val="2082063135"/>
        <c:crosses val="autoZero"/>
        <c:crossBetween val="midCat"/>
        <c:majorUnit val="1"/>
      </c:valAx>
      <c:valAx>
        <c:axId val="2082063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200" b="1"/>
                  <a:t>C</a:t>
                </a:r>
                <a:r>
                  <a:rPr lang="en-IN" sz="1200" b="1" baseline="-25000"/>
                  <a:t>B</a:t>
                </a:r>
              </a:p>
            </c:rich>
          </c:tx>
          <c:layout>
            <c:manualLayout>
              <c:xMode val="edge"/>
              <c:yMode val="edge"/>
              <c:x val="3.0555555555555555E-2"/>
              <c:y val="0.4340084572761737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b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bn-IN"/>
          </a:p>
        </c:txPr>
        <c:crossAx val="963151"/>
        <c:crosses val="autoZero"/>
        <c:crossBetween val="midCat"/>
        <c:majorUnit val="1.0000000000000002E-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bn-I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Effect of Dilution 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bn-I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Sheet2!$B$1:$B$13</c:f>
              <c:numCache>
                <c:formatCode>General</c:formatCode>
                <c:ptCount val="13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0.47</c:v>
                </c:pt>
                <c:pt idx="11">
                  <c:v>0.49</c:v>
                </c:pt>
                <c:pt idx="12">
                  <c:v>0.51</c:v>
                </c:pt>
              </c:numCache>
            </c:numRef>
          </c:xVal>
          <c:yVal>
            <c:numRef>
              <c:f>Sheet2!$C$1:$C$13</c:f>
              <c:numCache>
                <c:formatCode>General</c:formatCode>
                <c:ptCount val="13"/>
                <c:pt idx="0">
                  <c:v>0</c:v>
                </c:pt>
                <c:pt idx="1">
                  <c:v>1.2499999999999999E-2</c:v>
                </c:pt>
                <c:pt idx="2">
                  <c:v>2.7906976744186043E-2</c:v>
                </c:pt>
                <c:pt idx="3">
                  <c:v>4.7368421052631574E-2</c:v>
                </c:pt>
                <c:pt idx="4">
                  <c:v>7.2727272727272724E-2</c:v>
                </c:pt>
                <c:pt idx="5">
                  <c:v>0.10714285714285712</c:v>
                </c:pt>
                <c:pt idx="6">
                  <c:v>0.15652173913043474</c:v>
                </c:pt>
                <c:pt idx="7">
                  <c:v>0.23333333333333325</c:v>
                </c:pt>
                <c:pt idx="8">
                  <c:v>0.36923076923076925</c:v>
                </c:pt>
                <c:pt idx="9">
                  <c:v>0.67499999999999982</c:v>
                </c:pt>
                <c:pt idx="10">
                  <c:v>0.93999999999999906</c:v>
                </c:pt>
                <c:pt idx="11">
                  <c:v>1.4699999999999986</c:v>
                </c:pt>
                <c:pt idx="12">
                  <c:v>3.0599999999999969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0CA-4BF6-AA7F-400A8D2FBEA4}"/>
            </c:ext>
          </c:extLst>
        </c:ser>
        <c:ser>
          <c:idx val="1"/>
          <c:order val="1"/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Sheet2!$B$1:$B$14</c:f>
              <c:numCache>
                <c:formatCode>General</c:formatCode>
                <c:ptCount val="14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0.47</c:v>
                </c:pt>
                <c:pt idx="11">
                  <c:v>0.49</c:v>
                </c:pt>
                <c:pt idx="12">
                  <c:v>0.51</c:v>
                </c:pt>
                <c:pt idx="13">
                  <c:v>0.53</c:v>
                </c:pt>
              </c:numCache>
            </c:numRef>
          </c:xVal>
          <c:yVal>
            <c:numRef>
              <c:f>Sheet2!$D$1:$D$13</c:f>
              <c:numCache>
                <c:formatCode>General</c:formatCode>
                <c:ptCount val="13"/>
                <c:pt idx="0">
                  <c:v>1.6</c:v>
                </c:pt>
                <c:pt idx="1">
                  <c:v>1.595</c:v>
                </c:pt>
                <c:pt idx="2">
                  <c:v>1.5888372093023255</c:v>
                </c:pt>
                <c:pt idx="3">
                  <c:v>1.5810526315789475</c:v>
                </c:pt>
                <c:pt idx="4">
                  <c:v>1.570909090909091</c:v>
                </c:pt>
                <c:pt idx="5">
                  <c:v>1.5571428571428572</c:v>
                </c:pt>
                <c:pt idx="6">
                  <c:v>1.5373913043478262</c:v>
                </c:pt>
                <c:pt idx="7">
                  <c:v>1.5066666666666668</c:v>
                </c:pt>
                <c:pt idx="8">
                  <c:v>1.4523076923076923</c:v>
                </c:pt>
                <c:pt idx="9">
                  <c:v>1.33</c:v>
                </c:pt>
                <c:pt idx="10">
                  <c:v>1.2240000000000004</c:v>
                </c:pt>
                <c:pt idx="11">
                  <c:v>1.0120000000000005</c:v>
                </c:pt>
                <c:pt idx="12">
                  <c:v>0.37600000000000122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0CA-4BF6-AA7F-400A8D2FBEA4}"/>
            </c:ext>
          </c:extLst>
        </c:ser>
        <c:ser>
          <c:idx val="2"/>
          <c:order val="2"/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Sheet2!$B$1:$B$14</c:f>
              <c:numCache>
                <c:formatCode>General</c:formatCode>
                <c:ptCount val="14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0.47</c:v>
                </c:pt>
                <c:pt idx="11">
                  <c:v>0.49</c:v>
                </c:pt>
                <c:pt idx="12">
                  <c:v>0.51</c:v>
                </c:pt>
                <c:pt idx="13">
                  <c:v>0.53</c:v>
                </c:pt>
              </c:numCache>
            </c:numRef>
          </c:xVal>
          <c:yVal>
            <c:numRef>
              <c:f>Sheet2!$E$1:$E$13</c:f>
              <c:numCache>
                <c:formatCode>General</c:formatCode>
                <c:ptCount val="13"/>
                <c:pt idx="0">
                  <c:v>0</c:v>
                </c:pt>
                <c:pt idx="1">
                  <c:v>7.9750000000000001E-2</c:v>
                </c:pt>
                <c:pt idx="2">
                  <c:v>0.15888372093023256</c:v>
                </c:pt>
                <c:pt idx="3">
                  <c:v>0.23715789473684212</c:v>
                </c:pt>
                <c:pt idx="4">
                  <c:v>0.31418181818181823</c:v>
                </c:pt>
                <c:pt idx="5">
                  <c:v>0.38928571428571429</c:v>
                </c:pt>
                <c:pt idx="6">
                  <c:v>0.46121739130434786</c:v>
                </c:pt>
                <c:pt idx="7">
                  <c:v>0.52733333333333332</c:v>
                </c:pt>
                <c:pt idx="8">
                  <c:v>0.58092307692307699</c:v>
                </c:pt>
                <c:pt idx="9">
                  <c:v>0.59850000000000003</c:v>
                </c:pt>
                <c:pt idx="10">
                  <c:v>0.57528000000000012</c:v>
                </c:pt>
                <c:pt idx="11">
                  <c:v>0.49588000000000021</c:v>
                </c:pt>
                <c:pt idx="12">
                  <c:v>0.19176000000000062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30CA-4BF6-AA7F-400A8D2FBE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930191"/>
        <c:axId val="9906479"/>
      </c:scatterChart>
      <c:valAx>
        <c:axId val="99301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b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bn-IN"/>
          </a:p>
        </c:txPr>
        <c:crossAx val="9906479"/>
        <c:crosses val="autoZero"/>
        <c:crossBetween val="midCat"/>
      </c:valAx>
      <c:valAx>
        <c:axId val="99064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="1"/>
                  <a:t>x</a:t>
                </a:r>
                <a:r>
                  <a:rPr lang="en-US" sz="1200" b="1" baseline="-25000"/>
                  <a:t>1</a:t>
                </a:r>
                <a:r>
                  <a:rPr lang="en-US" sz="1200" b="1"/>
                  <a:t>, x</a:t>
                </a:r>
                <a:r>
                  <a:rPr lang="en-US" sz="1200" b="1" baseline="-25000"/>
                  <a:t>2</a:t>
                </a:r>
                <a:r>
                  <a:rPr lang="en-US" sz="1200" b="1"/>
                  <a:t>, Dx</a:t>
                </a:r>
                <a:r>
                  <a:rPr lang="en-US" sz="1200" b="1" baseline="-25000"/>
                  <a:t>1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b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bn-IN"/>
          </a:p>
        </c:txPr>
        <c:crossAx val="993019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bn-I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976B1C-5721-4A40-B6AD-5443D4B36E31}" type="datetimeFigureOut">
              <a:rPr lang="bn-IN" smtClean="0"/>
              <a:t>09-01-24</a:t>
            </a:fld>
            <a:endParaRPr lang="b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E6729-2C25-49B5-8D04-EB3681773F00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783760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14BA1-E738-4A28-BF3E-968E14B3E3B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804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14BA1-E738-4A28-BF3E-968E14B3E3B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732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14BA1-E738-4A28-BF3E-968E14B3E3B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283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260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862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41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067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91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791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93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320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661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86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91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5EB87-604F-4C23-8143-ABDF09FE74D9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54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4.emf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0448" y="2919632"/>
            <a:ext cx="6858000" cy="60133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Process Dynamics &amp; Control</a:t>
            </a:r>
          </a:p>
        </p:txBody>
      </p:sp>
    </p:spTree>
    <p:extLst>
      <p:ext uri="{BB962C8B-B14F-4D97-AF65-F5344CB8AC3E}">
        <p14:creationId xmlns:p14="http://schemas.microsoft.com/office/powerpoint/2010/main" val="552164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2841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Quadruple Tank problem</a:t>
            </a:r>
            <a:br>
              <a:rPr lang="en-IN" dirty="0"/>
            </a:br>
            <a:endParaRPr lang="en-IN" dirty="0"/>
          </a:p>
        </p:txBody>
      </p:sp>
      <p:pic>
        <p:nvPicPr>
          <p:cNvPr id="4" name="Content Placeholder 3" descr="Image result for quadruple tank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628" y="1014413"/>
            <a:ext cx="6206743" cy="51625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E960A27-8BBC-4135-BD59-975DADC2B768}"/>
              </a:ext>
            </a:extLst>
          </p:cNvPr>
          <p:cNvSpPr/>
          <p:nvPr/>
        </p:nvSpPr>
        <p:spPr>
          <a:xfrm>
            <a:off x="5484620" y="4792264"/>
            <a:ext cx="2878329" cy="1700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 Objective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Both the levels of tank1 and tank2 should be controlled by manipulating voltages to the pumps.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373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38845"/>
          </a:xfrm>
        </p:spPr>
        <p:txBody>
          <a:bodyPr/>
          <a:lstStyle/>
          <a:p>
            <a:r>
              <a:rPr lang="en-IN" b="1" dirty="0"/>
              <a:t>Quadruple Tank problem (Dynamic Model)</a:t>
            </a:r>
            <a:endParaRPr lang="en-IN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70659" y="1862253"/>
            <a:ext cx="1258281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6"/>
              <p:cNvSpPr txBox="1"/>
              <p:nvPr/>
            </p:nvSpPr>
            <p:spPr bwMode="auto">
              <a:xfrm>
                <a:off x="470945" y="1349574"/>
                <a:ext cx="6304521" cy="4780769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n-IN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bn-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ad>
                        <m:radPr>
                          <m:degHide m:val="on"/>
                          <m:ctrlP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rad>
                      <m:r>
                        <a:rPr lang="bn-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ad>
                        <m:radPr>
                          <m:degHide m:val="on"/>
                          <m:ctrlP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rad>
                      <m:r>
                        <a:rPr lang="bn-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br>
                  <a:rPr lang="bn-IN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bn-I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endParaRPr lang="bn-I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bn-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ad>
                        <m:radPr>
                          <m:degHide m:val="on"/>
                          <m:ctrlP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rad>
                      <m:r>
                        <a:rPr lang="bn-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ad>
                        <m:radPr>
                          <m:degHide m:val="on"/>
                          <m:ctrlP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rad>
                      <m:r>
                        <a:rPr lang="bn-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br>
                  <a:rPr lang="bn-IN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bn-I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endParaRPr lang="bn-I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bn-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ad>
                        <m:radPr>
                          <m:degHide m:val="on"/>
                          <m:ctrlP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rad>
                      <m:r>
                        <a:rPr lang="bn-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br>
                  <a:rPr lang="bn-IN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bn-I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endParaRPr lang="bn-I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bn-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ad>
                        <m:radPr>
                          <m:degHide m:val="on"/>
                          <m:ctrlP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rad>
                      <m:r>
                        <a:rPr lang="bn-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bn-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b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bn-IN" sz="2400" dirty="0"/>
              </a:p>
            </p:txBody>
          </p:sp>
        </mc:Choice>
        <mc:Fallback>
          <p:sp>
            <p:nvSpPr>
              <p:cNvPr id="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0945" y="1349574"/>
                <a:ext cx="6304521" cy="47807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6562067" y="2129536"/>
            <a:ext cx="2277829" cy="322084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for simulation: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28 cm</a:t>
            </a:r>
            <a:r>
              <a:rPr lang="en-IN" b="1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32 cm</a:t>
            </a:r>
            <a:r>
              <a:rPr lang="en-IN" b="1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0.071 cm</a:t>
            </a:r>
            <a:r>
              <a:rPr lang="en-IN" b="1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0.057 cm</a:t>
            </a:r>
            <a:r>
              <a:rPr lang="en-IN" b="1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k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3.33, 3.35   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3.0, 3.0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γ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0.7, 0.6</a:t>
            </a:r>
            <a:r>
              <a:rPr lang="en-IN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59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ChangeArrowheads="1"/>
          </p:cNvSpPr>
          <p:nvPr/>
        </p:nvSpPr>
        <p:spPr bwMode="auto">
          <a:xfrm>
            <a:off x="814039" y="171449"/>
            <a:ext cx="7839307" cy="625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744" tIns="31872" rIns="63744" bIns="31872" anchor="b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Monotype Sorts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Font typeface="Monotype Sorts" charset="2"/>
              <a:buChar char="ä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Font typeface="Monotype Sorts" charset="2"/>
              <a:buChar char="è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9900"/>
              </a:buClr>
              <a:buSzPct val="50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None/>
              <a:defRPr/>
            </a:pPr>
            <a:r>
              <a:rPr lang="en-US" altLang="en-US" sz="3200" dirty="0"/>
              <a:t>Jacketed heated stirred tank</a:t>
            </a:r>
          </a:p>
        </p:txBody>
      </p:sp>
      <p:sp>
        <p:nvSpPr>
          <p:cNvPr id="48133" name="Rectangle 5"/>
          <p:cNvSpPr>
            <a:spLocks noChangeArrowheads="1"/>
          </p:cNvSpPr>
          <p:nvPr/>
        </p:nvSpPr>
        <p:spPr bwMode="auto">
          <a:xfrm>
            <a:off x="814039" y="857250"/>
            <a:ext cx="7337501" cy="563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744" tIns="31872" rIns="63744" bIns="31872"/>
          <a:lstStyle>
            <a:lvl1pPr marL="342900" indent="-3429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Monotype Sorts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9900"/>
              </a:buClr>
              <a:buFont typeface="Monotype Sorts" charset="2"/>
              <a:buChar char="ä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Font typeface="Monotype Sorts" charset="2"/>
              <a:buChar char="è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00"/>
              </a:buClr>
              <a:buSzPct val="50000"/>
              <a:buFont typeface="Monotype Sorts" charset="2"/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US" altLang="en-US" sz="1662" dirty="0">
              <a:effectLst/>
            </a:endParaRPr>
          </a:p>
          <a:p>
            <a:pPr marL="0" indent="0">
              <a:buNone/>
              <a:defRPr/>
            </a:pPr>
            <a:endParaRPr lang="en-US" altLang="en-US" sz="1662" dirty="0">
              <a:effectLst/>
            </a:endParaRPr>
          </a:p>
          <a:p>
            <a:pPr>
              <a:defRPr/>
            </a:pPr>
            <a:endParaRPr lang="en-US" altLang="en-US" sz="1662" dirty="0">
              <a:effectLst/>
            </a:endParaRPr>
          </a:p>
          <a:p>
            <a:pPr>
              <a:defRPr/>
            </a:pPr>
            <a:endParaRPr lang="en-US" altLang="en-US" sz="1662" dirty="0">
              <a:effectLst/>
            </a:endParaRPr>
          </a:p>
          <a:p>
            <a:pPr>
              <a:defRPr/>
            </a:pPr>
            <a:endParaRPr lang="en-US" altLang="en-US" sz="1662" dirty="0">
              <a:effectLst/>
            </a:endParaRPr>
          </a:p>
          <a:p>
            <a:pPr>
              <a:defRPr/>
            </a:pPr>
            <a:endParaRPr lang="en-US" altLang="en-US" sz="1662" dirty="0">
              <a:effectLst/>
            </a:endParaRPr>
          </a:p>
          <a:p>
            <a:pPr>
              <a:defRPr/>
            </a:pPr>
            <a:endParaRPr lang="en-US" altLang="en-US" sz="1662" dirty="0">
              <a:effectLst/>
            </a:endParaRPr>
          </a:p>
          <a:p>
            <a:pPr>
              <a:buFont typeface="Monotype Sorts" charset="2"/>
              <a:buNone/>
              <a:defRPr/>
            </a:pPr>
            <a:endParaRPr lang="en-US" altLang="en-US" sz="1662" dirty="0"/>
          </a:p>
          <a:p>
            <a:pPr>
              <a:buFont typeface="Monotype Sorts" charset="2"/>
              <a:buNone/>
              <a:defRPr/>
            </a:pPr>
            <a:endParaRPr lang="en-US" altLang="en-US" sz="1662" dirty="0"/>
          </a:p>
          <a:p>
            <a:pPr>
              <a:buFont typeface="Monotype Sorts" charset="2"/>
              <a:buNone/>
              <a:defRPr/>
            </a:pPr>
            <a:endParaRPr lang="en-US" altLang="en-US" sz="1662" dirty="0"/>
          </a:p>
          <a:p>
            <a:pPr>
              <a:buFont typeface="Monotype Sorts" charset="2"/>
              <a:buNone/>
              <a:defRPr/>
            </a:pPr>
            <a:endParaRPr lang="en-US" altLang="en-US" sz="1662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Object 21"/>
              <p:cNvSpPr txBox="1"/>
              <p:nvPr>
                <p:ph idx="1"/>
              </p:nvPr>
            </p:nvSpPr>
            <p:spPr bwMode="auto">
              <a:xfrm>
                <a:off x="4088024" y="1997075"/>
                <a:ext cx="4146339" cy="26264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b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bn-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b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b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bn-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bn-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bn-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br>
                  <a:rPr lang="bn-IN" sz="22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bn-IN" sz="2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:endParaRPr lang="bn-I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𝑑𝑇</m:t>
                          </m:r>
                        </m:num>
                        <m:den>
                          <m: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bn-I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r>
                        <a:rPr lang="bn-I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bn-I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bn-I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bn-I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𝑈𝐴</m:t>
                          </m:r>
                        </m:num>
                        <m:den>
                          <m: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sSub>
                            <m:sSubPr>
                              <m:ctrlPr>
                                <a:rPr lang="bn-I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bn-I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  <m: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r>
                        <a:rPr lang="bn-I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bn-I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bn-I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bn-I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bn-I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:br>
                  <a:rPr lang="bn-IN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bn-I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bn-I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bn-I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n-I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bn-I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bn-I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bn-I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bn-I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</m:sSub>
                      <m:r>
                        <a:rPr lang="bn-I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bn-I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f>
                        <m:fPr>
                          <m:ctrlP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𝑈𝐴</m:t>
                          </m:r>
                        </m:num>
                        <m:den>
                          <m:sSub>
                            <m:sSubPr>
                              <m:ctrlPr>
                                <a:rPr lang="bn-I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bn-I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bn-I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bn-I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bn-I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n-I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bn-I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bn-I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bn-I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bn-I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bn-I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bn-I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bn-IN" dirty="0"/>
              </a:p>
            </p:txBody>
          </p:sp>
        </mc:Choice>
        <mc:Fallback>
          <p:sp>
            <p:nvSpPr>
              <p:cNvPr id="20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4088024" y="1997075"/>
                <a:ext cx="4146339" cy="26264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b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3995088" y="796564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Monotype Sorts" charset="2"/>
              <a:buNone/>
              <a:defRPr/>
            </a:pPr>
            <a:r>
              <a:rPr lang="en-US" altLang="en-US" dirty="0"/>
              <a:t>Assumptions: </a:t>
            </a:r>
          </a:p>
          <a:p>
            <a:pPr lvl="1">
              <a:defRPr/>
            </a:pPr>
            <a:r>
              <a:rPr lang="en-US" altLang="en-US" dirty="0"/>
              <a:t>Constant hold-up in tank and jacket</a:t>
            </a:r>
          </a:p>
          <a:p>
            <a:pPr lvl="1">
              <a:defRPr/>
            </a:pPr>
            <a:r>
              <a:rPr lang="en-US" altLang="en-US" dirty="0"/>
              <a:t>Constant heat capacities and densities</a:t>
            </a:r>
          </a:p>
          <a:p>
            <a:pPr lvl="1">
              <a:defRPr/>
            </a:pPr>
            <a:r>
              <a:rPr lang="en-US" altLang="en-US" dirty="0"/>
              <a:t>Incompressible flow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03" y="1068610"/>
            <a:ext cx="3366921" cy="367780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814039" y="5354653"/>
                <a:ext cx="7234010" cy="945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Parameter and Steady State Values</a:t>
                </a:r>
              </a:p>
              <a:p>
                <a:r>
                  <a:rPr lang="en-US" dirty="0"/>
                  <a:t>F = 30 l/min; F</a:t>
                </a:r>
                <a:r>
                  <a:rPr lang="en-US" baseline="-25000" dirty="0"/>
                  <a:t>j</a:t>
                </a:r>
                <a:r>
                  <a:rPr lang="en-US" baseline="30000" dirty="0"/>
                  <a:t>s</a:t>
                </a:r>
                <a:r>
                  <a:rPr lang="en-US" dirty="0"/>
                  <a:t> = 50 l/min; T</a:t>
                </a:r>
                <a:r>
                  <a:rPr lang="en-US" baseline="-25000" dirty="0"/>
                  <a:t>0</a:t>
                </a:r>
                <a:r>
                  <a:rPr lang="en-US" dirty="0"/>
                  <a:t> = 15</a:t>
                </a:r>
                <a:r>
                  <a:rPr lang="en-US" baseline="30000" dirty="0"/>
                  <a:t>0</a:t>
                </a:r>
                <a:r>
                  <a:rPr lang="en-US" dirty="0"/>
                  <a:t>C; </a:t>
                </a:r>
                <a:r>
                  <a:rPr lang="en-US" dirty="0" err="1"/>
                  <a:t>T</a:t>
                </a:r>
                <a:r>
                  <a:rPr lang="en-US" baseline="-25000" dirty="0" err="1"/>
                  <a:t>Jin</a:t>
                </a:r>
                <a:r>
                  <a:rPr lang="en-US" dirty="0"/>
                  <a:t> = 93</a:t>
                </a:r>
                <a:r>
                  <a:rPr lang="en-US" baseline="30000" dirty="0"/>
                  <a:t>0</a:t>
                </a:r>
                <a:r>
                  <a:rPr lang="en-US" dirty="0"/>
                  <a:t>C; V = 300 l; </a:t>
                </a:r>
                <a:r>
                  <a:rPr lang="en-US" dirty="0" err="1"/>
                  <a:t>V</a:t>
                </a:r>
                <a:r>
                  <a:rPr lang="en-US" baseline="-25000" dirty="0" err="1"/>
                  <a:t>j</a:t>
                </a:r>
                <a:r>
                  <a:rPr lang="en-US" dirty="0"/>
                  <a:t> = 30 l;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= 1 Kcal/K l;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𝑝𝑗</m:t>
                        </m:r>
                      </m:sub>
                    </m:sSub>
                  </m:oMath>
                </a14:m>
                <a:r>
                  <a:rPr lang="en-US" dirty="0"/>
                  <a:t> = 1.384 ; UA = 100 Kcal/min K; </a:t>
                </a:r>
                <a:r>
                  <a:rPr lang="en-US" dirty="0" err="1"/>
                  <a:t>T</a:t>
                </a:r>
                <a:r>
                  <a:rPr lang="en-US" baseline="30000" dirty="0" err="1"/>
                  <a:t>s</a:t>
                </a:r>
                <a:r>
                  <a:rPr lang="en-US" dirty="0"/>
                  <a:t> = 60</a:t>
                </a:r>
                <a:r>
                  <a:rPr lang="en-US" baseline="30000" dirty="0"/>
                  <a:t>0</a:t>
                </a:r>
                <a:r>
                  <a:rPr lang="en-US" dirty="0"/>
                  <a:t>C ; T</a:t>
                </a:r>
                <a:r>
                  <a:rPr lang="en-US" baseline="-25000" dirty="0"/>
                  <a:t>J</a:t>
                </a:r>
                <a:r>
                  <a:rPr lang="en-US" dirty="0"/>
                  <a:t> = 73.5 </a:t>
                </a:r>
                <a:r>
                  <a:rPr lang="en-US" baseline="30000" dirty="0"/>
                  <a:t>0</a:t>
                </a:r>
                <a:r>
                  <a:rPr lang="en-US" dirty="0"/>
                  <a:t>C </a:t>
                </a:r>
                <a:r>
                  <a:rPr lang="en-US" baseline="-25000" dirty="0"/>
                  <a:t> </a:t>
                </a:r>
                <a:endParaRPr lang="en-IN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39" y="5354653"/>
                <a:ext cx="7234010" cy="945643"/>
              </a:xfrm>
              <a:prstGeom prst="rect">
                <a:avLst/>
              </a:prstGeom>
              <a:blipFill>
                <a:blip r:embed="rId5"/>
                <a:stretch>
                  <a:fillRect l="-759" t="-3205" r="-675" b="-7051"/>
                </a:stretch>
              </a:blipFill>
            </p:spPr>
            <p:txBody>
              <a:bodyPr/>
              <a:lstStyle/>
              <a:p>
                <a:r>
                  <a:rPr lang="b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FF4CB34-16BE-4ECF-8AE9-3CB441A68FB9}"/>
              </a:ext>
            </a:extLst>
          </p:cNvPr>
          <p:cNvSpPr txBox="1"/>
          <p:nvPr/>
        </p:nvSpPr>
        <p:spPr>
          <a:xfrm>
            <a:off x="5439990" y="4603530"/>
            <a:ext cx="3016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 dirty="0"/>
              <a:t>Control Objective </a:t>
            </a:r>
          </a:p>
          <a:p>
            <a:r>
              <a:rPr lang="en-IN" dirty="0"/>
              <a:t>    Control T by manipulating F</a:t>
            </a:r>
            <a:r>
              <a:rPr lang="en-IN" baseline="-25000" dirty="0"/>
              <a:t>j</a:t>
            </a:r>
            <a:endParaRPr lang="bn-IN" dirty="0"/>
          </a:p>
        </p:txBody>
      </p:sp>
    </p:spTree>
    <p:extLst>
      <p:ext uri="{BB962C8B-B14F-4D97-AF65-F5344CB8AC3E}">
        <p14:creationId xmlns:p14="http://schemas.microsoft.com/office/powerpoint/2010/main" val="89496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6697701" cy="90611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Continuous Stirred Tank Reactor</a:t>
            </a:r>
            <a:br>
              <a:rPr lang="en-IN" dirty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84387" y="1382752"/>
            <a:ext cx="5713773" cy="2196847"/>
          </a:xfrm>
          <a:prstGeom prst="rect">
            <a:avLst/>
          </a:prstGeom>
        </p:spPr>
      </p:pic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7621521"/>
              </p:ext>
            </p:extLst>
          </p:nvPr>
        </p:nvGraphicFramePr>
        <p:xfrm>
          <a:off x="758284" y="3102167"/>
          <a:ext cx="3122341" cy="1177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Equation" r:id="rId4" imgW="1206500" imgH="457200" progId="Equation.DSMT4">
                  <p:embed/>
                </p:oleObj>
              </mc:Choice>
              <mc:Fallback>
                <p:oleObj name="Equation" r:id="rId4" imgW="1206500" imgH="457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284" y="3102167"/>
                        <a:ext cx="3122341" cy="11778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847493" y="522783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77500" y="3841518"/>
            <a:ext cx="4572000" cy="22694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Assumption: 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Exit Condition = Reactor Condition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Isothermal Reaction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Constant volume, </a:t>
            </a: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i.e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</a:t>
            </a:r>
            <a:r>
              <a:rPr lang="en-IN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IN" b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=F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Only reactant A in feed is consumed, </a:t>
            </a: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i.e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other reactant is in large excess. No product in the feed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83835" y="1271239"/>
            <a:ext cx="512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</a:t>
            </a:r>
            <a:r>
              <a:rPr lang="en-IN" b="1" baseline="-25000" dirty="0"/>
              <a:t>in</a:t>
            </a:r>
            <a:endParaRPr lang="en-IN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211229" y="2958365"/>
            <a:ext cx="602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F</a:t>
            </a:r>
            <a:r>
              <a:rPr lang="en-IN" b="1" baseline="-25000" dirty="0" err="1"/>
              <a:t>out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44204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27333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sz="3600" b="1" dirty="0"/>
              <a:t>Continuous Stirred Tank Reactor (model)</a:t>
            </a:r>
            <a:br>
              <a:rPr lang="en-IN" dirty="0"/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37785"/>
                <a:ext cx="7886700" cy="493917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i="1" dirty="0">
                    <a:latin typeface="Cambria Math" panose="02040503050406030204" pitchFamily="18" charset="0"/>
                  </a:rPr>
                  <a:t>Constant volume : </a:t>
                </a:r>
                <a:r>
                  <a:rPr lang="en-IN" i="1" dirty="0" err="1">
                    <a:latin typeface="Cambria Math" panose="02040503050406030204" pitchFamily="18" charset="0"/>
                  </a:rPr>
                  <a:t>dV</a:t>
                </a:r>
                <a:r>
                  <a:rPr lang="en-IN" i="1" dirty="0">
                    <a:latin typeface="Cambria Math" panose="02040503050406030204" pitchFamily="18" charset="0"/>
                  </a:rPr>
                  <a:t>/</a:t>
                </a:r>
                <a:r>
                  <a:rPr lang="en-IN" i="1" dirty="0" err="1">
                    <a:latin typeface="Cambria Math" panose="02040503050406030204" pitchFamily="18" charset="0"/>
                  </a:rPr>
                  <a:t>dt</a:t>
                </a:r>
                <a:r>
                  <a:rPr lang="en-IN" i="1" dirty="0">
                    <a:latin typeface="Cambria Math" panose="02040503050406030204" pitchFamily="18" charset="0"/>
                  </a:rPr>
                  <a:t> = 0</a:t>
                </a:r>
              </a:p>
              <a:p>
                <a:pPr marL="0" indent="0">
                  <a:buNone/>
                </a:pPr>
                <a:r>
                  <a:rPr lang="en-IN" i="1" dirty="0">
                    <a:latin typeface="Cambria Math" panose="02040503050406030204" pitchFamily="18" charset="0"/>
                  </a:rPr>
                  <a:t>Dynamic model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𝐴𝑓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IN" b="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IN" dirty="0"/>
              </a:p>
              <a:p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Since our objective is to control C</a:t>
                </a:r>
                <a:r>
                  <a:rPr lang="en-IN" baseline="-25000" dirty="0"/>
                  <a:t>B</a:t>
                </a:r>
                <a:r>
                  <a:rPr lang="en-IN" dirty="0"/>
                  <a:t>, the reduced order model should be  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𝐴𝑓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r>
                  <a:rPr lang="en-IN" dirty="0"/>
                  <a:t>)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r>
                  <a:rPr lang="en-IN" dirty="0"/>
                  <a:t>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37785"/>
                <a:ext cx="7886700" cy="4939178"/>
              </a:xfrm>
              <a:blipFill>
                <a:blip r:embed="rId2"/>
                <a:stretch>
                  <a:fillRect l="-927" t="-1481" r="-20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300439" y="2185639"/>
            <a:ext cx="18259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for the CSTR</a:t>
            </a:r>
          </a:p>
          <a:p>
            <a:r>
              <a:rPr lang="en-IN" dirty="0"/>
              <a:t>k</a:t>
            </a:r>
            <a:r>
              <a:rPr lang="en-IN" baseline="-25000" dirty="0"/>
              <a:t>1</a:t>
            </a:r>
            <a:r>
              <a:rPr lang="en-IN" dirty="0"/>
              <a:t> = 5/6; k</a:t>
            </a:r>
            <a:r>
              <a:rPr lang="en-IN" baseline="-25000" dirty="0"/>
              <a:t>2</a:t>
            </a:r>
            <a:r>
              <a:rPr lang="en-IN" dirty="0"/>
              <a:t> = 5/3</a:t>
            </a:r>
          </a:p>
          <a:p>
            <a:r>
              <a:rPr lang="en-IN" dirty="0"/>
              <a:t>K</a:t>
            </a:r>
            <a:r>
              <a:rPr lang="en-IN" baseline="-25000" dirty="0"/>
              <a:t>3</a:t>
            </a:r>
            <a:r>
              <a:rPr lang="en-IN" dirty="0"/>
              <a:t> = 1/6; </a:t>
            </a:r>
            <a:r>
              <a:rPr lang="en-IN" dirty="0" err="1"/>
              <a:t>C</a:t>
            </a:r>
            <a:r>
              <a:rPr lang="en-IN" baseline="-25000" dirty="0" err="1"/>
              <a:t>af</a:t>
            </a:r>
            <a:r>
              <a:rPr lang="en-IN" dirty="0"/>
              <a:t> = 10</a:t>
            </a:r>
          </a:p>
        </p:txBody>
      </p:sp>
    </p:spTree>
    <p:extLst>
      <p:ext uri="{BB962C8B-B14F-4D97-AF65-F5344CB8AC3E}">
        <p14:creationId xmlns:p14="http://schemas.microsoft.com/office/powerpoint/2010/main" val="98782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49635"/>
          </a:xfrm>
        </p:spPr>
        <p:txBody>
          <a:bodyPr>
            <a:normAutofit/>
          </a:bodyPr>
          <a:lstStyle/>
          <a:p>
            <a:r>
              <a:rPr lang="en-IN" sz="3200" b="1" dirty="0"/>
              <a:t>Continuous Stirred Tank Reactor</a:t>
            </a:r>
            <a:endParaRPr lang="en-IN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148576"/>
                <a:ext cx="7886700" cy="502838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Find Maximum C</a:t>
                </a:r>
                <a:r>
                  <a:rPr lang="en-IN" baseline="-25000" dirty="0"/>
                  <a:t>B</a:t>
                </a:r>
                <a:r>
                  <a:rPr lang="en-IN" dirty="0"/>
                  <a:t> with respect to F/V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𝐴𝑓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IN" dirty="0"/>
              </a:p>
              <a:p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box>
                              <m:box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num>
                                  <m:den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</m:e>
                            </m:box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box>
                                      <m:box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</a:rPr>
                                              <m:t>𝐹</m:t>
                                            </m:r>
                                          </m:num>
                                          <m:den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</m:e>
                                </m:d>
                              </m:e>
                              <m: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+ 4</m:t>
                            </m:r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box>
                              <m:box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num>
                                  <m:den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</m:e>
                            </m:box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𝐴𝑓</m:t>
                                </m:r>
                              </m:sub>
                            </m:sSub>
                          </m:e>
                        </m:rad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/>
                  <a:t>    since, C</a:t>
                </a:r>
                <a:r>
                  <a:rPr lang="en-IN" baseline="-25000" dirty="0"/>
                  <a:t>A</a:t>
                </a:r>
                <a:r>
                  <a:rPr lang="en-IN" dirty="0"/>
                  <a:t> can not be negative.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box>
                          <m:box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den>
                            </m:f>
                          </m:e>
                        </m:box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box>
                              <m:box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num>
                                  <m:den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</m:e>
                            </m:box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box>
                                      <m:box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en-I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IN" i="1">
                                                <a:latin typeface="Cambria Math" panose="02040503050406030204" pitchFamily="18" charset="0"/>
                                              </a:rPr>
                                              <m:t>𝐹</m:t>
                                            </m:r>
                                          </m:num>
                                          <m:den>
                                            <m:r>
                                              <a:rPr lang="en-IN" i="1">
                                                <a:latin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</m:e>
                                </m:d>
                              </m:e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+ 4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box>
                              <m:box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num>
                                  <m:den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</m:e>
                            </m:box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𝐴𝑓</m:t>
                                </m:r>
                              </m:sub>
                            </m:sSub>
                          </m:e>
                        </m:rad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box>
                          <m:box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num>
                              <m:den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den>
                            </m:f>
                          </m:e>
                        </m:box>
                        <m:r>
                          <a:rPr lang="en-IN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box>
                          <m:box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den>
                            </m:f>
                          </m:e>
                        </m:box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/>
                  <a:t>0 will give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𝑜𝑝𝑡</m:t>
                            </m:r>
                          </m:sub>
                        </m:sSub>
                      </m:den>
                    </m:f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148576"/>
                <a:ext cx="7886700" cy="5028387"/>
              </a:xfrm>
              <a:blipFill>
                <a:blip r:embed="rId2"/>
                <a:stretch>
                  <a:fillRect l="-927" t="-1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8856486"/>
              </p:ext>
            </p:extLst>
          </p:nvPr>
        </p:nvGraphicFramePr>
        <p:xfrm>
          <a:off x="4750419" y="4348975"/>
          <a:ext cx="3646449" cy="23752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9322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11" y="733425"/>
            <a:ext cx="7399183" cy="55493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89240" y="4001729"/>
            <a:ext cx="3018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What is the Process Gain at these points ? 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608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16181"/>
          </a:xfrm>
        </p:spPr>
        <p:txBody>
          <a:bodyPr/>
          <a:lstStyle/>
          <a:p>
            <a:r>
              <a:rPr lang="en-IN" b="1" dirty="0"/>
              <a:t>Biochemical Reactor</a:t>
            </a: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87" y="1382752"/>
            <a:ext cx="5713773" cy="21968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9435" y="1228156"/>
            <a:ext cx="1070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Substrate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9678" y="2352907"/>
            <a:ext cx="9589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Cells /</a:t>
            </a:r>
          </a:p>
          <a:p>
            <a:r>
              <a:rPr lang="en-IN" dirty="0"/>
              <a:t>Biomass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7205" y="1683164"/>
            <a:ext cx="602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F, x</a:t>
            </a:r>
            <a:r>
              <a:rPr lang="en-IN" baseline="-25000" dirty="0"/>
              <a:t>2f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5772307" y="2894930"/>
            <a:ext cx="844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F, x</a:t>
            </a:r>
            <a:r>
              <a:rPr lang="en-IN" baseline="-25000" dirty="0"/>
              <a:t>1</a:t>
            </a:r>
            <a:r>
              <a:rPr lang="en-IN" dirty="0"/>
              <a:t>, x</a:t>
            </a:r>
            <a:r>
              <a:rPr lang="en-IN" baseline="-25000" dirty="0"/>
              <a:t>2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554320" y="3542429"/>
            <a:ext cx="56179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</a:t>
            </a:r>
            <a:r>
              <a:rPr lang="en-IN" baseline="-25000" dirty="0"/>
              <a:t>1 </a:t>
            </a:r>
            <a:r>
              <a:rPr lang="en-IN" dirty="0"/>
              <a:t> is mass of cells per unit volume in the reactor</a:t>
            </a:r>
          </a:p>
          <a:p>
            <a:r>
              <a:rPr lang="en-IN" baseline="-25000" dirty="0"/>
              <a:t> </a:t>
            </a:r>
            <a:r>
              <a:rPr lang="en-IN" dirty="0"/>
              <a:t>x</a:t>
            </a:r>
            <a:r>
              <a:rPr lang="en-IN" baseline="-25000" dirty="0"/>
              <a:t>2 </a:t>
            </a:r>
            <a:r>
              <a:rPr lang="en-IN" dirty="0"/>
              <a:t> is mass of substrate per unit volume in the reactor</a:t>
            </a:r>
          </a:p>
          <a:p>
            <a:r>
              <a:rPr lang="en-IN" dirty="0"/>
              <a:t>x</a:t>
            </a:r>
            <a:r>
              <a:rPr lang="en-IN" baseline="-25000" dirty="0"/>
              <a:t>2f</a:t>
            </a:r>
            <a:r>
              <a:rPr lang="en-IN" dirty="0"/>
              <a:t> is mass of substrate per unit volume in the feed stream</a:t>
            </a:r>
          </a:p>
          <a:p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1213199" y="4549754"/>
            <a:ext cx="4300189" cy="1973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Assumption: 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Exit Condition = Reactor Condition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Isothermal Reaction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Constant volume, </a:t>
            </a: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i.e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</a:t>
            </a:r>
            <a:r>
              <a:rPr lang="en-IN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IN" b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=F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cell/biomass is present in the feed stream.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481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3879"/>
          </a:xfrm>
        </p:spPr>
        <p:txBody>
          <a:bodyPr/>
          <a:lstStyle/>
          <a:p>
            <a:r>
              <a:rPr lang="en-IN" b="1" dirty="0"/>
              <a:t>Biochemical Reactor (Dynamic Model)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959005"/>
                <a:ext cx="7886700" cy="521795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IN" dirty="0"/>
                  <a:t>Dynamic Model</a:t>
                </a:r>
              </a:p>
              <a:p>
                <a:pPr marL="0" indent="0">
                  <a:buNone/>
                </a:pPr>
                <a:r>
                  <a:rPr lang="en-IN" dirty="0"/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IN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IN" sz="2400" b="0" dirty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den>
                    </m:f>
                  </m:oMath>
                </a14:m>
                <a:endParaRPr lang="en-IN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IN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b="0" dirty="0">
                    <a:ea typeface="Cambria Math" panose="02040503050406030204" pitchFamily="18" charset="0"/>
                  </a:rPr>
                  <a:t>Where yield,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𝑚𝑎𝑠𝑠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𝑜𝑓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𝑐𝑒𝑙𝑙𝑠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𝑝𝑟𝑜𝑑𝑢𝑐𝑒𝑑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𝑚𝑎𝑠𝑠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𝑜𝑓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𝑠𝑢𝑏𝑠𝑟𝑡𝑎𝑡𝑒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𝑐𝑜𝑛𝑠𝑢𝑚𝑒𝑑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IN" b="0" dirty="0">
                    <a:ea typeface="Cambria Math" panose="02040503050406030204" pitchFamily="18" charset="0"/>
                  </a:rPr>
                  <a:t> and </a:t>
                </a:r>
                <a:r>
                  <a:rPr lang="el-GR" b="0" dirty="0">
                    <a:ea typeface="Cambria Math" panose="02040503050406030204" pitchFamily="18" charset="0"/>
                  </a:rPr>
                  <a:t>μ</a:t>
                </a:r>
                <a:r>
                  <a:rPr lang="en-IN" b="0" dirty="0">
                    <a:ea typeface="Cambria Math" panose="02040503050406030204" pitchFamily="18" charset="0"/>
                  </a:rPr>
                  <a:t> is specific growth rate coefficient for cell mass which is not constant but function of substrate concentration. The most common functions are:</a:t>
                </a:r>
              </a:p>
              <a:p>
                <a:pPr marL="0" indent="0">
                  <a:buNone/>
                </a:pPr>
                <a:endParaRPr lang="en-IN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IN" dirty="0">
                    <a:ea typeface="Cambria Math" panose="02040503050406030204" pitchFamily="18" charset="0"/>
                  </a:rPr>
                  <a:t>Monod model:   			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IN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IN" dirty="0">
                    <a:ea typeface="Cambria Math" panose="02040503050406030204" pitchFamily="18" charset="0"/>
                  </a:rPr>
                  <a:t>Substrate inhibition model: 	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IN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959005"/>
                <a:ext cx="7886700" cy="5217958"/>
              </a:xfrm>
              <a:blipFill>
                <a:blip r:embed="rId2"/>
                <a:stretch>
                  <a:fillRect l="-927" t="-17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5206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38484"/>
          </a:xfrm>
        </p:spPr>
        <p:txBody>
          <a:bodyPr/>
          <a:lstStyle/>
          <a:p>
            <a:r>
              <a:rPr lang="en-IN" b="1" dirty="0"/>
              <a:t>Biochemical Reactor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103971"/>
                <a:ext cx="7886700" cy="507299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Steady State equations: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0=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IN" sz="2400" dirty="0">
                    <a:ea typeface="Cambria Math" panose="02040503050406030204" pitchFamily="18" charset="0"/>
                  </a:rPr>
                  <a:t>if,</a:t>
                </a:r>
                <a:r>
                  <a:rPr lang="en-IN" sz="2400" b="1" dirty="0"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ea typeface="Cambria Math" panose="02040503050406030204" pitchFamily="18" charset="0"/>
                  </a:rPr>
                  <a:t>x</a:t>
                </a:r>
                <a:r>
                  <a:rPr lang="en-IN" sz="2400" baseline="-25000" dirty="0">
                    <a:ea typeface="Cambria Math" panose="02040503050406030204" pitchFamily="18" charset="0"/>
                  </a:rPr>
                  <a:t>1</a:t>
                </a:r>
                <a:r>
                  <a:rPr lang="en-IN" sz="2400" dirty="0">
                    <a:ea typeface="Cambria Math" panose="02040503050406030204" pitchFamily="18" charset="0"/>
                  </a:rPr>
                  <a:t> ≠ 0,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endParaRPr lang="en-IN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0=</m:t>
                      </m:r>
                      <m:r>
                        <a:rPr lang="en-I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den>
                      </m:f>
                    </m:oMath>
                  </m:oMathPara>
                </a14:m>
                <a:endParaRPr lang="en-IN" sz="2400" dirty="0"/>
              </a:p>
              <a:p>
                <a:pPr marL="0" indent="0">
                  <a:buNone/>
                </a:pPr>
                <a:r>
                  <a:rPr lang="en-IN" sz="2400" dirty="0"/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lang="en-IN" sz="2400" dirty="0"/>
                  <a:t>)</a:t>
                </a:r>
              </a:p>
              <a:p>
                <a:pPr marL="0" indent="0">
                  <a:buNone/>
                </a:pPr>
                <a:r>
                  <a:rPr lang="en-IN" sz="2400" dirty="0"/>
                  <a:t>Dx</a:t>
                </a:r>
                <a:r>
                  <a:rPr lang="en-IN" sz="2400" baseline="-25000" dirty="0"/>
                  <a:t>1</a:t>
                </a:r>
                <a:r>
                  <a:rPr lang="en-IN" sz="2400" dirty="0"/>
                  <a:t> is the rate of cell </a:t>
                </a:r>
              </a:p>
              <a:p>
                <a:pPr marL="0" indent="0">
                  <a:buNone/>
                </a:pPr>
                <a:r>
                  <a:rPr lang="en-IN" sz="2400" dirty="0"/>
                  <a:t>Production per unit reactor</a:t>
                </a:r>
              </a:p>
              <a:p>
                <a:pPr marL="0" indent="0">
                  <a:buNone/>
                </a:pPr>
                <a:r>
                  <a:rPr lang="en-IN" sz="2400" dirty="0"/>
                  <a:t>Volume.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103971"/>
                <a:ext cx="7886700" cy="5072992"/>
              </a:xfrm>
              <a:blipFill>
                <a:blip r:embed="rId2"/>
                <a:stretch>
                  <a:fillRect l="-1159" t="-1322" b="-16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0202139"/>
              </p:ext>
            </p:extLst>
          </p:nvPr>
        </p:nvGraphicFramePr>
        <p:xfrm>
          <a:off x="4270918" y="3127105"/>
          <a:ext cx="4873082" cy="30498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52586" y="4283515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</a:t>
            </a:r>
            <a:r>
              <a:rPr lang="en-IN" baseline="-25000" dirty="0"/>
              <a:t>1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7619582" y="5294409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</a:t>
            </a:r>
            <a:r>
              <a:rPr lang="en-IN" baseline="-25000" dirty="0"/>
              <a:t>2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6943747" y="4925077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Dx</a:t>
            </a:r>
            <a:r>
              <a:rPr lang="en-IN" baseline="-25000" dirty="0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5380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6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60786"/>
          </a:xfrm>
        </p:spPr>
        <p:txBody>
          <a:bodyPr/>
          <a:lstStyle/>
          <a:p>
            <a:r>
              <a:rPr lang="en-IN" b="1" dirty="0"/>
              <a:t>Biochemical Reactor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025913"/>
                <a:ext cx="7886700" cy="515105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IN" dirty="0"/>
                  <a:t>We need to find optimum dilution rate to maximize Dx</a:t>
                </a:r>
                <a:r>
                  <a:rPr lang="en-IN" baseline="-25000" dirty="0"/>
                  <a:t>1</a:t>
                </a:r>
                <a:r>
                  <a:rPr lang="en-IN" dirty="0"/>
                  <a:t>. so,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box>
                            <m:box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den>
                              </m:f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box>
                        </m:num>
                        <m:den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𝑚𝑎𝑥</m:t>
                                      </m:r>
                                    </m:sub>
                                  </m:s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Or,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IN" b="0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Adding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Sup>
                      <m:sSub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IN" b="0" dirty="0"/>
                  <a:t> both sides, we get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ad>
                          <m:radPr>
                            <m:degHide m:val="on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lang="en-IN" b="0" dirty="0"/>
                  <a:t> since D can not be greater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025913"/>
                <a:ext cx="7886700" cy="5151050"/>
              </a:xfrm>
              <a:blipFill>
                <a:blip r:embed="rId2"/>
                <a:stretch>
                  <a:fillRect l="-927" t="-17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238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441209"/>
          </a:xfrm>
        </p:spPr>
        <p:txBody>
          <a:bodyPr>
            <a:normAutofit fontScale="90000"/>
          </a:bodyPr>
          <a:lstStyle/>
          <a:p>
            <a:r>
              <a:rPr lang="en-IN" dirty="0"/>
              <a:t>Non-Isothermal Jacketed CSTR</a:t>
            </a:r>
          </a:p>
        </p:txBody>
      </p:sp>
      <p:pic>
        <p:nvPicPr>
          <p:cNvPr id="7170" name="Picture 2" descr="https://www.rpi.edu/dept/chem-eng/WWW/faculty/bequette/education/links_mods/cstr/fig1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1" y="1008972"/>
            <a:ext cx="3452576" cy="211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288905" y="1033193"/>
                <a:ext cx="4775859" cy="22321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IN" dirty="0"/>
              </a:p>
              <a:p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𝑑𝑇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−∆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UA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num>
                            <m:den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𝑅𝑇</m:t>
                              </m:r>
                            </m:den>
                          </m:f>
                        </m:sup>
                      </m:sSup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IN" b="0" dirty="0"/>
              </a:p>
              <a:p>
                <a:r>
                  <a:rPr lang="en-IN" sz="2000" dirty="0"/>
                  <a:t> 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8905" y="1033193"/>
                <a:ext cx="4775859" cy="22321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477645" y="3265343"/>
          <a:ext cx="5622520" cy="3200400"/>
        </p:xfrm>
        <a:graphic>
          <a:graphicData uri="http://schemas.openxmlformats.org/drawingml/2006/table">
            <a:tbl>
              <a:tblPr/>
              <a:tblGrid>
                <a:gridCol w="1405630">
                  <a:extLst>
                    <a:ext uri="{9D8B030D-6E8A-4147-A177-3AD203B41FA5}">
                      <a16:colId xmlns:a16="http://schemas.microsoft.com/office/drawing/2014/main" val="3699360910"/>
                    </a:ext>
                  </a:extLst>
                </a:gridCol>
                <a:gridCol w="1405630">
                  <a:extLst>
                    <a:ext uri="{9D8B030D-6E8A-4147-A177-3AD203B41FA5}">
                      <a16:colId xmlns:a16="http://schemas.microsoft.com/office/drawing/2014/main" val="3178201327"/>
                    </a:ext>
                  </a:extLst>
                </a:gridCol>
                <a:gridCol w="1405630">
                  <a:extLst>
                    <a:ext uri="{9D8B030D-6E8A-4147-A177-3AD203B41FA5}">
                      <a16:colId xmlns:a16="http://schemas.microsoft.com/office/drawing/2014/main" val="2768645011"/>
                    </a:ext>
                  </a:extLst>
                </a:gridCol>
                <a:gridCol w="1405630">
                  <a:extLst>
                    <a:ext uri="{9D8B030D-6E8A-4147-A177-3AD203B41FA5}">
                      <a16:colId xmlns:a16="http://schemas.microsoft.com/office/drawing/2014/main" val="8697780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case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case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case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873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338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F/V, hr-1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974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k</a:t>
                      </a:r>
                      <a:r>
                        <a:rPr lang="en-IN" sz="1200" baseline="-25000" dirty="0"/>
                        <a:t>0</a:t>
                      </a:r>
                      <a:r>
                        <a:rPr lang="en-IN" sz="1200" dirty="0"/>
                        <a:t>, hr-1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14,825*3600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9,703*3600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18,194*3600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11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(</a:t>
                      </a:r>
                      <a:r>
                        <a:rPr lang="en-IN" sz="1200" dirty="0">
                          <a:latin typeface="Symbol" panose="05050102010706020507" pitchFamily="18" charset="2"/>
                        </a:rPr>
                        <a:t>-D</a:t>
                      </a:r>
                      <a:r>
                        <a:rPr lang="en-IN" sz="1200" dirty="0"/>
                        <a:t>H), kcal/</a:t>
                      </a:r>
                      <a:r>
                        <a:rPr lang="en-IN" sz="1200" dirty="0" err="1"/>
                        <a:t>kgmol</a:t>
                      </a: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5215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5960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8195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091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E, kcal/</a:t>
                      </a:r>
                      <a:r>
                        <a:rPr lang="en-IN" sz="1200" dirty="0" err="1"/>
                        <a:t>kgmol</a:t>
                      </a: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11,843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11,843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11,843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840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 err="1">
                          <a:latin typeface="Symbol" panose="05050102010706020507" pitchFamily="18" charset="2"/>
                        </a:rPr>
                        <a:t>r</a:t>
                      </a:r>
                      <a:r>
                        <a:rPr lang="en-IN" sz="1200" dirty="0" err="1"/>
                        <a:t>cp</a:t>
                      </a:r>
                      <a:r>
                        <a:rPr lang="en-IN" sz="1200" dirty="0"/>
                        <a:t>, kcal/(m</a:t>
                      </a:r>
                      <a:r>
                        <a:rPr lang="en-IN" sz="1200" baseline="30000" dirty="0"/>
                        <a:t>3 </a:t>
                      </a:r>
                      <a:r>
                        <a:rPr lang="en-IN" sz="1200" baseline="30000" dirty="0" err="1"/>
                        <a:t>o</a:t>
                      </a:r>
                      <a:r>
                        <a:rPr lang="en-IN" sz="1200" dirty="0" err="1"/>
                        <a:t>C</a:t>
                      </a:r>
                      <a:r>
                        <a:rPr lang="en-IN" sz="12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84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 err="1"/>
                        <a:t>T</a:t>
                      </a:r>
                      <a:r>
                        <a:rPr lang="en-IN" sz="1200" baseline="-25000" dirty="0" err="1"/>
                        <a:t>f</a:t>
                      </a:r>
                      <a:r>
                        <a:rPr lang="en-IN" sz="1200" dirty="0"/>
                        <a:t>, </a:t>
                      </a:r>
                      <a:r>
                        <a:rPr lang="en-IN" sz="1200" baseline="30000" dirty="0" err="1"/>
                        <a:t>o</a:t>
                      </a:r>
                      <a:r>
                        <a:rPr lang="en-IN" sz="1200" dirty="0" err="1"/>
                        <a:t>C</a:t>
                      </a: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250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 err="1"/>
                        <a:t>C</a:t>
                      </a:r>
                      <a:r>
                        <a:rPr lang="en-IN" sz="1200" baseline="-25000" dirty="0" err="1"/>
                        <a:t>Af</a:t>
                      </a:r>
                      <a:r>
                        <a:rPr lang="en-IN" sz="1200" dirty="0"/>
                        <a:t>, </a:t>
                      </a:r>
                      <a:r>
                        <a:rPr lang="en-IN" sz="1200" dirty="0" err="1"/>
                        <a:t>kgmol</a:t>
                      </a:r>
                      <a:r>
                        <a:rPr lang="en-IN" sz="1200" dirty="0"/>
                        <a:t>/m3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762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UA/V, kcal/(m</a:t>
                      </a:r>
                      <a:r>
                        <a:rPr lang="en-IN" sz="1200" baseline="30000" dirty="0"/>
                        <a:t>3  </a:t>
                      </a:r>
                      <a:r>
                        <a:rPr lang="en-IN" sz="1200" baseline="30000" dirty="0" err="1"/>
                        <a:t>o</a:t>
                      </a:r>
                      <a:r>
                        <a:rPr lang="en-IN" sz="1200" dirty="0" err="1"/>
                        <a:t>C</a:t>
                      </a:r>
                      <a:r>
                        <a:rPr lang="en-IN" sz="1200" dirty="0"/>
                        <a:t> hr)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750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864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T</a:t>
                      </a:r>
                      <a:r>
                        <a:rPr lang="en-IN" sz="1200" baseline="-25000" dirty="0"/>
                        <a:t>C</a:t>
                      </a:r>
                      <a:r>
                        <a:rPr lang="en-IN" sz="1200" dirty="0"/>
                        <a:t>, </a:t>
                      </a:r>
                      <a:r>
                        <a:rPr lang="en-IN" sz="1200" baseline="30000" dirty="0" err="1"/>
                        <a:t>o</a:t>
                      </a:r>
                      <a:r>
                        <a:rPr lang="en-IN" sz="1200" dirty="0" err="1"/>
                        <a:t>C</a:t>
                      </a: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946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9969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127" y="889361"/>
            <a:ext cx="6683568" cy="5012675"/>
          </a:xfrm>
        </p:spPr>
      </p:pic>
      <p:sp>
        <p:nvSpPr>
          <p:cNvPr id="5" name="TextBox 4"/>
          <p:cNvSpPr txBox="1"/>
          <p:nvPr/>
        </p:nvSpPr>
        <p:spPr>
          <a:xfrm>
            <a:off x="5172364" y="1865745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Case 1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3454400" y="1366981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Case 2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5382953" y="3457744"/>
            <a:ext cx="2635133" cy="116955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Steady State for case 2</a:t>
            </a:r>
          </a:p>
          <a:p>
            <a:r>
              <a:rPr lang="en-IN" sz="1400" dirty="0"/>
              <a:t>	C</a:t>
            </a:r>
            <a:r>
              <a:rPr lang="en-IN" sz="1400" baseline="-25000" dirty="0"/>
              <a:t>A</a:t>
            </a:r>
            <a:r>
              <a:rPr lang="en-IN" sz="1400" dirty="0"/>
              <a:t>        	T</a:t>
            </a:r>
          </a:p>
          <a:p>
            <a:r>
              <a:rPr lang="en-IN" sz="1400" dirty="0"/>
              <a:t>   1	8.564	311.2</a:t>
            </a:r>
          </a:p>
          <a:p>
            <a:r>
              <a:rPr lang="en-IN" sz="1400" dirty="0"/>
              <a:t>   2 	5.518	339.1</a:t>
            </a:r>
          </a:p>
          <a:p>
            <a:r>
              <a:rPr lang="en-IN" sz="1400" dirty="0"/>
              <a:t>   3	2.359	368.1</a:t>
            </a:r>
          </a:p>
        </p:txBody>
      </p:sp>
    </p:spTree>
    <p:extLst>
      <p:ext uri="{BB962C8B-B14F-4D97-AF65-F5344CB8AC3E}">
        <p14:creationId xmlns:p14="http://schemas.microsoft.com/office/powerpoint/2010/main" val="1319182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13929"/>
          </a:xfrm>
        </p:spPr>
        <p:txBody>
          <a:bodyPr/>
          <a:lstStyle/>
          <a:p>
            <a:r>
              <a:rPr lang="en-US" dirty="0"/>
              <a:t>Styrene Polymerization Reactor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1" y="2180227"/>
            <a:ext cx="3494025" cy="3883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910" y="979055"/>
            <a:ext cx="5937433" cy="24789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764452" y="625909"/>
                <a:ext cx="197314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Initiator </a:t>
                </a:r>
                <a:r>
                  <a:rPr lang="en-US" dirty="0" err="1"/>
                  <a:t>Conc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Monomer </a:t>
                </a:r>
                <a:r>
                  <a:rPr lang="en-US" dirty="0" err="1"/>
                  <a:t>Conc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Reactor Temp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Jacket Temp.</a:t>
                </a:r>
                <a:endParaRPr lang="en-IN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4452" y="625909"/>
                <a:ext cx="1973148" cy="1200329"/>
              </a:xfrm>
              <a:prstGeom prst="rect">
                <a:avLst/>
              </a:prstGeom>
              <a:blipFill>
                <a:blip r:embed="rId4"/>
                <a:stretch>
                  <a:fillRect t="-3046" b="-71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2756" y="3569368"/>
            <a:ext cx="2513819" cy="3468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753" y="4121727"/>
            <a:ext cx="5077195" cy="7088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685309" y="5061527"/>
                <a:ext cx="4516749" cy="1093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The dissociation, propagation and termination</a:t>
                </a:r>
              </a:p>
              <a:p>
                <a:r>
                  <a:rPr lang="en-US" dirty="0"/>
                  <a:t>Rate constants follow Arrhenius law 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𝑅𝑇</m:t>
                            </m:r>
                          </m:den>
                        </m:f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/>
                  <a:t>    for I =d, p or t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5309" y="5061527"/>
                <a:ext cx="4516749" cy="1093376"/>
              </a:xfrm>
              <a:prstGeom prst="rect">
                <a:avLst/>
              </a:prstGeom>
              <a:blipFill>
                <a:blip r:embed="rId7"/>
                <a:stretch>
                  <a:fillRect l="-1216" t="-2778" r="-676" b="-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9035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33" y="1487055"/>
            <a:ext cx="7524267" cy="4428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flipH="1">
            <a:off x="2151608" y="1034473"/>
            <a:ext cx="5366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Steady State Heat Power vs Reactor Temperature</a:t>
            </a:r>
            <a:endParaRPr lang="en-IN" sz="2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955636" y="3999345"/>
            <a:ext cx="0" cy="7296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911599" y="3422072"/>
            <a:ext cx="0" cy="7296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7075055" y="2540001"/>
            <a:ext cx="18472" cy="8820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632364" y="37869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3609913" y="32374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6945745" y="35005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6753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88" y="851795"/>
            <a:ext cx="8506513" cy="52687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11419" y="633268"/>
            <a:ext cx="1655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Phase Portrait</a:t>
            </a:r>
            <a:endParaRPr lang="en-IN" sz="2000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3131128" y="4479636"/>
            <a:ext cx="314037" cy="434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5883564" y="2041236"/>
            <a:ext cx="138545" cy="1117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1597891" y="5163127"/>
            <a:ext cx="563418" cy="46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83564" y="3325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3460576" y="4816886"/>
            <a:ext cx="1301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(unstable)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1431637" y="48814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2987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906</TotalTime>
  <Words>1028</Words>
  <Application>Microsoft Office PowerPoint</Application>
  <PresentationFormat>On-screen Show (4:3)</PresentationFormat>
  <Paragraphs>205</Paragraphs>
  <Slides>17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Monotype Sorts</vt:lpstr>
      <vt:lpstr>Symbol</vt:lpstr>
      <vt:lpstr>Times New Roman</vt:lpstr>
      <vt:lpstr>Vrinda</vt:lpstr>
      <vt:lpstr>Office Theme</vt:lpstr>
      <vt:lpstr>Equation</vt:lpstr>
      <vt:lpstr>Process Dynamics &amp; Control</vt:lpstr>
      <vt:lpstr>Quadruple Tank problem </vt:lpstr>
      <vt:lpstr>Quadruple Tank problem (Dynamic Model)</vt:lpstr>
      <vt:lpstr>PowerPoint Presentation</vt:lpstr>
      <vt:lpstr>Continuous Stirred Tank Reactor </vt:lpstr>
      <vt:lpstr> Continuous Stirred Tank Reactor (model) </vt:lpstr>
      <vt:lpstr>Continuous Stirred Tank Reactor</vt:lpstr>
      <vt:lpstr>PowerPoint Presentation</vt:lpstr>
      <vt:lpstr>Biochemical Reactor</vt:lpstr>
      <vt:lpstr>Biochemical Reactor (Dynamic Model)</vt:lpstr>
      <vt:lpstr>Biochemical Reactor</vt:lpstr>
      <vt:lpstr>Biochemical Reactor</vt:lpstr>
      <vt:lpstr>Non-Isothermal Jacketed CSTR</vt:lpstr>
      <vt:lpstr>PowerPoint Presentation</vt:lpstr>
      <vt:lpstr>Styrene Polymerization Reactor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Dynamics &amp; Control</dc:title>
  <dc:creator>Amar Samanta</dc:creator>
  <cp:lastModifiedBy>Admin</cp:lastModifiedBy>
  <cp:revision>46</cp:revision>
  <dcterms:created xsi:type="dcterms:W3CDTF">2019-01-01T11:22:05Z</dcterms:created>
  <dcterms:modified xsi:type="dcterms:W3CDTF">2024-01-09T13:25:38Z</dcterms:modified>
</cp:coreProperties>
</file>