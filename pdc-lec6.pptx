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39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82" r:id="rId11"/>
    <p:sldId id="352" r:id="rId12"/>
    <p:sldId id="353" r:id="rId13"/>
    <p:sldId id="354" r:id="rId14"/>
    <p:sldId id="355" r:id="rId15"/>
    <p:sldId id="379" r:id="rId16"/>
    <p:sldId id="356" r:id="rId17"/>
    <p:sldId id="358" r:id="rId18"/>
    <p:sldId id="359" r:id="rId19"/>
    <p:sldId id="389" r:id="rId20"/>
    <p:sldId id="384" r:id="rId21"/>
    <p:sldId id="386" r:id="rId22"/>
    <p:sldId id="387" r:id="rId23"/>
    <p:sldId id="385" r:id="rId24"/>
    <p:sldId id="38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5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C7D54-FE64-4F51-A421-D0F6CB6E7C61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D0910-2205-4A84-ACF2-763AC3C3DF66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133116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A0ADD9-20ED-4C8D-9458-991EF88F875F}" type="slidenum">
              <a:rPr lang="en-IN" smtClean="0"/>
              <a:pPr>
                <a:defRPr/>
              </a:pPr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134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A0ADD9-20ED-4C8D-9458-991EF88F875F}" type="slidenum">
              <a:rPr lang="en-IN" smtClean="0"/>
              <a:pPr>
                <a:defRPr/>
              </a:pPr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45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33018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9055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55677"/>
            <a:ext cx="7886700" cy="53212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4243874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97115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25529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812899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13800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307495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186121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331519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120315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33185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ED239-E659-45BA-B5F7-CCD01836FA1B}" type="datetimeFigureOut">
              <a:rPr lang="bn-IN" smtClean="0"/>
              <a:t>17-01-24</a:t>
            </a:fld>
            <a:endParaRPr lang="b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DBEDD-75DE-488F-97B0-CD0FD3ADA285}" type="slidenum">
              <a:rPr lang="bn-IN" smtClean="0"/>
              <a:t>‹#›</a:t>
            </a:fld>
            <a:endParaRPr lang="bn-IN"/>
          </a:p>
        </p:txBody>
      </p:sp>
    </p:spTree>
    <p:extLst>
      <p:ext uri="{BB962C8B-B14F-4D97-AF65-F5344CB8AC3E}">
        <p14:creationId xmlns:p14="http://schemas.microsoft.com/office/powerpoint/2010/main" val="405808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448" y="2919632"/>
            <a:ext cx="6858000" cy="60133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Process Dynamics &amp; Control</a:t>
            </a:r>
          </a:p>
        </p:txBody>
      </p:sp>
    </p:spTree>
    <p:extLst>
      <p:ext uri="{BB962C8B-B14F-4D97-AF65-F5344CB8AC3E}">
        <p14:creationId xmlns:p14="http://schemas.microsoft.com/office/powerpoint/2010/main" val="55216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6B35-0A33-4749-8B54-FAD4A2521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Process Identification</a:t>
            </a:r>
            <a:endParaRPr lang="b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A64EA-FD45-4CC9-849F-4ECD17EB2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Identification? </a:t>
            </a:r>
          </a:p>
          <a:p>
            <a:pPr marL="457200" lvl="1" indent="0">
              <a:buNone/>
            </a:pPr>
            <a:r>
              <a:rPr lang="en-US" dirty="0"/>
              <a:t>Identification is the process of constructing a empirical  model of a (dynamical) system from observations of its inputs and outputs. In a dynamical system, the output at any instant depends on its history not just present input, i.e. it has some form of memory (storage).</a:t>
            </a:r>
          </a:p>
          <a:p>
            <a:pPr marL="457200" lvl="1" indent="0">
              <a:buNone/>
            </a:pPr>
            <a:endParaRPr lang="b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1A53B-E689-4CBC-8F1E-7D17EDBF5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963" y="3165476"/>
            <a:ext cx="4196230" cy="29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2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4579-ECA6-4D48-A9AF-C219B82F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Classification of identification</a:t>
            </a:r>
            <a:endParaRPr lang="b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E2D19-97B3-404C-BD1D-28D579CF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Based on the degree of a priori knowledge of the system.</a:t>
            </a:r>
          </a:p>
          <a:p>
            <a:pPr marL="0" indent="0">
              <a:buNone/>
            </a:pPr>
            <a:r>
              <a:rPr lang="en-US" b="1" dirty="0"/>
              <a:t>Black Box: </a:t>
            </a:r>
          </a:p>
          <a:p>
            <a:r>
              <a:rPr lang="en-US" dirty="0"/>
              <a:t>This means we know nothing about the basic characteristics of the system. </a:t>
            </a:r>
          </a:p>
          <a:p>
            <a:r>
              <a:rPr lang="en-US" dirty="0"/>
              <a:t>Extremely difficult to solve. </a:t>
            </a:r>
          </a:p>
          <a:p>
            <a:r>
              <a:rPr lang="en-US" dirty="0"/>
              <a:t>Usually some kind of assumptions have to be made before any meaningful solution can be</a:t>
            </a:r>
            <a:r>
              <a:rPr lang="en-IN" dirty="0"/>
              <a:t> attempted.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Grey Box: </a:t>
            </a:r>
          </a:p>
          <a:p>
            <a:r>
              <a:rPr lang="en-US" dirty="0"/>
              <a:t>In this case, some basic characteristics of the system are known (</a:t>
            </a:r>
            <a:r>
              <a:rPr lang="en-US" dirty="0" err="1"/>
              <a:t>ie</a:t>
            </a:r>
            <a:r>
              <a:rPr lang="en-US" dirty="0"/>
              <a:t>. linearity, bandwidth, structure). </a:t>
            </a:r>
          </a:p>
          <a:p>
            <a:r>
              <a:rPr lang="en-US" dirty="0"/>
              <a:t>However, order of the dynamic equation or values of the associated coefficients may be </a:t>
            </a:r>
            <a:r>
              <a:rPr lang="en-IN" dirty="0"/>
              <a:t>unknown.</a:t>
            </a:r>
            <a:endParaRPr lang="bn-IN" dirty="0"/>
          </a:p>
        </p:txBody>
      </p:sp>
    </p:spTree>
    <p:extLst>
      <p:ext uri="{BB962C8B-B14F-4D97-AF65-F5344CB8AC3E}">
        <p14:creationId xmlns:p14="http://schemas.microsoft.com/office/powerpoint/2010/main" val="108341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76159-56F9-4195-873F-48CB12EC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Process Identification Procedure</a:t>
            </a:r>
            <a:endParaRPr lang="b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2EEDF-20B4-4FEE-8FC9-1FAE4ADBC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16543"/>
            <a:ext cx="7886700" cy="53212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The experiment design </a:t>
            </a:r>
            <a:r>
              <a:rPr lang="en-US" dirty="0"/>
              <a:t>objective is to make choices such that the collected data is </a:t>
            </a:r>
            <a:r>
              <a:rPr lang="en-IN" dirty="0"/>
              <a:t>maximally informative, i.e.</a:t>
            </a:r>
          </a:p>
          <a:p>
            <a:pPr lvl="1"/>
            <a:r>
              <a:rPr lang="en-IN" dirty="0"/>
              <a:t>types of signals,</a:t>
            </a:r>
          </a:p>
          <a:p>
            <a:pPr lvl="1"/>
            <a:r>
              <a:rPr lang="en-IN" dirty="0"/>
              <a:t>amplitudes,</a:t>
            </a:r>
          </a:p>
          <a:p>
            <a:pPr lvl="1"/>
            <a:r>
              <a:rPr lang="en-IN" dirty="0"/>
              <a:t>what to measure</a:t>
            </a:r>
          </a:p>
          <a:p>
            <a:pPr lvl="1"/>
            <a:r>
              <a:rPr lang="en-IN" dirty="0"/>
              <a:t>input/outputs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the model calculation block, decisions need to be made on:</a:t>
            </a:r>
          </a:p>
          <a:p>
            <a:pPr lvl="1"/>
            <a:r>
              <a:rPr lang="en-IN" dirty="0"/>
              <a:t>what type of model,</a:t>
            </a:r>
          </a:p>
          <a:p>
            <a:pPr lvl="1"/>
            <a:r>
              <a:rPr lang="en-IN" dirty="0"/>
              <a:t>model structure,</a:t>
            </a:r>
          </a:p>
          <a:p>
            <a:pPr lvl="1"/>
            <a:r>
              <a:rPr lang="en-IN" dirty="0"/>
              <a:t>parameter estimation technique</a:t>
            </a:r>
          </a:p>
        </p:txBody>
      </p:sp>
    </p:spTree>
    <p:extLst>
      <p:ext uri="{BB962C8B-B14F-4D97-AF65-F5344CB8AC3E}">
        <p14:creationId xmlns:p14="http://schemas.microsoft.com/office/powerpoint/2010/main" val="4176575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EFBC6-121A-4479-84C5-BC19DD2E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Process Identification Procedure</a:t>
            </a:r>
            <a:endParaRPr lang="b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B385E-C02D-4DAB-BC21-6307E816A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09677"/>
            <a:ext cx="7886700" cy="53212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validate the model, the following questions need to be </a:t>
            </a:r>
            <a:r>
              <a:rPr lang="en-IN" dirty="0"/>
              <a:t>asked:</a:t>
            </a:r>
          </a:p>
          <a:p>
            <a:r>
              <a:rPr lang="en-US" dirty="0"/>
              <a:t>How does the model output</a:t>
            </a:r>
          </a:p>
          <a:p>
            <a:pPr marL="0" indent="0">
              <a:buNone/>
            </a:pPr>
            <a:r>
              <a:rPr lang="en-US" dirty="0"/>
              <a:t>  relate to the data observed?</a:t>
            </a:r>
          </a:p>
          <a:p>
            <a:r>
              <a:rPr lang="en-US" dirty="0"/>
              <a:t>Is it good enough for specific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purpose?</a:t>
            </a:r>
          </a:p>
          <a:p>
            <a:endParaRPr lang="b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6EF0B-F1A1-482F-A5B0-022C94B7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296" y="1719792"/>
            <a:ext cx="3662187" cy="428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7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3B89E-9D18-43BE-BE2E-2B6B6472A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Types of Test Signals</a:t>
            </a:r>
            <a:endParaRPr lang="b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60A9C-63E7-4D4C-A284-C3A2ABE98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input signal used in an identification experiment can have a significant influence on the resulting parameter estimates.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Typical types of input signal often used in practice include:</a:t>
            </a:r>
          </a:p>
          <a:p>
            <a:r>
              <a:rPr lang="en-IN" dirty="0"/>
              <a:t>Impulse function (approximate)</a:t>
            </a:r>
          </a:p>
          <a:p>
            <a:r>
              <a:rPr lang="en-IN" dirty="0"/>
              <a:t>Step function</a:t>
            </a:r>
          </a:p>
          <a:p>
            <a:r>
              <a:rPr lang="en-IN" dirty="0"/>
              <a:t>Pseudo-random binary sequence</a:t>
            </a:r>
          </a:p>
          <a:p>
            <a:r>
              <a:rPr lang="en-IN" dirty="0"/>
              <a:t>Sinusoids</a:t>
            </a:r>
          </a:p>
          <a:p>
            <a:pPr marL="0" indent="0">
              <a:buNone/>
            </a:pPr>
            <a:r>
              <a:rPr lang="en-US" dirty="0"/>
              <a:t>The signal we consider in this course is step function.</a:t>
            </a:r>
            <a:endParaRPr lang="bn-IN" dirty="0"/>
          </a:p>
        </p:txBody>
      </p:sp>
    </p:spTree>
    <p:extLst>
      <p:ext uri="{BB962C8B-B14F-4D97-AF65-F5344CB8AC3E}">
        <p14:creationId xmlns:p14="http://schemas.microsoft.com/office/powerpoint/2010/main" val="2984275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F588-7F88-49C8-9915-2B6EE8EE1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Types of Test Signals</a:t>
            </a:r>
            <a:endParaRPr lang="b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6D5FF-DE20-4DCE-8AAF-7BF952A23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Step function</a:t>
            </a:r>
          </a:p>
          <a:p>
            <a:r>
              <a:rPr lang="en-US" dirty="0"/>
              <a:t>From the response of a process to a step input a number of practical parameters can be obtained, i.e. dead time, time constant, etc. </a:t>
            </a:r>
          </a:p>
          <a:p>
            <a:r>
              <a:rPr lang="en-US" dirty="0"/>
              <a:t>It is easy to apply.</a:t>
            </a:r>
          </a:p>
          <a:p>
            <a:r>
              <a:rPr lang="en-US" dirty="0"/>
              <a:t>It is very sensitive to noise. (Usually requires a rather large amplitude </a:t>
            </a:r>
            <a:r>
              <a:rPr lang="en-IN" dirty="0"/>
              <a:t>to obtain reasonable results)</a:t>
            </a:r>
          </a:p>
          <a:p>
            <a:r>
              <a:rPr lang="en-US" dirty="0"/>
              <a:t>Generally, it can only give a basic model.</a:t>
            </a:r>
          </a:p>
          <a:p>
            <a:r>
              <a:rPr lang="en-US" dirty="0"/>
              <a:t>Steady state gain is easily found, in the absence of drift, from the initial and final values of the step response.</a:t>
            </a:r>
          </a:p>
          <a:p>
            <a:r>
              <a:rPr lang="en-US" dirty="0"/>
              <a:t>User choices to be considered:</a:t>
            </a:r>
          </a:p>
          <a:p>
            <a:pPr lvl="1"/>
            <a:r>
              <a:rPr lang="en-IN" dirty="0"/>
              <a:t>Amplitude </a:t>
            </a:r>
          </a:p>
          <a:p>
            <a:pPr lvl="1"/>
            <a:r>
              <a:rPr lang="en-IN" dirty="0"/>
              <a:t>Duration</a:t>
            </a:r>
            <a:endParaRPr lang="bn-IN" dirty="0"/>
          </a:p>
        </p:txBody>
      </p:sp>
    </p:spTree>
    <p:extLst>
      <p:ext uri="{BB962C8B-B14F-4D97-AF65-F5344CB8AC3E}">
        <p14:creationId xmlns:p14="http://schemas.microsoft.com/office/powerpoint/2010/main" val="1466825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32CA-2641-4AA1-927C-D8EA98E8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Design of Identification Experiments</a:t>
            </a:r>
            <a:endParaRPr lang="b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596B0-8917-4AAE-8323-C3D65639A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9610"/>
            <a:ext cx="7886700" cy="53212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There are a number of factors to consider before performing an </a:t>
            </a:r>
            <a:r>
              <a:rPr lang="en-US" dirty="0" err="1"/>
              <a:t>i</a:t>
            </a:r>
            <a:r>
              <a:rPr lang="en-IN" dirty="0"/>
              <a:t>dentification experiment.</a:t>
            </a:r>
          </a:p>
          <a:p>
            <a:r>
              <a:rPr lang="en-US" dirty="0"/>
              <a:t>What form of test signal should be used, i.e. step, doublet, </a:t>
            </a:r>
            <a:r>
              <a:rPr lang="en-US" dirty="0" err="1"/>
              <a:t>prbs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This depends on the quality of the model you require. In most cases, for PID control, step tests are adequate.</a:t>
            </a:r>
          </a:p>
          <a:p>
            <a:r>
              <a:rPr lang="en-US" dirty="0"/>
              <a:t>What size should the amplitude be? There a quite a number of factors </a:t>
            </a:r>
            <a:r>
              <a:rPr lang="en-IN" dirty="0"/>
              <a:t>to consider here.</a:t>
            </a:r>
          </a:p>
          <a:p>
            <a:pPr lvl="1"/>
            <a:r>
              <a:rPr lang="en-US" dirty="0"/>
              <a:t>There may be constraints on how much variation can be tolerated in the input and/or output. (economic, safety, actuator limits,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One reason for a large amplitude is that the effects of noise become less (signal to noise ratio is larger).</a:t>
            </a:r>
          </a:p>
          <a:p>
            <a:pPr lvl="1"/>
            <a:r>
              <a:rPr lang="en-US" dirty="0"/>
              <a:t>For systems with known nonlinearities it is best to keep the amplitude small as generally you are interested in a model around </a:t>
            </a:r>
            <a:r>
              <a:rPr lang="en-IN" dirty="0"/>
              <a:t>a particular operating point.</a:t>
            </a:r>
            <a:endParaRPr lang="bn-IN" dirty="0"/>
          </a:p>
        </p:txBody>
      </p:sp>
    </p:spTree>
    <p:extLst>
      <p:ext uri="{BB962C8B-B14F-4D97-AF65-F5344CB8AC3E}">
        <p14:creationId xmlns:p14="http://schemas.microsoft.com/office/powerpoint/2010/main" val="3622755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F652-DB8F-4933-9DC3-F5B91895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Design of Identification Experiments</a:t>
            </a:r>
            <a:endParaRPr lang="b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36B0-8535-498E-A115-434971A4F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sampling frequency should be used?</a:t>
            </a:r>
          </a:p>
          <a:p>
            <a:pPr lvl="1"/>
            <a:r>
              <a:rPr lang="en-US" dirty="0"/>
              <a:t>Typically, the sampling frequency should be chosen as 10 - 20× that of the test signal frequency. (5× should be considered as the </a:t>
            </a:r>
            <a:r>
              <a:rPr lang="en-IN" dirty="0"/>
              <a:t>absolute minimum).</a:t>
            </a:r>
          </a:p>
          <a:p>
            <a:pPr lvl="1"/>
            <a:r>
              <a:rPr lang="en-US" dirty="0"/>
              <a:t>For a step test, you want to capture at least 5 samples per the time </a:t>
            </a:r>
            <a:r>
              <a:rPr lang="en-IN" dirty="0"/>
              <a:t>constant of the process.</a:t>
            </a:r>
          </a:p>
          <a:p>
            <a:r>
              <a:rPr lang="en-US" dirty="0"/>
              <a:t>What should the frequencies of multi-step test signal be?</a:t>
            </a:r>
          </a:p>
          <a:p>
            <a:pPr lvl="1"/>
            <a:r>
              <a:rPr lang="en-US" dirty="0"/>
              <a:t>The frequencies of these test signals should be in the frequency region of interest and should be chosen as a multiple of the sampling frequency and of each other. This will </a:t>
            </a:r>
            <a:r>
              <a:rPr lang="en-US" dirty="0" err="1"/>
              <a:t>minimise</a:t>
            </a:r>
            <a:r>
              <a:rPr lang="en-US" dirty="0"/>
              <a:t> errors.</a:t>
            </a:r>
          </a:p>
          <a:p>
            <a:pPr lvl="1"/>
            <a:r>
              <a:rPr lang="en-US" dirty="0"/>
              <a:t>When collecting data from a multi-step test one should wait until the </a:t>
            </a:r>
            <a:r>
              <a:rPr lang="en-IN" dirty="0"/>
              <a:t>transients have decayed significantly.</a:t>
            </a:r>
            <a:endParaRPr lang="bn-IN" dirty="0"/>
          </a:p>
        </p:txBody>
      </p:sp>
    </p:spTree>
    <p:extLst>
      <p:ext uri="{BB962C8B-B14F-4D97-AF65-F5344CB8AC3E}">
        <p14:creationId xmlns:p14="http://schemas.microsoft.com/office/powerpoint/2010/main" val="4052842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066800"/>
                <a:ext cx="7772400" cy="5029200"/>
              </a:xfrm>
            </p:spPr>
            <p:txBody>
              <a:bodyPr/>
              <a:lstStyle/>
              <a:p>
                <a:r>
                  <a:rPr lang="en-US" sz="2800" dirty="0"/>
                  <a:t>Normally, chemical process transfer functions are approximated by First Order with Dead Time (FODT) model,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IN" sz="2800" dirty="0"/>
              </a:p>
              <a:p>
                <a:endParaRPr lang="en-US" sz="2800" dirty="0"/>
              </a:p>
              <a:p>
                <a:r>
                  <a:rPr lang="en-US" sz="2800" dirty="0"/>
                  <a:t>Four classical methods (using step response data)</a:t>
                </a:r>
              </a:p>
              <a:p>
                <a:pPr lvl="1"/>
                <a:r>
                  <a:rPr lang="en-US" sz="2400" dirty="0"/>
                  <a:t>Ziegler-Nichols method</a:t>
                </a:r>
              </a:p>
              <a:p>
                <a:pPr lvl="1"/>
                <a:r>
                  <a:rPr lang="en-US" sz="2400" dirty="0"/>
                  <a:t>Smith’s method</a:t>
                </a:r>
              </a:p>
              <a:p>
                <a:pPr lvl="1"/>
                <a:r>
                  <a:rPr lang="en-US" sz="2400" dirty="0" err="1"/>
                  <a:t>Sundaresan</a:t>
                </a:r>
                <a:r>
                  <a:rPr lang="en-US" sz="2400" dirty="0"/>
                  <a:t> and </a:t>
                </a:r>
                <a:r>
                  <a:rPr lang="en-US" sz="2400" dirty="0" err="1"/>
                  <a:t>Krishnaswamy</a:t>
                </a:r>
                <a:r>
                  <a:rPr lang="en-US" sz="2400" dirty="0"/>
                  <a:t> method</a:t>
                </a:r>
              </a:p>
              <a:p>
                <a:pPr lvl="1"/>
                <a:r>
                  <a:rPr lang="en-US" sz="2400" dirty="0"/>
                  <a:t>Nishikawa’s method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066800"/>
                <a:ext cx="7772400" cy="5029200"/>
              </a:xfrm>
              <a:blipFill>
                <a:blip r:embed="rId2"/>
                <a:stretch>
                  <a:fillRect l="-1412" t="-1212" r="-3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dirty="0"/>
              <a:t>Transfer Function from Process Data</a:t>
            </a:r>
            <a:endParaRPr lang="en-I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3420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/>
          <p:cNvSpPr>
            <a:spLocks noGrp="1"/>
          </p:cNvSpPr>
          <p:nvPr>
            <p:ph idx="1"/>
          </p:nvPr>
        </p:nvSpPr>
        <p:spPr>
          <a:xfrm>
            <a:off x="685800" y="990600"/>
            <a:ext cx="7772400" cy="5105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IN" altLang="en-US" sz="2400" b="1" dirty="0"/>
              <a:t>Ziegler-Nichols method </a:t>
            </a:r>
            <a:r>
              <a:rPr lang="en-IN" altLang="en-US" sz="2400" dirty="0"/>
              <a:t>(1942) </a:t>
            </a:r>
            <a:r>
              <a:rPr lang="en-US" altLang="en-US" sz="2400" dirty="0"/>
              <a:t>consists of applying a tangent line to the curve at an inflection point, to determine the system’s gain, time, and delay constants, as shown in Figure.</a:t>
            </a:r>
            <a:endParaRPr lang="en-IN" altLang="en-US" sz="2400" dirty="0"/>
          </a:p>
          <a:p>
            <a:pPr marL="0" indent="0">
              <a:buFontTx/>
              <a:buNone/>
            </a:pPr>
            <a:r>
              <a:rPr lang="en-US" altLang="en-US" sz="2400" dirty="0"/>
              <a:t>The inflection point is </a:t>
            </a:r>
          </a:p>
          <a:p>
            <a:pPr marL="0" indent="0">
              <a:buFontTx/>
              <a:buNone/>
            </a:pPr>
            <a:r>
              <a:rPr lang="en-US" altLang="en-US" sz="2400" dirty="0"/>
              <a:t>defined where the curve </a:t>
            </a:r>
          </a:p>
          <a:p>
            <a:pPr marL="0" indent="0">
              <a:buFontTx/>
              <a:buNone/>
            </a:pPr>
            <a:r>
              <a:rPr lang="en-US" altLang="en-US" sz="2400" dirty="0"/>
              <a:t>changes direction and the </a:t>
            </a:r>
          </a:p>
          <a:p>
            <a:pPr marL="0" indent="0">
              <a:buFontTx/>
              <a:buNone/>
            </a:pPr>
            <a:r>
              <a:rPr lang="en-US" altLang="en-US" sz="2400" dirty="0"/>
              <a:t>derivative is equal to zero.</a:t>
            </a:r>
          </a:p>
          <a:p>
            <a:pPr marL="0" indent="0">
              <a:buFontTx/>
              <a:buNone/>
            </a:pPr>
            <a:endParaRPr lang="en-US" altLang="en-US" sz="2400" dirty="0"/>
          </a:p>
          <a:p>
            <a:pPr marL="0" indent="0">
              <a:buFontTx/>
              <a:buNone/>
            </a:pPr>
            <a:r>
              <a:rPr lang="en-US" altLang="en-US" sz="2400" dirty="0"/>
              <a:t>Drawback:</a:t>
            </a:r>
          </a:p>
          <a:p>
            <a:pPr marL="0" indent="0">
              <a:buFontTx/>
              <a:buNone/>
            </a:pPr>
            <a:r>
              <a:rPr lang="en-US" altLang="en-US" sz="2400" dirty="0"/>
              <a:t>Difficult to find inflection </a:t>
            </a:r>
          </a:p>
          <a:p>
            <a:pPr marL="0" indent="0">
              <a:buFontTx/>
              <a:buNone/>
            </a:pPr>
            <a:r>
              <a:rPr lang="en-US" altLang="en-US" sz="2400" dirty="0"/>
              <a:t>Point and to draw tangent.</a:t>
            </a:r>
          </a:p>
          <a:p>
            <a:pPr marL="0" indent="0">
              <a:buFontTx/>
              <a:buNone/>
            </a:pPr>
            <a:endParaRPr lang="en-US" altLang="en-US" sz="2400" dirty="0"/>
          </a:p>
          <a:p>
            <a:pPr marL="0" indent="0">
              <a:buFontTx/>
              <a:buNone/>
            </a:pPr>
            <a:endParaRPr lang="en-IN" altLang="en-US" dirty="0"/>
          </a:p>
        </p:txBody>
      </p:sp>
      <p:sp>
        <p:nvSpPr>
          <p:cNvPr id="11267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pPr algn="ctr"/>
            <a:r>
              <a:rPr lang="en-US" altLang="en-US" sz="3200" dirty="0"/>
              <a:t>Transfer function from Process Data</a:t>
            </a:r>
            <a:endParaRPr lang="en-IN" altLang="en-US" sz="3200" dirty="0"/>
          </a:p>
        </p:txBody>
      </p:sp>
      <p:pic>
        <p:nvPicPr>
          <p:cNvPr id="1126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286000"/>
            <a:ext cx="4010025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85800" y="1066800"/>
            <a:ext cx="7772400" cy="5029200"/>
          </a:xfrm>
          <a:blipFill>
            <a:blip r:embed="rId2"/>
            <a:stretch>
              <a:fillRect l="-1255" t="-970"/>
            </a:stretch>
          </a:blipFill>
          <a:extLst/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  <p:sp>
        <p:nvSpPr>
          <p:cNvPr id="12291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pPr algn="ctr"/>
            <a:r>
              <a:rPr lang="en-US" altLang="en-US" sz="3200" dirty="0"/>
              <a:t>Transfer function from Process Data</a:t>
            </a:r>
            <a:endParaRPr lang="en-IN" altLang="en-US" sz="3200" dirty="0"/>
          </a:p>
        </p:txBody>
      </p:sp>
      <p:pic>
        <p:nvPicPr>
          <p:cNvPr id="1229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990600"/>
            <a:ext cx="386715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85800" y="1066800"/>
            <a:ext cx="7772400" cy="5029200"/>
          </a:xfrm>
          <a:blipFill>
            <a:blip r:embed="rId2"/>
            <a:stretch>
              <a:fillRect l="-2039" t="-1697"/>
            </a:stretch>
          </a:blipFill>
          <a:extLst/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  <p:sp>
        <p:nvSpPr>
          <p:cNvPr id="13315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r>
              <a:rPr lang="en-US" altLang="en-US" sz="3200"/>
              <a:t>Transfer function from Process Data</a:t>
            </a:r>
            <a:endParaRPr lang="en-IN" altLang="en-US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85800" y="990600"/>
            <a:ext cx="7772400" cy="5105400"/>
          </a:xfrm>
          <a:blipFill>
            <a:blip r:embed="rId2"/>
            <a:stretch>
              <a:fillRect l="-1255" t="-956"/>
            </a:stretch>
          </a:blipFill>
          <a:extLst/>
        </p:spPr>
        <p:txBody>
          <a:bodyPr/>
          <a:lstStyle/>
          <a:p>
            <a:pPr>
              <a:defRPr/>
            </a:pPr>
            <a:r>
              <a:rPr lang="en-IN" dirty="0">
                <a:noFill/>
              </a:rPr>
              <a:t> </a:t>
            </a:r>
          </a:p>
        </p:txBody>
      </p:sp>
      <p:sp>
        <p:nvSpPr>
          <p:cNvPr id="14339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pPr algn="ctr"/>
            <a:r>
              <a:rPr lang="en-US" altLang="en-US" sz="3200" dirty="0"/>
              <a:t>Transfer function from Process Data</a:t>
            </a:r>
            <a:endParaRPr lang="en-IN" altLang="en-US" sz="3200" dirty="0"/>
          </a:p>
        </p:txBody>
      </p:sp>
      <p:pic>
        <p:nvPicPr>
          <p:cNvPr id="1434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90600"/>
            <a:ext cx="3971925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609600"/>
            <a:ext cx="7086600" cy="5314950"/>
          </a:xfrm>
        </p:spPr>
      </p:pic>
      <p:sp>
        <p:nvSpPr>
          <p:cNvPr id="6" name="Rectangle 5"/>
          <p:cNvSpPr/>
          <p:nvPr/>
        </p:nvSpPr>
        <p:spPr>
          <a:xfrm>
            <a:off x="3657600" y="2743200"/>
            <a:ext cx="4038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Method   K       Tau      Theta   </a:t>
            </a:r>
            <a:r>
              <a:rPr lang="en-IN" sz="2000" dirty="0" err="1"/>
              <a:t>Mape</a:t>
            </a:r>
            <a:endParaRPr lang="en-IN" sz="2000" dirty="0"/>
          </a:p>
          <a:p>
            <a:r>
              <a:rPr lang="en-IN" sz="2000" dirty="0"/>
              <a:t>Z-N         0.20   24.32    7.52    0.84</a:t>
            </a:r>
          </a:p>
          <a:p>
            <a:r>
              <a:rPr lang="en-IN" sz="2000" dirty="0"/>
              <a:t>Smith      0.20   15.00    9.00    0.16</a:t>
            </a:r>
          </a:p>
          <a:p>
            <a:r>
              <a:rPr lang="en-IN" sz="2000" dirty="0"/>
              <a:t>Sunder    0.20   12.73    10.65  0.11</a:t>
            </a:r>
          </a:p>
          <a:p>
            <a:r>
              <a:rPr lang="en-IN" sz="2000" dirty="0"/>
              <a:t>Nishi       0.20   12.69    10.59  0.11</a:t>
            </a:r>
          </a:p>
        </p:txBody>
      </p:sp>
    </p:spTree>
    <p:extLst>
      <p:ext uri="{BB962C8B-B14F-4D97-AF65-F5344CB8AC3E}">
        <p14:creationId xmlns:p14="http://schemas.microsoft.com/office/powerpoint/2010/main" val="3178075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85800" y="990600"/>
            <a:ext cx="7772400" cy="5105400"/>
          </a:xfrm>
          <a:blipFill>
            <a:blip r:embed="rId2"/>
            <a:stretch>
              <a:fillRect l="-1255" t="-956" r="-1961"/>
            </a:stretch>
          </a:blipFill>
          <a:extLst/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  <p:sp>
        <p:nvSpPr>
          <p:cNvPr id="15363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r>
              <a:rPr lang="en-US" altLang="en-US" sz="3200"/>
              <a:t>Transfer function from Process Data</a:t>
            </a:r>
            <a:endParaRPr lang="en-IN" altLang="en-US"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85800" y="990600"/>
            <a:ext cx="7772400" cy="5105400"/>
          </a:xfrm>
          <a:blipFill>
            <a:blip r:embed="rId2"/>
            <a:stretch>
              <a:fillRect l="-1255" t="-956"/>
            </a:stretch>
          </a:blipFill>
          <a:extLst/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  <p:sp>
        <p:nvSpPr>
          <p:cNvPr id="16387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pPr algn="ctr"/>
            <a:r>
              <a:rPr lang="en-US" altLang="en-US" sz="3200" dirty="0"/>
              <a:t>Transfer function from Process Data</a:t>
            </a:r>
            <a:endParaRPr lang="en-IN" alt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85800" y="990600"/>
            <a:ext cx="7772400" cy="5105400"/>
          </a:xfrm>
          <a:blipFill>
            <a:blip r:embed="rId2"/>
            <a:stretch>
              <a:fillRect l="-1255" t="-956" r="-863" b="-2151"/>
            </a:stretch>
          </a:blipFill>
          <a:extLst/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  <p:sp>
        <p:nvSpPr>
          <p:cNvPr id="17411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pPr algn="ctr"/>
            <a:r>
              <a:rPr lang="en-US" altLang="en-US" sz="3200" dirty="0"/>
              <a:t>Transfer function from Process Data</a:t>
            </a:r>
            <a:endParaRPr lang="en-IN" alt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042B-35C4-40E6-99CE-313E0F58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Transfer function from Process Data</a:t>
            </a:r>
            <a:endParaRPr lang="b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59FA6-4994-4D76-9E30-B35C7B0F05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FODT model: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So,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den>
                    </m:f>
                  </m:oMath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"(0)=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(2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τθ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sz="2400" b="0" i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"(0)−</m:t>
                        </m:r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(0)</m:t>
                        </m:r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"(0)−2</m:t>
                        </m:r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′(0)</m:t>
                        </m:r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′(0)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(0)</m:t>
                        </m:r>
                      </m:den>
                    </m:f>
                  </m:oMath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Solving above equations K,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can be obtained.</a:t>
                </a:r>
                <a:endParaRPr lang="b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59FA6-4994-4D76-9E30-B35C7B0F0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b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860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8769-0A9B-453D-8C59-2EFE1674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pPr algn="ctr"/>
            <a:r>
              <a:rPr lang="en-US" sz="3200" dirty="0"/>
              <a:t>SODT model from step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03960-7863-480F-A46E-DF8788F8D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295400"/>
                <a:ext cx="7772400" cy="48006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&gt;0.707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Method (Rangaiah &amp; Krishnaswamy)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Calculate the process steady-state gain from the magnitude of the step input and that of the corresponding response;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from the response data corresponding to 14%, 55%, and 91% of the actual response;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03960-7863-480F-A46E-DF8788F8D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295400"/>
                <a:ext cx="7772400" cy="4800600"/>
              </a:xfrm>
              <a:blipFill>
                <a:blip r:embed="rId2"/>
                <a:stretch>
                  <a:fillRect l="-2039" b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868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8769-0A9B-453D-8C59-2EFE1674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pPr algn="ctr"/>
            <a:r>
              <a:rPr lang="en-US" sz="3200" dirty="0"/>
              <a:t>SODT model from step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03960-7863-480F-A46E-DF8788F8D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295400"/>
                <a:ext cx="7772400" cy="4800600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US" sz="2800" dirty="0"/>
                  <a:t>Calculate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sz="2800" dirty="0"/>
                  <a:t> using the following equations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2.485−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/>
              </a:p>
              <a:p>
                <a:pPr marL="514350" indent="-514350">
                  <a:buFont typeface="+mj-lt"/>
                  <a:buAutoNum type="arabicPeriod" startAt="3"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=0.50906+0.51743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−0.076284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+0.041363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−0.0049224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+0.00021234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sz="2800" dirty="0"/>
                  <a:t>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1.2323&lt;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&lt;2.485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03960-7863-480F-A46E-DF8788F8D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295400"/>
                <a:ext cx="7772400" cy="4800600"/>
              </a:xfrm>
              <a:blipFill>
                <a:blip r:embed="rId2"/>
                <a:stretch>
                  <a:fillRect l="-1412" t="-1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354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8769-0A9B-453D-8C59-2EFE1674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pPr algn="ctr"/>
            <a:r>
              <a:rPr lang="en-US" sz="3200" dirty="0"/>
              <a:t>SODT model from step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03960-7863-480F-A46E-DF8788F8D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295400"/>
                <a:ext cx="7772400" cy="4800600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US" sz="2800" dirty="0"/>
                  <a:t>Calculate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800" dirty="0"/>
                  <a:t> using the following equations</a:t>
                </a: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=0.85818−0.62907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+1.2897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−0.36859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i="1" dirty="0">
                    <a:latin typeface="Cambria Math" panose="02040503050406030204" pitchFamily="18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+ 0.038891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1.392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52536 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+1.2991 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−0.36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014 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i="1" dirty="0">
                    <a:latin typeface="Cambria Math" panose="02040503050406030204" pitchFamily="18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+ 0.03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7605 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03960-7863-480F-A46E-DF8788F8D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295400"/>
                <a:ext cx="7772400" cy="4800600"/>
              </a:xfrm>
              <a:blipFill>
                <a:blip r:embed="rId2"/>
                <a:stretch>
                  <a:fillRect l="-1412" t="-1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355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E5FBE-FC04-45C5-AC72-063FC5BF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pPr algn="ctr"/>
            <a:r>
              <a:rPr lang="en-US" dirty="0"/>
              <a:t>Non-linear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718D4-4924-45CB-8F78-8E63FEB7A1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914400"/>
                <a:ext cx="77724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This method can be used for any form of linear or non-linear models.</a:t>
                </a:r>
              </a:p>
              <a:p>
                <a:pPr marL="0" indent="0">
                  <a:buNone/>
                </a:pPr>
                <a:r>
                  <a:rPr lang="en-US" sz="2400" dirty="0"/>
                  <a:t>For example, process having transfer function of one zero 2 pole system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For Step input of magnitude M in u gives,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𝐾𝑀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The above equation can be regressed to get the model parameters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718D4-4924-45CB-8F78-8E63FEB7A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914400"/>
                <a:ext cx="7772400" cy="5181600"/>
              </a:xfrm>
              <a:blipFill>
                <a:blip r:embed="rId3"/>
                <a:stretch>
                  <a:fillRect l="-1255" t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229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9A19-F2F6-4840-AB1F-7FE00C1E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26065"/>
            <a:ext cx="7772400" cy="762000"/>
          </a:xfrm>
        </p:spPr>
        <p:txBody>
          <a:bodyPr/>
          <a:lstStyle/>
          <a:p>
            <a:pPr algn="ctr"/>
            <a:r>
              <a:rPr lang="en-US" dirty="0" err="1"/>
              <a:t>Matlab</a:t>
            </a:r>
            <a:r>
              <a:rPr lang="en-US" dirty="0"/>
              <a:t>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7F82D-A840-47C7-B29D-3F332ADF5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88065"/>
            <a:ext cx="7772400" cy="6096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Step response data: </a:t>
            </a:r>
          </a:p>
          <a:p>
            <a:pPr marL="0" indent="0">
              <a:buNone/>
            </a:pPr>
            <a:endParaRPr lang="en-US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FF60AC-AD2E-4E7C-BCA8-8E874692A0C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49349" y="1697665"/>
          <a:ext cx="8077200" cy="11490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4553283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59574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022059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3482837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180631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2378862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842119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2008603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1645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82305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12077053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45254927"/>
                    </a:ext>
                  </a:extLst>
                </a:gridCol>
              </a:tblGrid>
              <a:tr h="360218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920948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72065"/>
                  </a:ext>
                </a:extLst>
              </a:tr>
              <a:tr h="417505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7904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FB9B34-97D9-43B8-ACBA-8CC56A294D16}"/>
              </a:ext>
            </a:extLst>
          </p:cNvPr>
          <p:cNvSpPr txBox="1"/>
          <p:nvPr/>
        </p:nvSpPr>
        <p:spPr>
          <a:xfrm>
            <a:off x="533400" y="2992505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t" hangingPunct="1"/>
            <a:r>
              <a:rPr lang="en-US" dirty="0"/>
              <a:t>Use command</a:t>
            </a:r>
          </a:p>
          <a:p>
            <a:pPr eaLnBrk="1" fontAlgn="t" hangingPunct="1"/>
            <a:r>
              <a:rPr lang="en-US" dirty="0"/>
              <a:t>    mdl = </a:t>
            </a:r>
            <a:r>
              <a:rPr lang="en-US" dirty="0" err="1"/>
              <a:t>procest</a:t>
            </a:r>
            <a:r>
              <a:rPr lang="en-US" dirty="0"/>
              <a:t>(data, Type)</a:t>
            </a:r>
          </a:p>
          <a:p>
            <a:pPr eaLnBrk="1" fontAlgn="t" hangingPunct="1"/>
            <a:r>
              <a:rPr lang="en-US" dirty="0"/>
              <a:t>Where, data should stored in </a:t>
            </a:r>
            <a:r>
              <a:rPr lang="en-US" dirty="0" err="1"/>
              <a:t>iddata</a:t>
            </a:r>
            <a:r>
              <a:rPr lang="en-US" dirty="0"/>
              <a:t> format. </a:t>
            </a:r>
          </a:p>
          <a:p>
            <a:pPr eaLnBrk="1" fontAlgn="t" hangingPunct="1"/>
            <a:r>
              <a:rPr lang="en-US" dirty="0"/>
              <a:t>Type =‘P2DUZ’ [ 2 poles, delay, U underdamped, Z zero]</a:t>
            </a:r>
          </a:p>
          <a:p>
            <a:pPr eaLnBrk="1" fontAlgn="t" hangingPunct="1"/>
            <a:endParaRPr lang="en-US" dirty="0"/>
          </a:p>
          <a:p>
            <a:pPr eaLnBrk="1" fontAlgn="t" hangingPunct="1"/>
            <a:r>
              <a:rPr lang="en-US" sz="2000" dirty="0"/>
              <a:t>&gt;&gt; u=[0;0;0;u];  y=[0;0;0;y]; % for step changes</a:t>
            </a:r>
          </a:p>
          <a:p>
            <a:pPr eaLnBrk="1" fontAlgn="t" hangingPunct="1"/>
            <a:r>
              <a:rPr lang="en-US" sz="2000" dirty="0"/>
              <a:t>&gt;&gt; z = </a:t>
            </a:r>
            <a:r>
              <a:rPr lang="en-US" sz="2000" dirty="0" err="1"/>
              <a:t>iddata</a:t>
            </a:r>
            <a:r>
              <a:rPr lang="en-US" sz="2000" dirty="0"/>
              <a:t>(y, u, 1);  % y and u should be column vectors</a:t>
            </a:r>
          </a:p>
          <a:p>
            <a:pPr eaLnBrk="1" fontAlgn="t" hangingPunct="1"/>
            <a:r>
              <a:rPr lang="en-US" sz="2000" dirty="0"/>
              <a:t>&gt;&gt; mdl= </a:t>
            </a:r>
            <a:r>
              <a:rPr lang="en-US" sz="2000" dirty="0" err="1"/>
              <a:t>procest</a:t>
            </a:r>
            <a:r>
              <a:rPr lang="en-US" sz="2000" dirty="0"/>
              <a:t>(z,’P2DUZ’);</a:t>
            </a:r>
          </a:p>
          <a:p>
            <a:pPr eaLnBrk="1" fontAlgn="t" hangingPunct="1"/>
            <a:r>
              <a:rPr lang="en-US" sz="2000" dirty="0"/>
              <a:t> </a:t>
            </a:r>
          </a:p>
          <a:p>
            <a:pPr eaLnBrk="1" fontAlgn="t" hangingPunct="1"/>
            <a:r>
              <a:rPr lang="en-US" dirty="0"/>
              <a:t> ‘</a:t>
            </a:r>
            <a:r>
              <a:rPr lang="en-US" dirty="0" err="1"/>
              <a:t>procest</a:t>
            </a:r>
            <a:r>
              <a:rPr lang="en-US" dirty="0"/>
              <a:t>’ can work for step as well as arbitrary input changes.</a:t>
            </a:r>
          </a:p>
        </p:txBody>
      </p:sp>
    </p:spTree>
    <p:extLst>
      <p:ext uri="{BB962C8B-B14F-4D97-AF65-F5344CB8AC3E}">
        <p14:creationId xmlns:p14="http://schemas.microsoft.com/office/powerpoint/2010/main" val="551324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1294</Words>
  <Application>Microsoft Office PowerPoint</Application>
  <PresentationFormat>On-screen Show (4:3)</PresentationFormat>
  <Paragraphs>189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Vrinda</vt:lpstr>
      <vt:lpstr>Office Theme</vt:lpstr>
      <vt:lpstr>Process Dynamics &amp; Control</vt:lpstr>
      <vt:lpstr>Process Identification</vt:lpstr>
      <vt:lpstr>Classification of identification</vt:lpstr>
      <vt:lpstr>Process Identification Procedure</vt:lpstr>
      <vt:lpstr>Process Identification Procedure</vt:lpstr>
      <vt:lpstr>Types of Test Signals</vt:lpstr>
      <vt:lpstr>Types of Test Signals</vt:lpstr>
      <vt:lpstr>Design of Identification Experiments</vt:lpstr>
      <vt:lpstr>Design of Identification Experiments</vt:lpstr>
      <vt:lpstr>Transfer Function from Process Data</vt:lpstr>
      <vt:lpstr>Transfer function from Process Data</vt:lpstr>
      <vt:lpstr>Transfer function from Process Data</vt:lpstr>
      <vt:lpstr>Transfer function from Process Data</vt:lpstr>
      <vt:lpstr>Transfer function from Process Data</vt:lpstr>
      <vt:lpstr>PowerPoint Presentation</vt:lpstr>
      <vt:lpstr>Transfer function from Process Data</vt:lpstr>
      <vt:lpstr>Transfer function from Process Data</vt:lpstr>
      <vt:lpstr>Transfer function from Process Data</vt:lpstr>
      <vt:lpstr>Transfer function from Process Data</vt:lpstr>
      <vt:lpstr>SODT model from step response</vt:lpstr>
      <vt:lpstr>SODT model from step response</vt:lpstr>
      <vt:lpstr>SODT model from step response</vt:lpstr>
      <vt:lpstr>Non-linear Regression</vt:lpstr>
      <vt:lpstr>Matlab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2024-01-15T12:39:00Z</dcterms:created>
  <dcterms:modified xsi:type="dcterms:W3CDTF">2024-01-17T13:18:40Z</dcterms:modified>
</cp:coreProperties>
</file>