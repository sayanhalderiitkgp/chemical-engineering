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7" r:id="rId3"/>
    <p:sldId id="260" r:id="rId4"/>
    <p:sldId id="279" r:id="rId5"/>
    <p:sldId id="263" r:id="rId6"/>
    <p:sldId id="280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61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21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14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28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55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74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1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14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20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02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57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E0F3F-166E-4870-B257-D0DA7D44C9B2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85DE6-DC26-4C35-B334-E1DC6D789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07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10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9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QUH9nGTZT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b-XrNPqyC48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700808"/>
            <a:ext cx="10448185" cy="38884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63280" y="1844824"/>
            <a:ext cx="122413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21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9376" y="512676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Integral solutions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9376" y="1386229"/>
            <a:ext cx="11017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the momentum equation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equation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wall (x = 0) to a far enough plane x = X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motionless isothermal cold reservoir, we obtain the integral boundary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 equations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momentum and energy,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31702" y="307780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31702" y="500364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19443" b="48592"/>
          <a:stretch/>
        </p:blipFill>
        <p:spPr>
          <a:xfrm>
            <a:off x="479376" y="2936891"/>
            <a:ext cx="7339998" cy="10983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463" t="50126" r="39067"/>
          <a:stretch/>
        </p:blipFill>
        <p:spPr>
          <a:xfrm>
            <a:off x="479376" y="4735943"/>
            <a:ext cx="4729056" cy="99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7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1424" y="1304764"/>
            <a:ext cx="104771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suitable set of profiles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 fluids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24192" y="2744924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3386" y="3740493"/>
            <a:ext cx="5732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limit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→∞, this solution reduces to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92" y="656692"/>
            <a:ext cx="2916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Fluids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215744"/>
              </p:ext>
            </p:extLst>
          </p:nvPr>
        </p:nvGraphicFramePr>
        <p:xfrm>
          <a:off x="1739516" y="4633548"/>
          <a:ext cx="1976438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" name="Equation" r:id="rId3" imgW="901440" imgH="482400" progId="Equation.DSMT4">
                  <p:embed/>
                </p:oleObj>
              </mc:Choice>
              <mc:Fallback>
                <p:oleObj name="Equation" r:id="rId3" imgW="901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9516" y="4633548"/>
                        <a:ext cx="1976438" cy="1062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2" y="2322168"/>
            <a:ext cx="4590881" cy="12376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3892" y="486916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164211"/>
              </p:ext>
            </p:extLst>
          </p:nvPr>
        </p:nvGraphicFramePr>
        <p:xfrm>
          <a:off x="7068108" y="4869160"/>
          <a:ext cx="21161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" name="Equation" r:id="rId6" imgW="965160" imgH="253800" progId="Equation.DSMT4">
                  <p:embed/>
                </p:oleObj>
              </mc:Choice>
              <mc:Fallback>
                <p:oleObj name="Equation" r:id="rId6" imgW="965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68108" y="4869160"/>
                        <a:ext cx="2116137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188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3392" y="656692"/>
            <a:ext cx="2916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Low-</a:t>
            </a:r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412" y="1304764"/>
            <a:ext cx="109092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 fluid,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temperature profile is combined with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velocity profile: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2096852"/>
            <a:ext cx="4048200" cy="756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51984" y="2244061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6932" y="3183359"/>
            <a:ext cx="50593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limit Pr→0, these results become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718373"/>
              </p:ext>
            </p:extLst>
          </p:nvPr>
        </p:nvGraphicFramePr>
        <p:xfrm>
          <a:off x="1787525" y="4400550"/>
          <a:ext cx="19494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4" imgW="888840" imgH="482400" progId="Equation.DSMT4">
                  <p:embed/>
                </p:oleObj>
              </mc:Choice>
              <mc:Fallback>
                <p:oleObj name="Equation" r:id="rId4" imgW="8888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87525" y="4400550"/>
                        <a:ext cx="1949450" cy="1062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59896" y="463672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518735"/>
              </p:ext>
            </p:extLst>
          </p:nvPr>
        </p:nvGraphicFramePr>
        <p:xfrm>
          <a:off x="6888088" y="4636720"/>
          <a:ext cx="2867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6" imgW="1307880" imgH="253800" progId="Equation.DSMT4">
                  <p:embed/>
                </p:oleObj>
              </mc:Choice>
              <mc:Fallback>
                <p:oleObj name="Equation" r:id="rId6" imgW="1307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88088" y="4636720"/>
                        <a:ext cx="286702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636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9396" y="69269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solutions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4870" y="1396382"/>
            <a:ext cx="96130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variable emerges as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559873"/>
              </p:ext>
            </p:extLst>
          </p:nvPr>
        </p:nvGraphicFramePr>
        <p:xfrm>
          <a:off x="2891644" y="1953624"/>
          <a:ext cx="156051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6" name="Equation" r:id="rId3" imgW="711000" imgH="419040" progId="Equation.DSMT4">
                  <p:embed/>
                </p:oleObj>
              </mc:Choice>
              <mc:Fallback>
                <p:oleObj name="Equation" r:id="rId3" imgW="7110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1644" y="1953624"/>
                        <a:ext cx="1560513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59896" y="2239415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449501"/>
              </p:ext>
            </p:extLst>
          </p:nvPr>
        </p:nvGraphicFramePr>
        <p:xfrm>
          <a:off x="6588105" y="1925049"/>
          <a:ext cx="2451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7" name="Equation" r:id="rId5" imgW="1117440" imgH="431640" progId="Equation.DSMT4">
                  <p:embed/>
                </p:oleObj>
              </mc:Choice>
              <mc:Fallback>
                <p:oleObj name="Equation" r:id="rId5" imgW="1117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88105" y="1925049"/>
                        <a:ext cx="24511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9476" y="3265305"/>
            <a:ext cx="8563856" cy="1474284"/>
          </a:xfrm>
          <a:prstGeom prst="rect">
            <a:avLst/>
          </a:prstGeom>
        </p:spPr>
      </p:pic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886291"/>
              </p:ext>
            </p:extLst>
          </p:nvPr>
        </p:nvGraphicFramePr>
        <p:xfrm>
          <a:off x="1523492" y="5600576"/>
          <a:ext cx="47323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" name="Equation" r:id="rId8" imgW="2158920" imgH="253800" progId="Equation.DSMT4">
                  <p:embed/>
                </p:oleObj>
              </mc:Choice>
              <mc:Fallback>
                <p:oleObj name="Equation" r:id="rId8" imgW="21589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3492" y="5600576"/>
                        <a:ext cx="4732337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706795"/>
              </p:ext>
            </p:extLst>
          </p:nvPr>
        </p:nvGraphicFramePr>
        <p:xfrm>
          <a:off x="1523492" y="5024414"/>
          <a:ext cx="45656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" name="Equation" r:id="rId10" imgW="2082600" imgH="253800" progId="Equation.DSMT4">
                  <p:embed/>
                </p:oleObj>
              </mc:Choice>
              <mc:Fallback>
                <p:oleObj name="Equation" r:id="rId10" imgW="2082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23492" y="5024414"/>
                        <a:ext cx="456565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217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788188" y="2672916"/>
            <a:ext cx="39604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250845" y="2494981"/>
            <a:ext cx="39604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 B. Squire, in S. Goldstein, ed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i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Developments in Fluid Dynamics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II, Dover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 York, 1965, pp. 641–643.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912" y="3681028"/>
            <a:ext cx="1545933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692696"/>
            <a:ext cx="5896364" cy="4248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5085184"/>
            <a:ext cx="7408532" cy="160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1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9356" y="591598"/>
            <a:ext cx="114132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 TRANSFER RESULTS </a:t>
            </a:r>
            <a:r>
              <a:rPr lang="en-US" sz="2400" b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 THE </a:t>
            </a:r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</a:t>
            </a:r>
            <a:r>
              <a:rPr lang="en-US" sz="2400" b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TURBULENCE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2771731"/>
            <a:ext cx="4967157" cy="6387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3356992"/>
            <a:ext cx="5058387" cy="5987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3251" y="4185270"/>
            <a:ext cx="111273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empirical isothermal-wall correlation that reports the wall-averaged </a:t>
            </a:r>
            <a:r>
              <a:rPr lang="en-US" sz="2400" dirty="0" err="1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Nusselt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en-US" sz="2400" i="1" dirty="0" err="1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</a:t>
            </a:r>
            <a:r>
              <a:rPr lang="en-US" sz="2400" b="0" i="1" u="none" strike="noStrike" baseline="-25000" dirty="0" err="1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0" i="1" u="none" strike="noStrike" baseline="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entire Rayleigh number range—laminar, 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transition, turbulent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648" y="5068546"/>
            <a:ext cx="7296298" cy="152494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02269" y="6268875"/>
            <a:ext cx="2332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Churchill and Chu [33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42489" y="220622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turbulent flow occurs at the y 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where </a:t>
            </a:r>
            <a:endParaRPr lang="en-IN" sz="2400" dirty="0">
              <a:solidFill>
                <a:srgbClr val="2925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5380" y="1398910"/>
            <a:ext cx="20205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u="sng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 Walls</a:t>
            </a:r>
          </a:p>
        </p:txBody>
      </p:sp>
    </p:spTree>
    <p:extLst>
      <p:ext uri="{BB962C8B-B14F-4D97-AF65-F5344CB8AC3E}">
        <p14:creationId xmlns:p14="http://schemas.microsoft.com/office/powerpoint/2010/main" val="298536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86721" y="1148406"/>
            <a:ext cx="57727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vertical wall is heated uniformly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081" y="1935457"/>
            <a:ext cx="6785615" cy="28944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31961" y="6121098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292526"/>
                </a:solidFill>
                <a:latin typeface="TimesLTStd-Roman"/>
              </a:rPr>
              <a:t>Vliet</a:t>
            </a:r>
            <a:r>
              <a:rPr lang="en-US" dirty="0">
                <a:solidFill>
                  <a:srgbClr val="292526"/>
                </a:solidFill>
                <a:latin typeface="TimesLTStd-Roman"/>
              </a:rPr>
              <a:t> and </a:t>
            </a:r>
            <a:r>
              <a:rPr lang="en-US" dirty="0" smtClean="0">
                <a:solidFill>
                  <a:srgbClr val="292526"/>
                </a:solidFill>
                <a:latin typeface="TimesLTStd-Roman"/>
              </a:rPr>
              <a:t>Liu (34)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67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5974" y="675794"/>
            <a:ext cx="2068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Inclined Walls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52" y="1436977"/>
            <a:ext cx="4754560" cy="5247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323" y="1815105"/>
            <a:ext cx="4847798" cy="9877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064" y="3841175"/>
            <a:ext cx="3827320" cy="12527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46031" y="1162637"/>
            <a:ext cx="22445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Isothermal </a:t>
            </a:r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63323" y="3163088"/>
            <a:ext cx="2544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</a:t>
            </a:r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 flux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87988" y="4977172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solidFill>
                  <a:srgbClr val="292526"/>
                </a:solidFill>
                <a:latin typeface="Adobe Song Std L" panose="02020300000000000000" pitchFamily="18" charset="-128"/>
                <a:ea typeface="Adobe Song Std L" panose="02020300000000000000" pitchFamily="18" charset="-128"/>
                <a:cs typeface="Times New Roman" panose="02020603050405020304" pitchFamily="18" charset="0"/>
              </a:rPr>
              <a:t>φ</a:t>
            </a:r>
            <a:r>
              <a:rPr lang="en-US" i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restricted to the range −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60̊ </a:t>
            </a:r>
            <a:r>
              <a:rPr lang="el-GR" i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i="1" dirty="0" smtClean="0">
                <a:solidFill>
                  <a:srgbClr val="292526"/>
                </a:solidFill>
                <a:latin typeface="Adobe Song Std L" panose="02020300000000000000" pitchFamily="18" charset="-128"/>
                <a:ea typeface="Adobe Song Std L" panose="02020300000000000000" pitchFamily="18" charset="-128"/>
                <a:cs typeface="Times New Roman" panose="02020603050405020304" pitchFamily="18" charset="0"/>
              </a:rPr>
              <a:t>φ</a:t>
            </a:r>
            <a:r>
              <a:rPr lang="el-GR" i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i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−60̊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57571" y="5738355"/>
            <a:ext cx="64593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laminar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regime 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momentum 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 is 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analogous, 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 that </a:t>
            </a:r>
            <a:r>
              <a:rPr lang="en-US" i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dirty="0" err="1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i="1" dirty="0" err="1" smtClean="0">
                <a:solidFill>
                  <a:srgbClr val="292526"/>
                </a:solidFill>
                <a:latin typeface="Adobe Song Std L" panose="02020300000000000000" pitchFamily="18" charset="-128"/>
                <a:ea typeface="Adobe Song Std L" panose="02020300000000000000" pitchFamily="18" charset="-128"/>
                <a:cs typeface="Times New Roman" panose="02020603050405020304" pitchFamily="18" charset="0"/>
              </a:rPr>
              <a:t>φ</a:t>
            </a:r>
            <a:r>
              <a:rPr lang="en-US" i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replaces </a:t>
            </a:r>
            <a:r>
              <a:rPr lang="en-US" i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buoyancy term.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35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9603" y="1860774"/>
            <a:ext cx="104727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uniform-flux wall is oriented as in cases </a:t>
            </a:r>
            <a:r>
              <a:rPr lang="en-US" sz="2400" i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81" y="2547898"/>
            <a:ext cx="5411688" cy="27462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91119" y="583112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water experiments (</a:t>
            </a:r>
            <a:r>
              <a:rPr lang="en-US" sz="2400" dirty="0" err="1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∼= 6.5)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410" y="833933"/>
            <a:ext cx="41424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laminar–turbulent transition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664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78103" y="1986194"/>
            <a:ext cx="9445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</a:t>
            </a:r>
            <a:r>
              <a:rPr lang="en-US" sz="20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wall inclination on transition </a:t>
            </a:r>
            <a:r>
              <a:rPr lang="en-US" sz="20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along an </a:t>
            </a:r>
            <a:r>
              <a:rPr lang="en-US" sz="2000" i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isothermal </a:t>
            </a:r>
            <a:r>
              <a:rPr lang="en-US" sz="20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 [37]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03" y="2870765"/>
            <a:ext cx="4227510" cy="33683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78103" y="927096"/>
            <a:ext cx="39885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laminar–turbulent transition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5173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95134" y="901826"/>
            <a:ext cx="240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Walls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58" y="1802928"/>
            <a:ext cx="7947390" cy="41498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84332" y="1700808"/>
            <a:ext cx="2735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348" y="2348880"/>
            <a:ext cx="1405011" cy="11357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400256" y="3885033"/>
            <a:ext cx="31877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area of the plane 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perimeter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242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79242" y="1696743"/>
            <a:ext cx="109351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case of hot surfaces facing upward or cold surfaces facing 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 the </a:t>
            </a:r>
            <a:r>
              <a:rPr lang="en-US" sz="2400" dirty="0" err="1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Nusselt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 varies 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42" y="2582769"/>
            <a:ext cx="6310784" cy="1490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9242" y="818113"/>
            <a:ext cx="2775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sothermal surfaces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242" y="4395984"/>
            <a:ext cx="103495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hot surfaces facing downward or cold 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surfaces facing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(Fig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bottom) </a:t>
            </a:r>
            <a:r>
              <a:rPr lang="en-US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55" y="5549994"/>
            <a:ext cx="6166958" cy="77752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8353" y="2944705"/>
            <a:ext cx="12458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8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8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29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98949" y="4600930"/>
            <a:ext cx="102745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Intermittent rise of heated fluid (thermals) from a horizontal surface facing </a:t>
            </a:r>
            <a:r>
              <a:rPr lang="en-US" sz="20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in </a:t>
            </a:r>
            <a:r>
              <a:rPr lang="en-US" sz="20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colder pool of </a:t>
            </a:r>
            <a:r>
              <a:rPr lang="en-US" sz="20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</a:t>
            </a:r>
            <a:r>
              <a:rPr lang="nl-N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Mechanics</a:t>
            </a:r>
            <a:r>
              <a:rPr lang="nl-N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41, pp. 793–800, 1970.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593" y="1734289"/>
            <a:ext cx="4972542" cy="24781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49" y="1734289"/>
            <a:ext cx="5088404" cy="24781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10832" y="847531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98949" y="5769257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sz="2000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difference is sufficiently large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77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27748" y="90872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Natural Convection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3392" y="184482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enclosures 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heated from the 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side. 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enclosures </a:t>
            </a:r>
            <a:r>
              <a:rPr lang="en-US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heated </a:t>
            </a:r>
            <a:r>
              <a:rPr lang="en-US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</a:t>
            </a:r>
            <a:r>
              <a:rPr lang="en-IN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1664804"/>
            <a:ext cx="4392488" cy="407971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28148" y="6038933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Circulation patterns associated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28" y="2950893"/>
            <a:ext cx="7410450" cy="3467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796300" y="4113076"/>
            <a:ext cx="26642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29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Rayleigh number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IN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&gt;~1708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9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80" y="260648"/>
            <a:ext cx="7038739" cy="64774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08520" y="999013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F0F0F"/>
                </a:solidFill>
                <a:latin typeface="YouTube Sans"/>
              </a:rPr>
              <a:t>Rayleigh–</a:t>
            </a:r>
            <a:r>
              <a:rPr lang="en-IN" b="1" dirty="0" err="1">
                <a:solidFill>
                  <a:srgbClr val="0F0F0F"/>
                </a:solidFill>
                <a:latin typeface="YouTube Sans"/>
              </a:rPr>
              <a:t>Bénard</a:t>
            </a:r>
            <a:r>
              <a:rPr lang="en-IN" b="1" dirty="0">
                <a:solidFill>
                  <a:srgbClr val="0F0F0F"/>
                </a:solidFill>
                <a:latin typeface="YouTube Sans"/>
              </a:rPr>
              <a:t> convection in soup</a:t>
            </a:r>
            <a:endParaRPr lang="en-IN" b="1" i="0" dirty="0">
              <a:solidFill>
                <a:srgbClr val="0F0F0F"/>
              </a:solidFill>
              <a:effectLst/>
              <a:latin typeface="YouTube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20423" y="1574064"/>
            <a:ext cx="40172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hlinkClick r:id="rId3"/>
              </a:rPr>
              <a:t>https://</a:t>
            </a:r>
            <a:r>
              <a:rPr lang="en-IN" sz="1400" dirty="0" smtClean="0">
                <a:hlinkClick r:id="rId3"/>
              </a:rPr>
              <a:t>www.youtube.com/watch?v=nQUH9nGTZTY</a:t>
            </a:r>
            <a:r>
              <a:rPr lang="en-IN" sz="1400" dirty="0" smtClean="0"/>
              <a:t> </a:t>
            </a:r>
            <a:endParaRPr lang="en-IN" sz="1400" dirty="0"/>
          </a:p>
        </p:txBody>
      </p:sp>
      <p:sp>
        <p:nvSpPr>
          <p:cNvPr id="5" name="Rectangle 4"/>
          <p:cNvSpPr/>
          <p:nvPr/>
        </p:nvSpPr>
        <p:spPr>
          <a:xfrm>
            <a:off x="7543809" y="2844396"/>
            <a:ext cx="45704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F0F0F"/>
                </a:solidFill>
                <a:latin typeface="YouTube Sans"/>
              </a:rPr>
              <a:t>Rayleigh-</a:t>
            </a:r>
            <a:r>
              <a:rPr lang="en-US" b="1" dirty="0" err="1">
                <a:solidFill>
                  <a:srgbClr val="0F0F0F"/>
                </a:solidFill>
                <a:latin typeface="YouTube Sans"/>
              </a:rPr>
              <a:t>Benard</a:t>
            </a:r>
            <a:r>
              <a:rPr lang="en-US" b="1" dirty="0">
                <a:solidFill>
                  <a:srgbClr val="0F0F0F"/>
                </a:solidFill>
                <a:latin typeface="YouTube Sans"/>
              </a:rPr>
              <a:t> convection in glucose </a:t>
            </a:r>
            <a:endParaRPr lang="en-US" b="1" dirty="0" smtClean="0">
              <a:solidFill>
                <a:srgbClr val="0F0F0F"/>
              </a:solidFill>
              <a:latin typeface="YouTube Sans"/>
            </a:endParaRPr>
          </a:p>
          <a:p>
            <a:pPr algn="ctr"/>
            <a:r>
              <a:rPr lang="en-US" b="1" dirty="0" smtClean="0">
                <a:solidFill>
                  <a:srgbClr val="0F0F0F"/>
                </a:solidFill>
                <a:latin typeface="YouTube Sans"/>
              </a:rPr>
              <a:t>syrup</a:t>
            </a:r>
            <a:endParaRPr lang="en-US" b="1" i="0" dirty="0">
              <a:solidFill>
                <a:srgbClr val="0F0F0F"/>
              </a:solidFill>
              <a:effectLst/>
              <a:latin typeface="YouTube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2363" y="3640496"/>
            <a:ext cx="38933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hlinkClick r:id="rId4"/>
              </a:rPr>
              <a:t>https://</a:t>
            </a:r>
            <a:r>
              <a:rPr lang="en-IN" sz="1400" dirty="0" smtClean="0">
                <a:hlinkClick r:id="rId4"/>
              </a:rPr>
              <a:t>www.youtube.com/watch?v=b-XrNPqyC48</a:t>
            </a:r>
            <a:r>
              <a:rPr lang="en-IN" sz="1400" dirty="0" smtClean="0"/>
              <a:t>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8844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078" y="152636"/>
            <a:ext cx="6288043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4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3000972E8BDF49A2F9AB46E0B0E777" ma:contentTypeVersion="4" ma:contentTypeDescription="Create a new document." ma:contentTypeScope="" ma:versionID="ae4ee211cf61566f9f63684ac00e9936">
  <xsd:schema xmlns:xsd="http://www.w3.org/2001/XMLSchema" xmlns:xs="http://www.w3.org/2001/XMLSchema" xmlns:p="http://schemas.microsoft.com/office/2006/metadata/properties" xmlns:ns2="66db69af-212f-4fef-b597-7fc4f9d9a4c3" targetNamespace="http://schemas.microsoft.com/office/2006/metadata/properties" ma:root="true" ma:fieldsID="60e183d288fe088424731e756675fb10" ns2:_="">
    <xsd:import namespace="66db69af-212f-4fef-b597-7fc4f9d9a4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b69af-212f-4fef-b597-7fc4f9d9a4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CBA728-D210-41CF-ABEC-23575C5BB032}"/>
</file>

<file path=customXml/itemProps2.xml><?xml version="1.0" encoding="utf-8"?>
<ds:datastoreItem xmlns:ds="http://schemas.openxmlformats.org/officeDocument/2006/customXml" ds:itemID="{9521E177-D56D-427F-958E-F516C33A7BBF}"/>
</file>

<file path=docProps/app.xml><?xml version="1.0" encoding="utf-8"?>
<Properties xmlns="http://schemas.openxmlformats.org/officeDocument/2006/extended-properties" xmlns:vt="http://schemas.openxmlformats.org/officeDocument/2006/docPropsVTypes">
  <TotalTime>8431</TotalTime>
  <Words>432</Words>
  <Application>Microsoft Office PowerPoint</Application>
  <PresentationFormat>Widescreen</PresentationFormat>
  <Paragraphs>58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Adobe Song Std L</vt:lpstr>
      <vt:lpstr>Arial</vt:lpstr>
      <vt:lpstr>Calibri</vt:lpstr>
      <vt:lpstr>Calibri Light</vt:lpstr>
      <vt:lpstr>Times New Roman</vt:lpstr>
      <vt:lpstr>TimesLTStd-Roman</vt:lpstr>
      <vt:lpstr>Wingdings</vt:lpstr>
      <vt:lpstr>YouTube Sans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Monojit Chakraborty</dc:creator>
  <cp:lastModifiedBy>Monojit</cp:lastModifiedBy>
  <cp:revision>67</cp:revision>
  <dcterms:created xsi:type="dcterms:W3CDTF">2020-01-27T13:09:14Z</dcterms:created>
  <dcterms:modified xsi:type="dcterms:W3CDTF">2024-03-19T06:01:33Z</dcterms:modified>
</cp:coreProperties>
</file>