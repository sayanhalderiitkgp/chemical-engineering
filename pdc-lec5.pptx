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1" r:id="rId3"/>
    <p:sldId id="272" r:id="rId4"/>
    <p:sldId id="273" r:id="rId5"/>
    <p:sldId id="274" r:id="rId6"/>
    <p:sldId id="257" r:id="rId7"/>
    <p:sldId id="270" r:id="rId8"/>
    <p:sldId id="259" r:id="rId9"/>
    <p:sldId id="261" r:id="rId10"/>
    <p:sldId id="260" r:id="rId11"/>
    <p:sldId id="263" r:id="rId12"/>
    <p:sldId id="258" r:id="rId13"/>
    <p:sldId id="264" r:id="rId14"/>
    <p:sldId id="265" r:id="rId15"/>
    <p:sldId id="267" r:id="rId16"/>
    <p:sldId id="269" r:id="rId1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3383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8959"/>
            <a:ext cx="7886700" cy="50780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85C6-A89B-43B1-944F-CCC8FA45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b="1" dirty="0"/>
              <a:t>Control relevant models</a:t>
            </a:r>
            <a:endParaRPr lang="b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02B9B-8825-4A33-A9E6-88CE56294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9566"/>
                <a:ext cx="7981950" cy="534270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en-US" dirty="0"/>
                  <a:t>Control relevant models are often quite simple compared to the true process and usually combine physical reasoning with experimental data</a:t>
                </a:r>
                <a:r>
                  <a:rPr lang="en-US" altLang="en-US" sz="2400" dirty="0"/>
                  <a:t>.</a:t>
                </a:r>
              </a:p>
              <a:p>
                <a:pPr marL="0" indent="0">
                  <a:buNone/>
                </a:pPr>
                <a:endParaRPr lang="en-US" altLang="en-US" sz="2400" b="1" dirty="0"/>
              </a:p>
              <a:p>
                <a:pPr marL="0" indent="0">
                  <a:buNone/>
                </a:pPr>
                <a:r>
                  <a:rPr lang="en-US" altLang="en-US" sz="2400" b="1" dirty="0"/>
                  <a:t>State Space Models – Non-linear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en-US" sz="2400" dirty="0"/>
                  <a:t>Continuous Time Systems</a:t>
                </a:r>
              </a:p>
              <a:p>
                <a:pPr marL="0" indent="0">
                  <a:buNone/>
                </a:pPr>
                <a:r>
                  <a:rPr lang="en-US" altLang="en-US" sz="2400" dirty="0"/>
                  <a:t>						</a:t>
                </a:r>
                <a:r>
                  <a:rPr lang="en-US" altLang="en-US" sz="2400" i="1" dirty="0"/>
                  <a:t>Control affine form</a:t>
                </a:r>
              </a:p>
              <a:p>
                <a:pPr marL="0" indent="0">
                  <a:buNone/>
                </a:pPr>
                <a:r>
                  <a:rPr lang="en-US" altLang="en-US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altLang="en-US" sz="2400" dirty="0"/>
              </a:p>
              <a:p>
                <a:pPr marL="0" indent="0">
                  <a:buNone/>
                </a:pPr>
                <a:r>
                  <a:rPr lang="en-US" altLang="en-US" sz="24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/>
                  <a:t>	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400" dirty="0"/>
              </a:p>
              <a:p>
                <a:endParaRPr lang="en-US" altLang="en-US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en-US" sz="2400" dirty="0"/>
                  <a:t>Discrete Time System</a:t>
                </a:r>
              </a:p>
              <a:p>
                <a:pPr marL="0" indent="0">
                  <a:buNone/>
                </a:pPr>
                <a:r>
                  <a:rPr lang="en-US" altLang="en-US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b="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en-US" sz="2400" b="0" dirty="0"/>
              </a:p>
              <a:p>
                <a:pPr marL="0" indent="0">
                  <a:buNone/>
                </a:pPr>
                <a:r>
                  <a:rPr lang="en-US" altLang="en-US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en-US" sz="2400" b="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en-US" sz="2400" b="0" dirty="0"/>
                </a:br>
                <a:endParaRPr lang="en-US" altLang="en-US" sz="2400" b="0" dirty="0"/>
              </a:p>
              <a:p>
                <a:pPr marL="0" indent="0">
                  <a:buNone/>
                </a:pPr>
                <a:r>
                  <a:rPr lang="en-US" altLang="en-US" sz="2400" b="0" dirty="0"/>
                  <a:t>	</a:t>
                </a:r>
                <a:endParaRPr lang="en-US" alt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en-US" sz="2400" b="0" i="1" dirty="0">
                    <a:latin typeface="Cambria Math" panose="02040503050406030204" pitchFamily="18" charset="0"/>
                  </a:rPr>
                  <a:t> can be vectors depending of number of inputs and outputs </a:t>
                </a:r>
              </a:p>
              <a:p>
                <a:pPr lvl="1">
                  <a:buFont typeface="Wingdings" panose="05000000000000000000" pitchFamily="2" charset="2"/>
                  <a:buChar char="Ø"/>
                  <a:defRPr/>
                </a:pPr>
                <a:endParaRPr lang="en-US" altLang="en-US" i="1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b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02B9B-8825-4A33-A9E6-88CE56294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9566"/>
                <a:ext cx="7981950" cy="5342701"/>
              </a:xfrm>
              <a:blipFill>
                <a:blip r:embed="rId2"/>
                <a:stretch>
                  <a:fillRect l="-992" t="-1938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3" descr="Eqn03_06_03">
            <a:extLst>
              <a:ext uri="{FF2B5EF4-FFF2-40B4-BE49-F238E27FC236}">
                <a16:creationId xmlns:a16="http://schemas.microsoft.com/office/drawing/2014/main" id="{05BD4E75-04D2-48F0-B93A-4484B05B3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9725" y="7264400"/>
            <a:ext cx="2838450" cy="69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971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391B-8C33-4044-A784-A91E29E0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014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Control relevant models</a:t>
            </a:r>
            <a:endParaRPr lang="b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032710-7D3E-46B0-A8DC-25242FB6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96444"/>
                <a:ext cx="7886700" cy="53048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b="1" dirty="0"/>
                  <a:t>State Space Models – linear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en-US" dirty="0"/>
                  <a:t>Continuous Time Systems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en-US" b="0" dirty="0"/>
              </a:p>
              <a:p>
                <a:pPr marL="0" indent="0"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Discrete Time Systems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en-US" dirty="0"/>
                  <a:t> 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X,Y,U are in deviation form and can be vector depending on the input / output of the system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032710-7D3E-46B0-A8DC-25242FB6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96444"/>
                <a:ext cx="7886700" cy="5304896"/>
              </a:xfrm>
              <a:blipFill>
                <a:blip r:embed="rId2"/>
                <a:stretch>
                  <a:fillRect l="-927" t="-1264" r="-386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8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0EF4-8FA8-4FF6-96F1-4470F2A93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Control relevant models</a:t>
            </a:r>
            <a:endParaRPr lang="b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DDEEC-D31C-4938-AF43-841981AFE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29267"/>
                <a:ext cx="7886700" cy="48476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Transform Domain Models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sz="2400" dirty="0"/>
                  <a:t>Laplace S-domain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 Frequency domain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 Discrete time Z-domain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b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DDEEC-D31C-4938-AF43-841981AFE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29267"/>
                <a:ext cx="7886700" cy="4847696"/>
              </a:xfrm>
              <a:blipFill>
                <a:blip r:embed="rId2"/>
                <a:stretch>
                  <a:fillRect l="-1005" t="-1384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4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7633-8F78-4990-A70E-D1474B1A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Control relevant models</a:t>
            </a:r>
            <a:endParaRPr lang="b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D16806-8478-4EE9-A2DC-3E26CA2E5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227667"/>
                <a:ext cx="8219017" cy="54583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Convolution Models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Continuous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Discrete Time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b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D16806-8478-4EE9-A2DC-3E26CA2E5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227667"/>
                <a:ext cx="8219017" cy="5458358"/>
              </a:xfrm>
              <a:blipFill>
                <a:blip r:embed="rId2"/>
                <a:stretch>
                  <a:fillRect l="-890" t="-1228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25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04308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Developing Control Relevant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38302"/>
                <a:ext cx="7886700" cy="5240261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IN" dirty="0"/>
                  <a:t>Develop dynamic model from 1</a:t>
                </a:r>
                <a:r>
                  <a:rPr lang="en-IN" baseline="30000" dirty="0"/>
                  <a:t>st</a:t>
                </a:r>
                <a:r>
                  <a:rPr lang="en-IN" dirty="0"/>
                  <a:t> principles </a:t>
                </a:r>
                <a:r>
                  <a:rPr lang="en-IN" dirty="0" err="1"/>
                  <a:t>i.e</a:t>
                </a:r>
                <a:r>
                  <a:rPr lang="en-I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…(1)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2. Define control objective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…..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3. Rearrange equation (1) and (2) to get control-affine nonlinear state space form </a:t>
                </a:r>
              </a:p>
              <a:p>
                <a:pPr marL="0" indent="0">
                  <a:buNone/>
                </a:pPr>
                <a:r>
                  <a:rPr lang="en-IN" dirty="0"/>
                  <a:t>	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0" dirty="0"/>
                  <a:t>			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4. Linearize equation (1) and (2) around nominal values of 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dirty="0"/>
                  <a:t> and u</a:t>
                </a:r>
                <a:r>
                  <a:rPr lang="en-IN" baseline="-25000" dirty="0"/>
                  <a:t>s</a:t>
                </a:r>
                <a:r>
                  <a:rPr lang="en-IN" dirty="0"/>
                  <a:t> and form linear state space equation after subtracting steady state equation f(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baseline="-25000" dirty="0"/>
                  <a:t>,</a:t>
                </a:r>
                <a:r>
                  <a:rPr lang="en-IN" dirty="0"/>
                  <a:t> u</a:t>
                </a:r>
                <a:r>
                  <a:rPr lang="en-IN" baseline="-25000" dirty="0"/>
                  <a:t>s</a:t>
                </a:r>
                <a:r>
                  <a:rPr lang="en-IN" dirty="0"/>
                  <a:t>) = 0 ; h(</a:t>
                </a:r>
                <a:r>
                  <a:rPr lang="en-IN" dirty="0" err="1"/>
                  <a:t>x</a:t>
                </a:r>
                <a:r>
                  <a:rPr lang="en-IN" baseline="-25000" dirty="0" err="1"/>
                  <a:t>s</a:t>
                </a:r>
                <a:r>
                  <a:rPr lang="en-IN" baseline="-25000" dirty="0"/>
                  <a:t>,</a:t>
                </a:r>
                <a:r>
                  <a:rPr lang="en-IN" dirty="0"/>
                  <a:t> u</a:t>
                </a:r>
                <a:r>
                  <a:rPr lang="en-IN" baseline="-25000" dirty="0"/>
                  <a:t>s</a:t>
                </a:r>
                <a:r>
                  <a:rPr lang="en-IN" dirty="0"/>
                  <a:t>) = 0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38302"/>
                <a:ext cx="7886700" cy="5240261"/>
              </a:xfrm>
              <a:blipFill>
                <a:blip r:embed="rId2"/>
                <a:stretch>
                  <a:fillRect l="-927" t="-1395" r="-1468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44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64606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Developing Control Relevant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5. Derive transfer function model by taking Laplace transform of linear state space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6. Put s=j</a:t>
                </a:r>
                <a:r>
                  <a:rPr lang="el-GR" dirty="0"/>
                  <a:t>ω</a:t>
                </a:r>
                <a:r>
                  <a:rPr lang="en-IN" dirty="0"/>
                  <a:t> and convert Laplace domain model to Frequency Domain transfer function model</a:t>
                </a:r>
              </a:p>
              <a:p>
                <a:pPr marL="0" indent="0">
                  <a:buNone/>
                </a:pPr>
                <a:r>
                  <a:rPr lang="en-IN" dirty="0"/>
                  <a:t> 		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7. Take inversion of Laplace domain transfer function model and get Convolution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6702"/>
                <a:ext cx="7886700" cy="5240261"/>
              </a:xfrm>
              <a:blipFill>
                <a:blip r:embed="rId2"/>
                <a:stretch>
                  <a:fillRect l="-927" r="-2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73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10889"/>
                <a:ext cx="7886700" cy="566400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Dynamic model: </a:t>
                </a: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  …(1)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…..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Using Taylor series approximation around (</a:t>
                </a:r>
                <a:r>
                  <a:rPr lang="en-IN" dirty="0" err="1"/>
                  <a:t>x</a:t>
                </a:r>
                <a:r>
                  <a:rPr lang="en-IN" baseline="30000" dirty="0" err="1"/>
                  <a:t>s</a:t>
                </a:r>
                <a:r>
                  <a:rPr lang="en-IN" dirty="0"/>
                  <a:t> , u</a:t>
                </a:r>
                <a:r>
                  <a:rPr lang="en-IN" baseline="30000" dirty="0"/>
                  <a:t>s</a:t>
                </a:r>
                <a:r>
                  <a:rPr lang="en-IN" dirty="0"/>
                  <a:t>) and neglecting HOT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10889"/>
                <a:ext cx="7886700" cy="5664007"/>
              </a:xfrm>
              <a:blipFill>
                <a:blip r:embed="rId2"/>
                <a:stretch>
                  <a:fillRect l="-386" t="-1398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C7B16AA-7FFF-41DD-A93A-8541B5B0A252}"/>
              </a:ext>
            </a:extLst>
          </p:cNvPr>
          <p:cNvSpPr txBox="1"/>
          <p:nvPr/>
        </p:nvSpPr>
        <p:spPr>
          <a:xfrm>
            <a:off x="2032000" y="283104"/>
            <a:ext cx="4787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Transfer function Model from Dynamic Equation</a:t>
            </a:r>
            <a:endParaRPr lang="bn-IN" b="1" dirty="0"/>
          </a:p>
        </p:txBody>
      </p:sp>
    </p:spTree>
    <p:extLst>
      <p:ext uri="{BB962C8B-B14F-4D97-AF65-F5344CB8AC3E}">
        <p14:creationId xmlns:p14="http://schemas.microsoft.com/office/powerpoint/2010/main" val="16292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Subtracting the steady state equations, we can write: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IN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r>
                  <a:rPr lang="en-IN" i="1" dirty="0"/>
                  <a:t>Where,</a:t>
                </a:r>
              </a:p>
              <a:p>
                <a:pPr marL="0" indent="0">
                  <a:buNone/>
                </a:pPr>
                <a:r>
                  <a:rPr lang="en-IN" dirty="0"/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i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 and 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  <a:blipFill>
                <a:blip r:embed="rId2"/>
                <a:stretch>
                  <a:fillRect l="-927" t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20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46049"/>
                <a:ext cx="7886700" cy="573091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</a:rPr>
                  <a:t>Similarly for equation (2),</a:t>
                </a:r>
              </a:p>
              <a:p>
                <a:pPr mar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:r>
                  <a:rPr lang="en-IN" dirty="0"/>
                  <a:t>……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,…….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,…..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+. . . . . .+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46049"/>
                <a:ext cx="7886700" cy="5730914"/>
              </a:xfrm>
              <a:blipFill>
                <a:blip r:embed="rId2"/>
                <a:stretch>
                  <a:fillRect l="-696" t="-1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47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Subtracting the steady state equations, we can write: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i="1" dirty="0"/>
              </a:p>
              <a:p>
                <a:pPr marL="0" indent="0">
                  <a:buNone/>
                </a:pPr>
                <a:r>
                  <a:rPr lang="en-IN" i="1" dirty="0"/>
                  <a:t>Where,</a:t>
                </a:r>
              </a:p>
              <a:p>
                <a:pPr marL="0" indent="0">
                  <a:buNone/>
                </a:pPr>
                <a:r>
                  <a:rPr lang="en-IN" dirty="0"/>
                  <a:t>C=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IN" i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 and 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952" y="457200"/>
                <a:ext cx="7886700" cy="5630553"/>
              </a:xfrm>
              <a:blipFill>
                <a:blip r:embed="rId2"/>
                <a:stretch>
                  <a:fillRect l="-927" t="-1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49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01084"/>
                <a:ext cx="7886700" cy="58758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Taking Laplace Transform,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Or,</a:t>
                </a:r>
              </a:p>
              <a:p>
                <a:pPr marL="0" indent="0" algn="ctr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𝑠𝐼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So,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Normally transfer function model is expressed in terms of process and disturbance transfer function. So, input variables U are partitioned to manipulated M and load/disturbance variable L </a:t>
                </a:r>
                <a:r>
                  <a:rPr lang="en-IN" dirty="0" err="1"/>
                  <a:t>i.e</a:t>
                </a:r>
                <a:r>
                  <a:rPr lang="en-IN" dirty="0"/>
                  <a:t>, U = [M L]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01084"/>
                <a:ext cx="7886700" cy="5875880"/>
              </a:xfrm>
              <a:blipFill>
                <a:blip r:embed="rId2"/>
                <a:stretch>
                  <a:fillRect l="-927" t="-519" r="-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81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3089"/>
          </a:xfrm>
        </p:spPr>
        <p:txBody>
          <a:bodyPr/>
          <a:lstStyle/>
          <a:p>
            <a:pPr algn="ctr"/>
            <a:r>
              <a:rPr lang="en-IN" b="1" dirty="0"/>
              <a:t>Example: Van De </a:t>
            </a:r>
            <a:r>
              <a:rPr lang="en-IN" b="1" dirty="0" err="1"/>
              <a:t>Vusse</a:t>
            </a:r>
            <a:r>
              <a:rPr lang="en-IN" b="1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48215"/>
                <a:ext cx="7886700" cy="51287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Dynamic Model: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Non-linear state space model:</a:t>
                </a:r>
              </a:p>
              <a:p>
                <a:pPr marL="0" indent="0">
                  <a:buNone/>
                </a:pPr>
                <a:r>
                  <a:rPr lang="en-IN" dirty="0"/>
                  <a:t>States are : x</a:t>
                </a:r>
                <a:r>
                  <a:rPr lang="en-IN" baseline="-25000" dirty="0"/>
                  <a:t>1</a:t>
                </a:r>
                <a:r>
                  <a:rPr lang="en-IN" dirty="0"/>
                  <a:t> = C</a:t>
                </a:r>
                <a:r>
                  <a:rPr lang="en-IN" baseline="-25000" dirty="0"/>
                  <a:t>A</a:t>
                </a:r>
                <a:r>
                  <a:rPr lang="en-IN" dirty="0"/>
                  <a:t> , x</a:t>
                </a:r>
                <a:r>
                  <a:rPr lang="en-IN" baseline="-25000" dirty="0"/>
                  <a:t>2</a:t>
                </a:r>
                <a:r>
                  <a:rPr lang="en-IN" dirty="0"/>
                  <a:t> = C</a:t>
                </a:r>
                <a:r>
                  <a:rPr lang="en-IN" baseline="-25000" dirty="0"/>
                  <a:t>B</a:t>
                </a:r>
                <a:r>
                  <a:rPr lang="en-IN" dirty="0"/>
                  <a:t>  input : u = F/V  and output y = C</a:t>
                </a:r>
                <a:r>
                  <a:rPr lang="en-IN" baseline="-25000" dirty="0"/>
                  <a:t>B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State equation: </a:t>
                </a:r>
              </a:p>
              <a:p>
                <a:pPr marL="0" indent="0">
                  <a:buNone/>
                </a:pPr>
                <a:r>
                  <a:rPr lang="en-IN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 err="1"/>
                  <a:t>i.e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Output map:		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48215"/>
                <a:ext cx="7886700" cy="5128748"/>
              </a:xfrm>
              <a:blipFill>
                <a:blip r:embed="rId2"/>
                <a:stretch>
                  <a:fillRect l="-927" t="-1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28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Example: Van De </a:t>
            </a:r>
            <a:r>
              <a:rPr lang="en-IN" b="1" dirty="0" err="1"/>
              <a:t>Vusse</a:t>
            </a:r>
            <a:r>
              <a:rPr lang="en-IN" b="1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735980"/>
                <a:ext cx="7886700" cy="58320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Linear State Space Model: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)</m:t>
                    </m:r>
                    <m:r>
                      <m:rPr>
                        <m:nor/>
                      </m:rPr>
                      <a:rPr lang="en-IN" b="0" i="0" dirty="0" smtClean="0"/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skw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Let,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 ;  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  <m:r>
                                    <m:rPr>
                                      <m:brk m:alnAt="7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              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𝐴𝑋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𝐵𝑈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𝐷𝑈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35980"/>
                <a:ext cx="7886700" cy="5832087"/>
              </a:xfrm>
              <a:blipFill>
                <a:blip r:embed="rId2"/>
                <a:stretch>
                  <a:fillRect l="-696" t="-1046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89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Example: Van De </a:t>
            </a:r>
            <a:r>
              <a:rPr lang="en-IN" b="1" dirty="0" err="1"/>
              <a:t>Vusse</a:t>
            </a:r>
            <a:r>
              <a:rPr lang="en-IN" b="1" dirty="0"/>
              <a:t> Reactor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Transfer Domain Model  -- Laplace Domain: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p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𝑑𝑒𝑡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𝑑𝑒𝑡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𝑑𝑒𝑡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35980"/>
                <a:ext cx="8169662" cy="5832087"/>
              </a:xfrm>
              <a:blipFill>
                <a:blip r:embed="rId2"/>
                <a:stretch>
                  <a:fillRect l="-672" t="-1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15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7085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Example: Van De </a:t>
            </a:r>
            <a:r>
              <a:rPr lang="en-IN" b="1" dirty="0" err="1"/>
              <a:t>Vusse</a:t>
            </a:r>
            <a:r>
              <a:rPr lang="en-IN" b="1" dirty="0"/>
              <a:t> Reactor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06913"/>
                <a:ext cx="8169662" cy="45133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Transfer Domain Model  -- Laplace Domain: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+[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𝐴𝑓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brk m:alnAt="7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06913"/>
                <a:ext cx="8169662" cy="4513353"/>
              </a:xfrm>
              <a:blipFill>
                <a:blip r:embed="rId2"/>
                <a:stretch>
                  <a:fillRect l="-896" t="-1484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8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1252</Words>
  <Application>Microsoft Office PowerPoint</Application>
  <PresentationFormat>On-screen Show (4:3)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Vrinda</vt:lpstr>
      <vt:lpstr>Wingdings</vt:lpstr>
      <vt:lpstr>Office Theme</vt:lpstr>
      <vt:lpstr>Process Dynamics &amp; Control</vt:lpstr>
      <vt:lpstr>Control relevant models</vt:lpstr>
      <vt:lpstr>Control relevant models</vt:lpstr>
      <vt:lpstr>Control relevant models</vt:lpstr>
      <vt:lpstr>Control relevant models</vt:lpstr>
      <vt:lpstr>Developing Control Relevant Models</vt:lpstr>
      <vt:lpstr>Developing Control Relevant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Van De Vusse Reactor</vt:lpstr>
      <vt:lpstr>Example: Van De Vusse Reactor</vt:lpstr>
      <vt:lpstr>Example: Van De Vusse Reactor</vt:lpstr>
      <vt:lpstr>Example: Van De Vusse Reactor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Admin</cp:lastModifiedBy>
  <cp:revision>70</cp:revision>
  <cp:lastPrinted>2024-01-16T11:52:25Z</cp:lastPrinted>
  <dcterms:created xsi:type="dcterms:W3CDTF">2019-01-01T11:22:05Z</dcterms:created>
  <dcterms:modified xsi:type="dcterms:W3CDTF">2024-01-16T11:58:42Z</dcterms:modified>
</cp:coreProperties>
</file>