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60" r:id="rId3"/>
  </p:sldMasterIdLst>
  <p:notesMasterIdLst>
    <p:notesMasterId r:id="rId20"/>
  </p:notesMasterIdLst>
  <p:handoutMasterIdLst>
    <p:handoutMasterId r:id="rId21"/>
  </p:handoutMasterIdLst>
  <p:sldIdLst>
    <p:sldId id="260" r:id="rId4"/>
    <p:sldId id="287" r:id="rId5"/>
    <p:sldId id="299" r:id="rId6"/>
    <p:sldId id="288" r:id="rId7"/>
    <p:sldId id="289" r:id="rId8"/>
    <p:sldId id="290" r:id="rId9"/>
    <p:sldId id="291" r:id="rId10"/>
    <p:sldId id="292" r:id="rId11"/>
    <p:sldId id="293" r:id="rId12"/>
    <p:sldId id="294" r:id="rId13"/>
    <p:sldId id="301" r:id="rId14"/>
    <p:sldId id="295" r:id="rId15"/>
    <p:sldId id="300" r:id="rId16"/>
    <p:sldId id="296" r:id="rId17"/>
    <p:sldId id="297" r:id="rId18"/>
    <p:sldId id="29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elcome" initials="W" lastIdx="2" clrIdx="0">
    <p:extLst>
      <p:ext uri="{19B8F6BF-5375-455C-9EA6-DF929625EA0E}">
        <p15:presenceInfo xmlns:p15="http://schemas.microsoft.com/office/powerpoint/2012/main" userId="Welcom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0000"/>
    <a:srgbClr val="EA0000"/>
    <a:srgbClr val="00FFFF"/>
    <a:srgbClr val="00FFCC"/>
    <a:srgbClr val="FF7575"/>
    <a:srgbClr val="FF5B5B"/>
    <a:srgbClr val="FF3300"/>
    <a:srgbClr val="00CC00"/>
    <a:srgbClr val="0000FF"/>
    <a:srgbClr val="0B09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A3AA00-E2D2-470C-84A1-BB6B86A37A31}" v="3" dt="2024-04-16T16:49:22.154"/>
    <p1510:client id="{C79D85E2-1450-4777-8FDB-D36AB7452B79}" v="1" dt="2024-04-17T06:53:09.3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1.xml"/><Relationship Id="rId21" Type="http://schemas.openxmlformats.org/officeDocument/2006/relationships/handoutMaster" Target="handoutMasters/handout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pal Gupta" userId="S::gopal@kgpian.iitkgp.ac.in::51492fd2-9187-452b-8ce5-eec5a1e336d9" providerId="AD" clId="Web-{C79D85E2-1450-4777-8FDB-D36AB7452B79}"/>
    <pc:docChg chg="addSld">
      <pc:chgData name="Gopal Gupta" userId="S::gopal@kgpian.iitkgp.ac.in::51492fd2-9187-452b-8ce5-eec5a1e336d9" providerId="AD" clId="Web-{C79D85E2-1450-4777-8FDB-D36AB7452B79}" dt="2024-04-17T06:53:09.384" v="0"/>
      <pc:docMkLst>
        <pc:docMk/>
      </pc:docMkLst>
      <pc:sldChg chg="new">
        <pc:chgData name="Gopal Gupta" userId="S::gopal@kgpian.iitkgp.ac.in::51492fd2-9187-452b-8ce5-eec5a1e336d9" providerId="AD" clId="Web-{C79D85E2-1450-4777-8FDB-D36AB7452B79}" dt="2024-04-17T06:53:09.384" v="0"/>
        <pc:sldMkLst>
          <pc:docMk/>
          <pc:sldMk cId="591728422" sldId="301"/>
        </pc:sldMkLst>
      </pc:sldChg>
    </pc:docChg>
  </pc:docChgLst>
  <pc:docChgLst>
    <pc:chgData name="Venkatesh Baki" userId="b9af169f-cc51-4717-bea4-bd513862f811" providerId="ADAL" clId="{5BA3AA00-E2D2-470C-84A1-BB6B86A37A31}"/>
    <pc:docChg chg="addSld modSld">
      <pc:chgData name="Venkatesh Baki" userId="b9af169f-cc51-4717-bea4-bd513862f811" providerId="ADAL" clId="{5BA3AA00-E2D2-470C-84A1-BB6B86A37A31}" dt="2024-04-16T17:12:11.843" v="3" actId="680"/>
      <pc:docMkLst>
        <pc:docMk/>
      </pc:docMkLst>
      <pc:sldChg chg="modSp mod">
        <pc:chgData name="Venkatesh Baki" userId="b9af169f-cc51-4717-bea4-bd513862f811" providerId="ADAL" clId="{5BA3AA00-E2D2-470C-84A1-BB6B86A37A31}" dt="2024-04-16T16:49:22.154" v="2" actId="1038"/>
        <pc:sldMkLst>
          <pc:docMk/>
          <pc:sldMk cId="1178424244" sldId="287"/>
        </pc:sldMkLst>
        <pc:spChg chg="mod">
          <ac:chgData name="Venkatesh Baki" userId="b9af169f-cc51-4717-bea4-bd513862f811" providerId="ADAL" clId="{5BA3AA00-E2D2-470C-84A1-BB6B86A37A31}" dt="2024-04-16T16:49:22.154" v="2" actId="1038"/>
          <ac:spMkLst>
            <pc:docMk/>
            <pc:sldMk cId="1178424244" sldId="287"/>
            <ac:spMk id="16" creationId="{00000000-0000-0000-0000-000000000000}"/>
          </ac:spMkLst>
        </pc:spChg>
      </pc:sldChg>
      <pc:sldChg chg="new">
        <pc:chgData name="Venkatesh Baki" userId="b9af169f-cc51-4717-bea4-bd513862f811" providerId="ADAL" clId="{5BA3AA00-E2D2-470C-84A1-BB6B86A37A31}" dt="2024-04-16T17:12:11.843" v="3" actId="680"/>
        <pc:sldMkLst>
          <pc:docMk/>
          <pc:sldMk cId="687084321" sldId="30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67BE3ED-04C8-43BE-A02B-7916CCFE4366}" type="datetimeFigureOut">
              <a:rPr lang="en-US" smtClean="0"/>
              <a:t>4/16/2024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780A49-C55D-4691-8A15-AD82D1E118DA}" type="slidenum">
              <a:rPr lang="en-US" smtClean="0"/>
              <a:t>‹#›</a:t>
            </a:fld>
            <a:endParaRPr lang="en-US"/>
          </a:p>
        </p:txBody>
      </p:sp>
    </p:spTree>
    <p:extLst>
      <p:ext uri="{BB962C8B-B14F-4D97-AF65-F5344CB8AC3E}">
        <p14:creationId xmlns:p14="http://schemas.microsoft.com/office/powerpoint/2010/main" val="2318473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35DEAA-F8F4-4F63-978F-1F29070AC91A}" type="datetimeFigureOut">
              <a:rPr lang="en-US" smtClean="0"/>
              <a:t>4/16/2024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A95F94-2411-43D0-8930-052BD6CB0CE9}" type="slidenum">
              <a:rPr lang="en-US" smtClean="0"/>
              <a:t>‹#›</a:t>
            </a:fld>
            <a:endParaRPr lang="en-US"/>
          </a:p>
        </p:txBody>
      </p:sp>
    </p:spTree>
    <p:extLst>
      <p:ext uri="{BB962C8B-B14F-4D97-AF65-F5344CB8AC3E}">
        <p14:creationId xmlns:p14="http://schemas.microsoft.com/office/powerpoint/2010/main" val="43698910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10668000" y="6471807"/>
            <a:ext cx="2743200" cy="365125"/>
          </a:xfrm>
          <a:prstGeom prst="rect">
            <a:avLst/>
          </a:prstGeom>
        </p:spPr>
        <p:txBody>
          <a:bodyPr/>
          <a:lstStyle/>
          <a:p>
            <a:fld id="{C55500A9-FDA9-4E0D-99F3-1186C36F68FA}" type="slidenum">
              <a:rPr lang="en-US" smtClean="0"/>
              <a:t>‹#›</a:t>
            </a:fld>
            <a:endParaRPr lang="en-US"/>
          </a:p>
        </p:txBody>
      </p:sp>
    </p:spTree>
    <p:extLst>
      <p:ext uri="{BB962C8B-B14F-4D97-AF65-F5344CB8AC3E}">
        <p14:creationId xmlns:p14="http://schemas.microsoft.com/office/powerpoint/2010/main" val="170649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10725727" y="6492875"/>
            <a:ext cx="2743200" cy="365125"/>
          </a:xfrm>
          <a:prstGeom prst="rect">
            <a:avLst/>
          </a:prstGeo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1248025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10820400" y="6490277"/>
            <a:ext cx="2743200" cy="365125"/>
          </a:xfrm>
          <a:prstGeom prst="rect">
            <a:avLst/>
          </a:prstGeo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200329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10820400" y="6499514"/>
            <a:ext cx="2743200" cy="365125"/>
          </a:xfrm>
          <a:prstGeom prst="rect">
            <a:avLst/>
          </a:prstGeo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302366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10439400" y="6492875"/>
            <a:ext cx="2743200" cy="365125"/>
          </a:xfrm>
          <a:prstGeom prst="rect">
            <a:avLst/>
          </a:prstGeo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04135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10624128" y="6471805"/>
            <a:ext cx="2743200" cy="365125"/>
          </a:xfrm>
          <a:prstGeom prst="rect">
            <a:avLst/>
          </a:prstGeo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601205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10596418" y="6492875"/>
            <a:ext cx="2743200" cy="365125"/>
          </a:xfrm>
          <a:prstGeom prst="rect">
            <a:avLst/>
          </a:prstGeo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416137431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10633363" y="6453332"/>
            <a:ext cx="2743200" cy="365125"/>
          </a:xfrm>
          <a:prstGeom prst="rect">
            <a:avLst/>
          </a:prstGeo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68416748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10291618" y="6481041"/>
            <a:ext cx="2743200" cy="365125"/>
          </a:xfrm>
          <a:prstGeom prst="rect">
            <a:avLst/>
          </a:prstGeo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98314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10448637" y="6499369"/>
            <a:ext cx="2743200" cy="365125"/>
          </a:xfrm>
          <a:prstGeom prst="rect">
            <a:avLst/>
          </a:prstGeo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623382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10448636" y="6492875"/>
            <a:ext cx="2743200" cy="365125"/>
          </a:xfrm>
          <a:prstGeom prst="rect">
            <a:avLst/>
          </a:prstGeom>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6808885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510764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7" name="Google Shape;246;p30"/>
          <p:cNvCxnSpPr/>
          <p:nvPr userDrawn="1"/>
        </p:nvCxnSpPr>
        <p:spPr>
          <a:xfrm>
            <a:off x="336100" y="998211"/>
            <a:ext cx="11668000" cy="0"/>
          </a:xfrm>
          <a:prstGeom prst="straightConnector1">
            <a:avLst/>
          </a:prstGeom>
          <a:noFill/>
          <a:ln w="28575" cap="flat" cmpd="sng">
            <a:solidFill>
              <a:schemeClr val="accent2">
                <a:lumMod val="75000"/>
              </a:schemeClr>
            </a:solidFill>
            <a:prstDash val="solid"/>
            <a:round/>
            <a:headEnd type="none" w="med" len="med"/>
            <a:tailEnd type="none" w="med" len="med"/>
          </a:ln>
        </p:spPr>
      </p:cxnSp>
      <p:cxnSp>
        <p:nvCxnSpPr>
          <p:cNvPr id="11" name="Straight Connector 10"/>
          <p:cNvCxnSpPr/>
          <p:nvPr userDrawn="1"/>
        </p:nvCxnSpPr>
        <p:spPr>
          <a:xfrm>
            <a:off x="277092" y="6447415"/>
            <a:ext cx="11600872" cy="0"/>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7562696"/>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4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1.wmf"/><Relationship Id="rId7"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5.wmf"/><Relationship Id="rId5" Type="http://schemas.openxmlformats.org/officeDocument/2006/relationships/image" Target="../media/image2.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4.wmf"/></Relationships>
</file>

<file path=ppt/slides/_rels/slide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6.bin"/><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7.bin"/><Relationship Id="rId1" Type="http://schemas.openxmlformats.org/officeDocument/2006/relationships/slideLayout" Target="../slideLayouts/slideLayout7.xml"/><Relationship Id="rId5" Type="http://schemas.openxmlformats.org/officeDocument/2006/relationships/image" Target="../media/image8.wmf"/><Relationship Id="rId4" Type="http://schemas.openxmlformats.org/officeDocument/2006/relationships/oleObject" Target="../embeddings/oleObject8.bin"/></Relationships>
</file>

<file path=ppt/slides/_rels/slide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9.bin"/><Relationship Id="rId1" Type="http://schemas.openxmlformats.org/officeDocument/2006/relationships/slideLayout" Target="../slideLayouts/slideLayout7.xml"/><Relationship Id="rId5" Type="http://schemas.openxmlformats.org/officeDocument/2006/relationships/image" Target="../media/image10.wmf"/><Relationship Id="rId4" Type="http://schemas.openxmlformats.org/officeDocument/2006/relationships/oleObject" Target="../embeddings/oleObject10.bin"/></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oleObject" Target="../embeddings/oleObject11.bin"/><Relationship Id="rId7"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13.png"/><Relationship Id="rId4" Type="http://schemas.openxmlformats.org/officeDocument/2006/relationships/image" Target="../media/image12.emf"/><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2.bin"/><Relationship Id="rId1" Type="http://schemas.openxmlformats.org/officeDocument/2006/relationships/slideLayout" Target="../slideLayouts/slideLayout7.xml"/><Relationship Id="rId5" Type="http://schemas.openxmlformats.org/officeDocument/2006/relationships/image" Target="../media/image18.wmf"/><Relationship Id="rId4" Type="http://schemas.openxmlformats.org/officeDocument/2006/relationships/oleObject" Target="../embeddings/oleObject13.bin"/></Relationships>
</file>

<file path=ppt/slides/_rels/slide8.xml.rels><?xml version="1.0" encoding="UTF-8" standalone="yes"?>
<Relationships xmlns="http://schemas.openxmlformats.org/package/2006/relationships"><Relationship Id="rId3" Type="http://schemas.openxmlformats.org/officeDocument/2006/relationships/image" Target="../media/image19.wmf"/><Relationship Id="rId7" Type="http://schemas.openxmlformats.org/officeDocument/2006/relationships/image" Target="../media/image21.wmf"/><Relationship Id="rId2" Type="http://schemas.openxmlformats.org/officeDocument/2006/relationships/oleObject" Target="../embeddings/oleObject14.bin"/><Relationship Id="rId1" Type="http://schemas.openxmlformats.org/officeDocument/2006/relationships/slideLayout" Target="../slideLayouts/slideLayout7.xml"/><Relationship Id="rId6" Type="http://schemas.openxmlformats.org/officeDocument/2006/relationships/oleObject" Target="../embeddings/oleObject16.bin"/><Relationship Id="rId5" Type="http://schemas.openxmlformats.org/officeDocument/2006/relationships/image" Target="../media/image20.wmf"/><Relationship Id="rId4" Type="http://schemas.openxmlformats.org/officeDocument/2006/relationships/oleObject" Target="../embeddings/oleObject15.bin"/></Relationships>
</file>

<file path=ppt/slides/_rels/slide9.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7.bin"/><Relationship Id="rId1" Type="http://schemas.openxmlformats.org/officeDocument/2006/relationships/slideLayout" Target="../slideLayouts/slideLayout7.xml"/><Relationship Id="rId5" Type="http://schemas.openxmlformats.org/officeDocument/2006/relationships/image" Target="../media/image23.wmf"/><Relationship Id="rId4" Type="http://schemas.openxmlformats.org/officeDocument/2006/relationships/oleObject" Target="../embeddings/oleObject18.bin"/></Relationships>
</file>

<file path=ppt/slides/_rels/slide10.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9.bin"/><Relationship Id="rId1" Type="http://schemas.openxmlformats.org/officeDocument/2006/relationships/slideLayout" Target="../slideLayouts/slideLayout7.xml"/><Relationship Id="rId5" Type="http://schemas.openxmlformats.org/officeDocument/2006/relationships/image" Target="../media/image3.wmf"/><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20.bin"/><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21.bin"/><Relationship Id="rId1" Type="http://schemas.openxmlformats.org/officeDocument/2006/relationships/slideLayout" Target="../slideLayouts/slideLayout7.xml"/><Relationship Id="rId5" Type="http://schemas.openxmlformats.org/officeDocument/2006/relationships/image" Target="../media/image27.wmf"/><Relationship Id="rId4" Type="http://schemas.openxmlformats.org/officeDocument/2006/relationships/oleObject" Target="../embeddings/oleObject22.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image" Target="../media/image28.wmf"/><Relationship Id="rId7" Type="http://schemas.openxmlformats.org/officeDocument/2006/relationships/image" Target="../media/image30.wmf"/><Relationship Id="rId2" Type="http://schemas.openxmlformats.org/officeDocument/2006/relationships/oleObject" Target="../embeddings/oleObject23.bin"/><Relationship Id="rId1" Type="http://schemas.openxmlformats.org/officeDocument/2006/relationships/slideLayout" Target="../slideLayouts/slideLayout7.xml"/><Relationship Id="rId6" Type="http://schemas.openxmlformats.org/officeDocument/2006/relationships/oleObject" Target="../embeddings/oleObject25.bin"/><Relationship Id="rId5" Type="http://schemas.openxmlformats.org/officeDocument/2006/relationships/image" Target="../media/image29.wmf"/><Relationship Id="rId4" Type="http://schemas.openxmlformats.org/officeDocument/2006/relationships/oleObject" Target="../embeddings/oleObject24.bin"/><Relationship Id="rId9" Type="http://schemas.openxmlformats.org/officeDocument/2006/relationships/image" Target="../media/image31.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image" Target="../media/image32.wmf"/><Relationship Id="rId7" Type="http://schemas.openxmlformats.org/officeDocument/2006/relationships/image" Target="../media/image34.wmf"/><Relationship Id="rId2" Type="http://schemas.openxmlformats.org/officeDocument/2006/relationships/oleObject" Target="../embeddings/oleObject27.bin"/><Relationship Id="rId1" Type="http://schemas.openxmlformats.org/officeDocument/2006/relationships/slideLayout" Target="../slideLayouts/slideLayout7.xml"/><Relationship Id="rId6" Type="http://schemas.openxmlformats.org/officeDocument/2006/relationships/oleObject" Target="../embeddings/oleObject29.bin"/><Relationship Id="rId11" Type="http://schemas.openxmlformats.org/officeDocument/2006/relationships/image" Target="../media/image36.wmf"/><Relationship Id="rId5" Type="http://schemas.openxmlformats.org/officeDocument/2006/relationships/image" Target="../media/image33.wmf"/><Relationship Id="rId10" Type="http://schemas.openxmlformats.org/officeDocument/2006/relationships/oleObject" Target="../embeddings/oleObject31.bin"/><Relationship Id="rId4" Type="http://schemas.openxmlformats.org/officeDocument/2006/relationships/oleObject" Target="../embeddings/oleObject28.bin"/><Relationship Id="rId9" Type="http://schemas.openxmlformats.org/officeDocument/2006/relationships/image" Target="../media/image3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7520" y="526473"/>
            <a:ext cx="3256452" cy="461665"/>
          </a:xfrm>
          <a:prstGeom prst="rect">
            <a:avLst/>
          </a:prstGeom>
          <a:noFill/>
        </p:spPr>
        <p:txBody>
          <a:bodyPr wrap="square" rtlCol="0">
            <a:spAutoFit/>
          </a:bodyPr>
          <a:lstStyle/>
          <a:p>
            <a:r>
              <a:rPr lang="en-US" sz="2400" b="1">
                <a:solidFill>
                  <a:srgbClr val="FF0000"/>
                </a:solidFill>
              </a:rPr>
              <a:t>Problem 1</a:t>
            </a:r>
          </a:p>
        </p:txBody>
      </p:sp>
      <p:sp>
        <p:nvSpPr>
          <p:cNvPr id="19"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3" name="Rectangle 5"/>
          <p:cNvSpPr>
            <a:spLocks noChangeArrowheads="1"/>
          </p:cNvSpPr>
          <p:nvPr/>
        </p:nvSpPr>
        <p:spPr bwMode="auto">
          <a:xfrm>
            <a:off x="228600" y="14160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3"/>
          <p:cNvSpPr/>
          <p:nvPr/>
        </p:nvSpPr>
        <p:spPr>
          <a:xfrm>
            <a:off x="447964" y="1335602"/>
            <a:ext cx="11296072" cy="3356303"/>
          </a:xfrm>
          <a:prstGeom prst="rect">
            <a:avLst/>
          </a:prstGeom>
        </p:spPr>
        <p:txBody>
          <a:bodyPr wrap="square">
            <a:spAutoFit/>
          </a:bodyPr>
          <a:lstStyle/>
          <a:p>
            <a:pPr marR="0" lvl="0" algn="just">
              <a:lnSpc>
                <a:spcPct val="107000"/>
              </a:lnSpc>
              <a:spcBef>
                <a:spcPts val="0"/>
              </a:spcBef>
              <a:spcAft>
                <a:spcPts val="800"/>
              </a:spcAft>
            </a:pPr>
            <a:r>
              <a:rPr lang="en-US" sz="2400">
                <a:latin typeface="Times New Roman" panose="02020603050405020304" pitchFamily="18" charset="0"/>
                <a:ea typeface="Calibri" panose="020F0502020204030204" pitchFamily="34" charset="0"/>
                <a:cs typeface="Times New Roman" panose="02020603050405020304" pitchFamily="18" charset="0"/>
              </a:rPr>
              <a:t>You have a bottle of cold drink at room temperature, and you would like to drink it cold as soon as possible. You place the bottle in the refrigerator; however, you have the option of positioning the bottle (1) vertically or (2) horizontally. The refrigerator cools by natural convection (it does not employ forced circulation). </a:t>
            </a:r>
          </a:p>
          <a:p>
            <a:pPr marR="0" lvl="0" algn="just">
              <a:lnSpc>
                <a:spcPct val="107000"/>
              </a:lnSpc>
              <a:spcBef>
                <a:spcPts val="0"/>
              </a:spcBef>
              <a:spcAft>
                <a:spcPts val="800"/>
              </a:spcAft>
            </a:pPr>
            <a:r>
              <a:rPr lang="en-US" sz="2400">
                <a:latin typeface="Times New Roman" panose="02020603050405020304" pitchFamily="18" charset="0"/>
                <a:ea typeface="Calibri" panose="020F0502020204030204" pitchFamily="34" charset="0"/>
                <a:cs typeface="Times New Roman" panose="02020603050405020304" pitchFamily="18" charset="0"/>
              </a:rPr>
              <a:t>(a) Which way should you position the bottle? Describe the goodness of your decision by calculating the ratio t</a:t>
            </a:r>
            <a:r>
              <a:rPr lang="en-US" sz="2400" baseline="-25000">
                <a:latin typeface="Times New Roman" panose="02020603050405020304" pitchFamily="18" charset="0"/>
                <a:ea typeface="Calibri" panose="020F0502020204030204" pitchFamily="34" charset="0"/>
                <a:cs typeface="Times New Roman" panose="02020603050405020304" pitchFamily="18" charset="0"/>
              </a:rPr>
              <a:t>1</a:t>
            </a:r>
            <a:r>
              <a:rPr lang="en-US" sz="2400">
                <a:latin typeface="Times New Roman" panose="02020603050405020304" pitchFamily="18" charset="0"/>
                <a:ea typeface="Calibri" panose="020F0502020204030204" pitchFamily="34" charset="0"/>
                <a:cs typeface="Times New Roman" panose="02020603050405020304" pitchFamily="18" charset="0"/>
              </a:rPr>
              <a:t>/t</a:t>
            </a:r>
            <a:r>
              <a:rPr lang="en-US" sz="2400" baseline="-25000">
                <a:latin typeface="Times New Roman" panose="02020603050405020304" pitchFamily="18" charset="0"/>
                <a:ea typeface="Calibri" panose="020F0502020204030204" pitchFamily="34" charset="0"/>
                <a:cs typeface="Times New Roman" panose="02020603050405020304" pitchFamily="18" charset="0"/>
              </a:rPr>
              <a:t>2</a:t>
            </a:r>
            <a:r>
              <a:rPr lang="en-US" sz="2400">
                <a:latin typeface="Times New Roman" panose="02020603050405020304" pitchFamily="18" charset="0"/>
                <a:ea typeface="Calibri" panose="020F0502020204030204" pitchFamily="34" charset="0"/>
                <a:cs typeface="Times New Roman" panose="02020603050405020304" pitchFamily="18" charset="0"/>
              </a:rPr>
              <a:t>, where t represents the order of magnitude of the time needed for the bottle to reach thermal equilibrium with the refrigeration chamber (base this calculation on scale analysis).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38178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D22F896-40B5-4ADD-8801-0D06FADFA095}" type="slidenum">
              <a:rPr lang="en-US" smtClean="0"/>
              <a:t>2</a:t>
            </a:fld>
            <a:endParaRPr lang="en-US"/>
          </a:p>
        </p:txBody>
      </p:sp>
      <p:sp>
        <p:nvSpPr>
          <p:cNvPr id="9" name="Rectangle 8"/>
          <p:cNvSpPr/>
          <p:nvPr/>
        </p:nvSpPr>
        <p:spPr>
          <a:xfrm>
            <a:off x="293763" y="972194"/>
            <a:ext cx="997389" cy="461665"/>
          </a:xfrm>
          <a:prstGeom prst="rect">
            <a:avLst/>
          </a:prstGeom>
        </p:spPr>
        <p:txBody>
          <a:bodyPr wrap="none">
            <a:spAutoFit/>
          </a:bodyPr>
          <a:lstStyle/>
          <a:p>
            <a:r>
              <a:rPr lang="en-US" sz="2400" b="1">
                <a:latin typeface="Times New Roman" panose="02020603050405020304" pitchFamily="18" charset="0"/>
                <a:ea typeface="Calibri" panose="020F0502020204030204" pitchFamily="34" charset="0"/>
              </a:rPr>
              <a:t>Data :</a:t>
            </a:r>
            <a:endParaRPr lang="en-US" sz="2400" b="1"/>
          </a:p>
        </p:txBody>
      </p:sp>
      <p:graphicFrame>
        <p:nvGraphicFramePr>
          <p:cNvPr id="10" name="Object 9"/>
          <p:cNvGraphicFramePr>
            <a:graphicFrameLocks noChangeAspect="1"/>
          </p:cNvGraphicFramePr>
          <p:nvPr>
            <p:extLst>
              <p:ext uri="{D42A27DB-BD31-4B8C-83A1-F6EECF244321}">
                <p14:modId xmlns:p14="http://schemas.microsoft.com/office/powerpoint/2010/main" val="3500374469"/>
              </p:ext>
            </p:extLst>
          </p:nvPr>
        </p:nvGraphicFramePr>
        <p:xfrm>
          <a:off x="792457" y="1516035"/>
          <a:ext cx="3786909" cy="808484"/>
        </p:xfrm>
        <a:graphic>
          <a:graphicData uri="http://schemas.openxmlformats.org/presentationml/2006/ole">
            <mc:AlternateContent xmlns:mc="http://schemas.openxmlformats.org/markup-compatibility/2006">
              <mc:Choice xmlns:v="urn:schemas-microsoft-com:vml" Requires="v">
                <p:oleObj name="Equation" r:id="rId2" imgW="2082600" imgH="444240" progId="Equation.DSMT4">
                  <p:embed/>
                </p:oleObj>
              </mc:Choice>
              <mc:Fallback>
                <p:oleObj name="Equation" r:id="rId2" imgW="2082600" imgH="444240" progId="Equation.DSMT4">
                  <p:embed/>
                  <p:pic>
                    <p:nvPicPr>
                      <p:cNvPr id="10" name="Object 9"/>
                      <p:cNvPicPr/>
                      <p:nvPr/>
                    </p:nvPicPr>
                    <p:blipFill>
                      <a:blip r:embed="rId3"/>
                      <a:stretch>
                        <a:fillRect/>
                      </a:stretch>
                    </p:blipFill>
                    <p:spPr>
                      <a:xfrm>
                        <a:off x="792457" y="1516035"/>
                        <a:ext cx="3786909" cy="808484"/>
                      </a:xfrm>
                      <a:prstGeom prst="rect">
                        <a:avLst/>
                      </a:prstGeom>
                    </p:spPr>
                  </p:pic>
                </p:oleObj>
              </mc:Fallback>
            </mc:AlternateContent>
          </a:graphicData>
        </a:graphic>
      </p:graphicFrame>
      <p:sp>
        <p:nvSpPr>
          <p:cNvPr id="12" name="Rectangle 11"/>
          <p:cNvSpPr/>
          <p:nvPr/>
        </p:nvSpPr>
        <p:spPr>
          <a:xfrm>
            <a:off x="4700337" y="1659532"/>
            <a:ext cx="2669320" cy="405367"/>
          </a:xfrm>
          <a:prstGeom prst="rect">
            <a:avLst/>
          </a:prstGeom>
        </p:spPr>
        <p:txBody>
          <a:bodyPr wrap="none">
            <a:spAutoFit/>
          </a:bodyPr>
          <a:lstStyle/>
          <a:p>
            <a:pPr marL="228600" marR="0" algn="just">
              <a:lnSpc>
                <a:spcPct val="107000"/>
              </a:lnSpc>
              <a:spcBef>
                <a:spcPts val="0"/>
              </a:spcBef>
              <a:spcAft>
                <a:spcPts val="800"/>
              </a:spcAft>
            </a:pPr>
            <a:r>
              <a:rPr lang="en-US" sz="2000">
                <a:latin typeface="Times New Roman" panose="02020603050405020304" pitchFamily="18" charset="0"/>
                <a:ea typeface="Calibri" panose="020F0502020204030204" pitchFamily="34" charset="0"/>
                <a:cs typeface="Times New Roman" panose="02020603050405020304" pitchFamily="18" charset="0"/>
              </a:rPr>
              <a:t>; both have same unit</a:t>
            </a:r>
            <a:r>
              <a:rPr lang="en-US" sz="2000">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Rectangle 13"/>
          <p:cNvSpPr/>
          <p:nvPr/>
        </p:nvSpPr>
        <p:spPr>
          <a:xfrm>
            <a:off x="487003" y="2462207"/>
            <a:ext cx="5006499" cy="405367"/>
          </a:xfrm>
          <a:prstGeom prst="rect">
            <a:avLst/>
          </a:prstGeom>
        </p:spPr>
        <p:txBody>
          <a:bodyPr wrap="none">
            <a:spAutoFit/>
          </a:bodyPr>
          <a:lstStyle/>
          <a:p>
            <a:pPr marL="228600" marR="0" algn="just">
              <a:lnSpc>
                <a:spcPct val="107000"/>
              </a:lnSpc>
              <a:spcBef>
                <a:spcPts val="0"/>
              </a:spcBef>
              <a:spcAft>
                <a:spcPts val="800"/>
              </a:spcAft>
            </a:pPr>
            <a:r>
              <a:rPr lang="en-US" sz="2000" i="1" err="1">
                <a:latin typeface="Times New Roman" panose="02020603050405020304" pitchFamily="18" charset="0"/>
                <a:ea typeface="Calibri" panose="020F0502020204030204" pitchFamily="34" charset="0"/>
                <a:cs typeface="Times New Roman" panose="02020603050405020304" pitchFamily="18" charset="0"/>
              </a:rPr>
              <a:t>k</a:t>
            </a:r>
            <a:r>
              <a:rPr lang="en-US" sz="2000" i="1" baseline="-25000" err="1">
                <a:latin typeface="Times New Roman" panose="02020603050405020304" pitchFamily="18" charset="0"/>
                <a:ea typeface="Calibri" panose="020F0502020204030204" pitchFamily="34" charset="0"/>
                <a:cs typeface="Times New Roman" panose="02020603050405020304" pitchFamily="18" charset="0"/>
              </a:rPr>
              <a:t>air</a:t>
            </a:r>
            <a:r>
              <a:rPr lang="en-US" sz="2000">
                <a:latin typeface="Times New Roman" panose="02020603050405020304" pitchFamily="18" charset="0"/>
                <a:ea typeface="Calibri" panose="020F0502020204030204" pitchFamily="34" charset="0"/>
                <a:cs typeface="Times New Roman" panose="02020603050405020304" pitchFamily="18" charset="0"/>
              </a:rPr>
              <a:t>=0.025 and </a:t>
            </a:r>
            <a:r>
              <a:rPr lang="en-US" sz="2000" i="1" err="1">
                <a:latin typeface="Times New Roman" panose="02020603050405020304" pitchFamily="18" charset="0"/>
                <a:ea typeface="Calibri" panose="020F0502020204030204" pitchFamily="34" charset="0"/>
                <a:cs typeface="Times New Roman" panose="02020603050405020304" pitchFamily="18" charset="0"/>
              </a:rPr>
              <a:t>k</a:t>
            </a:r>
            <a:r>
              <a:rPr lang="en-US" sz="2000" i="1" baseline="-25000" err="1">
                <a:latin typeface="Times New Roman" panose="02020603050405020304" pitchFamily="18" charset="0"/>
                <a:ea typeface="Calibri" panose="020F0502020204030204" pitchFamily="34" charset="0"/>
                <a:cs typeface="Times New Roman" panose="02020603050405020304" pitchFamily="18" charset="0"/>
              </a:rPr>
              <a:t>cd</a:t>
            </a:r>
            <a:r>
              <a:rPr lang="en-US" sz="2000">
                <a:latin typeface="Times New Roman" panose="02020603050405020304" pitchFamily="18" charset="0"/>
                <a:ea typeface="Calibri" panose="020F0502020204030204" pitchFamily="34" charset="0"/>
                <a:cs typeface="Times New Roman" panose="02020603050405020304" pitchFamily="18" charset="0"/>
              </a:rPr>
              <a:t>=0.58; both have same unit</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Rectangle 14"/>
          <p:cNvSpPr/>
          <p:nvPr/>
        </p:nvSpPr>
        <p:spPr>
          <a:xfrm>
            <a:off x="5630244" y="2467331"/>
            <a:ext cx="3863558" cy="405367"/>
          </a:xfrm>
          <a:prstGeom prst="rect">
            <a:avLst/>
          </a:prstGeom>
        </p:spPr>
        <p:txBody>
          <a:bodyPr wrap="none">
            <a:spAutoFit/>
          </a:bodyPr>
          <a:lstStyle/>
          <a:p>
            <a:pPr marL="228600" marR="0" algn="just">
              <a:lnSpc>
                <a:spcPct val="107000"/>
              </a:lnSpc>
              <a:spcBef>
                <a:spcPts val="0"/>
              </a:spcBef>
              <a:spcAft>
                <a:spcPts val="800"/>
              </a:spcAft>
            </a:pPr>
            <a:r>
              <a:rPr lang="en-US" sz="2000">
                <a:latin typeface="Times New Roman" panose="02020603050405020304" pitchFamily="18" charset="0"/>
                <a:ea typeface="Calibri" panose="020F0502020204030204" pitchFamily="34" charset="0"/>
                <a:cs typeface="Times New Roman" panose="02020603050405020304" pitchFamily="18" charset="0"/>
              </a:rPr>
              <a:t>Subscript </a:t>
            </a:r>
            <a:r>
              <a:rPr lang="en-US" sz="2000" i="1">
                <a:latin typeface="Times New Roman" panose="02020603050405020304" pitchFamily="18" charset="0"/>
                <a:ea typeface="Calibri" panose="020F0502020204030204" pitchFamily="34" charset="0"/>
                <a:cs typeface="Times New Roman" panose="02020603050405020304" pitchFamily="18" charset="0"/>
              </a:rPr>
              <a:t>cd</a:t>
            </a:r>
            <a:r>
              <a:rPr lang="en-US" sz="2000">
                <a:latin typeface="Times New Roman" panose="02020603050405020304" pitchFamily="18" charset="0"/>
                <a:ea typeface="Calibri" panose="020F0502020204030204" pitchFamily="34" charset="0"/>
                <a:cs typeface="Times New Roman" panose="02020603050405020304" pitchFamily="18" charset="0"/>
              </a:rPr>
              <a:t> stands for </a:t>
            </a:r>
            <a:r>
              <a:rPr lang="en-US" sz="2000" i="1">
                <a:latin typeface="Times New Roman" panose="02020603050405020304" pitchFamily="18" charset="0"/>
                <a:ea typeface="Calibri" panose="020F0502020204030204" pitchFamily="34" charset="0"/>
                <a:cs typeface="Times New Roman" panose="02020603050405020304" pitchFamily="18" charset="0"/>
              </a:rPr>
              <a:t>cold drink</a:t>
            </a:r>
            <a:endParaRPr lang="en-US" sz="2000" i="1">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Box 15"/>
          <p:cNvSpPr txBox="1"/>
          <p:nvPr/>
        </p:nvSpPr>
        <p:spPr>
          <a:xfrm>
            <a:off x="609695" y="3028112"/>
            <a:ext cx="10535977" cy="400110"/>
          </a:xfrm>
          <a:prstGeom prst="rect">
            <a:avLst/>
          </a:prstGeom>
          <a:noFill/>
        </p:spPr>
        <p:txBody>
          <a:bodyPr wrap="square" rtlCol="0">
            <a:spAutoFit/>
          </a:bodyPr>
          <a:lstStyle/>
          <a:p>
            <a:r>
              <a:rPr lang="en-US" sz="2000"/>
              <a:t>For high </a:t>
            </a:r>
            <a:r>
              <a:rPr lang="en-US" sz="2000" i="1" err="1"/>
              <a:t>Pr</a:t>
            </a:r>
            <a:r>
              <a:rPr lang="en-US" sz="2000"/>
              <a:t> number fluids (e.g. air, water </a:t>
            </a:r>
            <a:r>
              <a:rPr lang="en-US" sz="2000" i="1"/>
              <a:t>etc.</a:t>
            </a:r>
            <a:r>
              <a:rPr lang="en-US" sz="2000"/>
              <a:t>) the </a:t>
            </a:r>
            <a:r>
              <a:rPr lang="en-US" sz="2000" i="1"/>
              <a:t>Nu</a:t>
            </a:r>
            <a:r>
              <a:rPr lang="en-US" sz="2000"/>
              <a:t> scales as </a:t>
            </a:r>
          </a:p>
        </p:txBody>
      </p:sp>
      <p:graphicFrame>
        <p:nvGraphicFramePr>
          <p:cNvPr id="18" name="Object 17"/>
          <p:cNvGraphicFramePr>
            <a:graphicFrameLocks noChangeAspect="1"/>
          </p:cNvGraphicFramePr>
          <p:nvPr>
            <p:extLst>
              <p:ext uri="{D42A27DB-BD31-4B8C-83A1-F6EECF244321}">
                <p14:modId xmlns:p14="http://schemas.microsoft.com/office/powerpoint/2010/main" val="2435890406"/>
              </p:ext>
            </p:extLst>
          </p:nvPr>
        </p:nvGraphicFramePr>
        <p:xfrm>
          <a:off x="792457" y="3948242"/>
          <a:ext cx="2144049" cy="792723"/>
        </p:xfrm>
        <a:graphic>
          <a:graphicData uri="http://schemas.openxmlformats.org/presentationml/2006/ole">
            <mc:AlternateContent xmlns:mc="http://schemas.openxmlformats.org/markup-compatibility/2006">
              <mc:Choice xmlns:v="urn:schemas-microsoft-com:vml" Requires="v">
                <p:oleObj name="Equation" r:id="rId4" imgW="1066680" imgH="393480" progId="Equation.DSMT4">
                  <p:embed/>
                </p:oleObj>
              </mc:Choice>
              <mc:Fallback>
                <p:oleObj name="Equation" r:id="rId4" imgW="1066680" imgH="393480" progId="Equation.DSMT4">
                  <p:embed/>
                  <p:pic>
                    <p:nvPicPr>
                      <p:cNvPr id="18" name="Object 17"/>
                      <p:cNvPicPr/>
                      <p:nvPr/>
                    </p:nvPicPr>
                    <p:blipFill>
                      <a:blip r:embed="rId5"/>
                      <a:stretch>
                        <a:fillRect/>
                      </a:stretch>
                    </p:blipFill>
                    <p:spPr>
                      <a:xfrm>
                        <a:off x="792457" y="3948242"/>
                        <a:ext cx="2144049" cy="792723"/>
                      </a:xfrm>
                      <a:prstGeom prst="rect">
                        <a:avLst/>
                      </a:prstGeom>
                    </p:spPr>
                  </p:pic>
                </p:oleObj>
              </mc:Fallback>
            </mc:AlternateContent>
          </a:graphicData>
        </a:graphic>
      </p:graphicFrame>
      <p:graphicFrame>
        <p:nvGraphicFramePr>
          <p:cNvPr id="20" name="Object 19"/>
          <p:cNvGraphicFramePr>
            <a:graphicFrameLocks noChangeAspect="1"/>
          </p:cNvGraphicFramePr>
          <p:nvPr>
            <p:extLst>
              <p:ext uri="{D42A27DB-BD31-4B8C-83A1-F6EECF244321}">
                <p14:modId xmlns:p14="http://schemas.microsoft.com/office/powerpoint/2010/main" val="2437833555"/>
              </p:ext>
            </p:extLst>
          </p:nvPr>
        </p:nvGraphicFramePr>
        <p:xfrm>
          <a:off x="7135907" y="3948242"/>
          <a:ext cx="2006255" cy="796274"/>
        </p:xfrm>
        <a:graphic>
          <a:graphicData uri="http://schemas.openxmlformats.org/presentationml/2006/ole">
            <mc:AlternateContent xmlns:mc="http://schemas.openxmlformats.org/markup-compatibility/2006">
              <mc:Choice xmlns:v="urn:schemas-microsoft-com:vml" Requires="v">
                <p:oleObj name="Equation" r:id="rId6" imgW="1054080" imgH="419040" progId="Equation.DSMT4">
                  <p:embed/>
                </p:oleObj>
              </mc:Choice>
              <mc:Fallback>
                <p:oleObj name="Equation" r:id="rId6" imgW="1054080" imgH="419040" progId="Equation.DSMT4">
                  <p:embed/>
                  <p:pic>
                    <p:nvPicPr>
                      <p:cNvPr id="20" name="Object 19"/>
                      <p:cNvPicPr/>
                      <p:nvPr/>
                    </p:nvPicPr>
                    <p:blipFill>
                      <a:blip r:embed="rId7"/>
                      <a:stretch>
                        <a:fillRect/>
                      </a:stretch>
                    </p:blipFill>
                    <p:spPr>
                      <a:xfrm>
                        <a:off x="7135907" y="3948242"/>
                        <a:ext cx="2006255" cy="796274"/>
                      </a:xfrm>
                      <a:prstGeom prst="rect">
                        <a:avLst/>
                      </a:prstGeom>
                    </p:spPr>
                  </p:pic>
                </p:oleObj>
              </mc:Fallback>
            </mc:AlternateContent>
          </a:graphicData>
        </a:graphic>
      </p:graphicFrame>
      <p:sp>
        <p:nvSpPr>
          <p:cNvPr id="21" name="Rectangle 20"/>
          <p:cNvSpPr/>
          <p:nvPr/>
        </p:nvSpPr>
        <p:spPr>
          <a:xfrm>
            <a:off x="3342753" y="4158710"/>
            <a:ext cx="3793154" cy="400110"/>
          </a:xfrm>
          <a:prstGeom prst="rect">
            <a:avLst/>
          </a:prstGeom>
        </p:spPr>
        <p:txBody>
          <a:bodyPr wrap="none">
            <a:spAutoFit/>
          </a:bodyPr>
          <a:lstStyle/>
          <a:p>
            <a:r>
              <a:rPr lang="en-US" sz="2000">
                <a:solidFill>
                  <a:srgbClr val="292526"/>
                </a:solidFill>
                <a:latin typeface="+mj-lt"/>
              </a:rPr>
              <a:t>Where,</a:t>
            </a:r>
            <a:r>
              <a:rPr lang="en-US" sz="2000" i="1">
                <a:solidFill>
                  <a:srgbClr val="292526"/>
                </a:solidFill>
                <a:latin typeface="+mj-lt"/>
              </a:rPr>
              <a:t> </a:t>
            </a:r>
            <a:r>
              <a:rPr lang="en-US" sz="2000" i="1" err="1">
                <a:solidFill>
                  <a:srgbClr val="292526"/>
                </a:solidFill>
                <a:latin typeface="+mj-lt"/>
              </a:rPr>
              <a:t>Ra</a:t>
            </a:r>
            <a:r>
              <a:rPr lang="en-US" sz="2000" i="1" baseline="-25000" err="1">
                <a:solidFill>
                  <a:srgbClr val="292526"/>
                </a:solidFill>
                <a:latin typeface="+mj-lt"/>
              </a:rPr>
              <a:t>H</a:t>
            </a:r>
            <a:r>
              <a:rPr lang="en-US" sz="2000" i="1" baseline="-25000">
                <a:solidFill>
                  <a:srgbClr val="292526"/>
                </a:solidFill>
                <a:latin typeface="+mj-lt"/>
              </a:rPr>
              <a:t> </a:t>
            </a:r>
            <a:r>
              <a:rPr lang="en-US" sz="2000">
                <a:solidFill>
                  <a:srgbClr val="292526"/>
                </a:solidFill>
                <a:latin typeface="+mj-lt"/>
              </a:rPr>
              <a:t>is the </a:t>
            </a:r>
            <a:r>
              <a:rPr lang="en-US" sz="2000" i="1">
                <a:solidFill>
                  <a:srgbClr val="292526"/>
                </a:solidFill>
                <a:latin typeface="+mj-lt"/>
              </a:rPr>
              <a:t>Rayleigh number</a:t>
            </a:r>
            <a:endParaRPr lang="en-US" sz="2000">
              <a:latin typeface="+mj-lt"/>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1679068759"/>
              </p:ext>
            </p:extLst>
          </p:nvPr>
        </p:nvGraphicFramePr>
        <p:xfrm>
          <a:off x="792457" y="5062741"/>
          <a:ext cx="2240114" cy="846872"/>
        </p:xfrm>
        <a:graphic>
          <a:graphicData uri="http://schemas.openxmlformats.org/presentationml/2006/ole">
            <mc:AlternateContent xmlns:mc="http://schemas.openxmlformats.org/markup-compatibility/2006">
              <mc:Choice xmlns:v="urn:schemas-microsoft-com:vml" Requires="v">
                <p:oleObj name="Equation" r:id="rId8" imgW="1041120" imgH="393480" progId="Equation.DSMT4">
                  <p:embed/>
                </p:oleObj>
              </mc:Choice>
              <mc:Fallback>
                <p:oleObj name="Equation" r:id="rId8" imgW="1041120" imgH="393480" progId="Equation.DSMT4">
                  <p:embed/>
                  <p:pic>
                    <p:nvPicPr>
                      <p:cNvPr id="3" name="Object 2"/>
                      <p:cNvPicPr/>
                      <p:nvPr/>
                    </p:nvPicPr>
                    <p:blipFill>
                      <a:blip r:embed="rId9"/>
                      <a:stretch>
                        <a:fillRect/>
                      </a:stretch>
                    </p:blipFill>
                    <p:spPr>
                      <a:xfrm>
                        <a:off x="792457" y="5062741"/>
                        <a:ext cx="2240114" cy="846872"/>
                      </a:xfrm>
                      <a:prstGeom prst="rect">
                        <a:avLst/>
                      </a:prstGeom>
                    </p:spPr>
                  </p:pic>
                </p:oleObj>
              </mc:Fallback>
            </mc:AlternateContent>
          </a:graphicData>
        </a:graphic>
      </p:graphicFrame>
      <p:sp>
        <p:nvSpPr>
          <p:cNvPr id="4" name="Rectangle 3"/>
          <p:cNvSpPr/>
          <p:nvPr/>
        </p:nvSpPr>
        <p:spPr>
          <a:xfrm>
            <a:off x="3342752" y="5255674"/>
            <a:ext cx="3815468" cy="400110"/>
          </a:xfrm>
          <a:prstGeom prst="rect">
            <a:avLst/>
          </a:prstGeom>
        </p:spPr>
        <p:txBody>
          <a:bodyPr wrap="none">
            <a:spAutoFit/>
          </a:bodyPr>
          <a:lstStyle/>
          <a:p>
            <a:r>
              <a:rPr lang="en-US" sz="2000">
                <a:latin typeface="Times New Roman" panose="02020603050405020304" pitchFamily="18" charset="0"/>
                <a:ea typeface="Calibri" panose="020F0502020204030204" pitchFamily="34" charset="0"/>
                <a:cs typeface="Times New Roman" panose="02020603050405020304" pitchFamily="18" charset="0"/>
              </a:rPr>
              <a:t>Where</a:t>
            </a:r>
            <a:r>
              <a:rPr lang="en-US" sz="2000" i="1">
                <a:latin typeface="Times New Roman" panose="02020603050405020304" pitchFamily="18" charset="0"/>
                <a:ea typeface="Calibri" panose="020F0502020204030204" pitchFamily="34" charset="0"/>
                <a:cs typeface="Times New Roman" panose="02020603050405020304" pitchFamily="18" charset="0"/>
              </a:rPr>
              <a:t> L</a:t>
            </a:r>
            <a:r>
              <a:rPr lang="en-US" sz="2000">
                <a:latin typeface="Times New Roman" panose="02020603050405020304" pitchFamily="18" charset="0"/>
                <a:ea typeface="Calibri" panose="020F0502020204030204" pitchFamily="34" charset="0"/>
                <a:cs typeface="Times New Roman" panose="02020603050405020304" pitchFamily="18" charset="0"/>
              </a:rPr>
              <a:t> is the characteristic length</a:t>
            </a:r>
            <a:endParaRPr lang="en-US" sz="2000" i="1">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p:cNvSpPr txBox="1"/>
          <p:nvPr/>
        </p:nvSpPr>
        <p:spPr>
          <a:xfrm>
            <a:off x="615698" y="4696280"/>
            <a:ext cx="5454109" cy="400110"/>
          </a:xfrm>
          <a:prstGeom prst="rect">
            <a:avLst/>
          </a:prstGeom>
          <a:noFill/>
        </p:spPr>
        <p:txBody>
          <a:bodyPr wrap="square" rtlCol="0">
            <a:spAutoFit/>
          </a:bodyPr>
          <a:lstStyle/>
          <a:p>
            <a:r>
              <a:rPr lang="en-US" sz="2000" b="1"/>
              <a:t>For heat transfer from horizontal walls</a:t>
            </a:r>
          </a:p>
        </p:txBody>
      </p:sp>
      <p:sp>
        <p:nvSpPr>
          <p:cNvPr id="23" name="TextBox 22"/>
          <p:cNvSpPr txBox="1"/>
          <p:nvPr/>
        </p:nvSpPr>
        <p:spPr>
          <a:xfrm>
            <a:off x="580888" y="3576456"/>
            <a:ext cx="5454109" cy="400110"/>
          </a:xfrm>
          <a:prstGeom prst="rect">
            <a:avLst/>
          </a:prstGeom>
          <a:noFill/>
        </p:spPr>
        <p:txBody>
          <a:bodyPr wrap="square" rtlCol="0">
            <a:spAutoFit/>
          </a:bodyPr>
          <a:lstStyle/>
          <a:p>
            <a:r>
              <a:rPr lang="en-US" sz="2000" b="1"/>
              <a:t>For heat transfer from vertical walls</a:t>
            </a:r>
          </a:p>
        </p:txBody>
      </p:sp>
      <p:sp>
        <p:nvSpPr>
          <p:cNvPr id="6" name="TextBox 5"/>
          <p:cNvSpPr txBox="1"/>
          <p:nvPr/>
        </p:nvSpPr>
        <p:spPr>
          <a:xfrm>
            <a:off x="687814" y="5879997"/>
            <a:ext cx="3066039" cy="400110"/>
          </a:xfrm>
          <a:prstGeom prst="rect">
            <a:avLst/>
          </a:prstGeom>
          <a:noFill/>
        </p:spPr>
        <p:txBody>
          <a:bodyPr wrap="square" rtlCol="0">
            <a:spAutoFit/>
          </a:bodyPr>
          <a:lstStyle/>
          <a:p>
            <a:r>
              <a:rPr lang="en-US" sz="2000"/>
              <a:t>Consider </a:t>
            </a:r>
            <a:r>
              <a:rPr lang="en-US" sz="2000" i="1"/>
              <a:t>H=5L </a:t>
            </a:r>
            <a:r>
              <a:rPr lang="en-US" sz="2000"/>
              <a:t>and assume </a:t>
            </a:r>
          </a:p>
        </p:txBody>
      </p:sp>
      <p:graphicFrame>
        <p:nvGraphicFramePr>
          <p:cNvPr id="7" name="Object 6"/>
          <p:cNvGraphicFramePr>
            <a:graphicFrameLocks noChangeAspect="1"/>
          </p:cNvGraphicFramePr>
          <p:nvPr>
            <p:extLst>
              <p:ext uri="{D42A27DB-BD31-4B8C-83A1-F6EECF244321}">
                <p14:modId xmlns:p14="http://schemas.microsoft.com/office/powerpoint/2010/main" val="2493416894"/>
              </p:ext>
            </p:extLst>
          </p:nvPr>
        </p:nvGraphicFramePr>
        <p:xfrm>
          <a:off x="3716834" y="5837928"/>
          <a:ext cx="2679266" cy="484248"/>
        </p:xfrm>
        <a:graphic>
          <a:graphicData uri="http://schemas.openxmlformats.org/presentationml/2006/ole">
            <mc:AlternateContent xmlns:mc="http://schemas.openxmlformats.org/markup-compatibility/2006">
              <mc:Choice xmlns:v="urn:schemas-microsoft-com:vml" Requires="v">
                <p:oleObj name="Equation" r:id="rId10" imgW="1409400" imgH="253800" progId="Equation.DSMT4">
                  <p:embed/>
                </p:oleObj>
              </mc:Choice>
              <mc:Fallback>
                <p:oleObj name="Equation" r:id="rId10" imgW="1409400" imgH="253800" progId="Equation.DSMT4">
                  <p:embed/>
                  <p:pic>
                    <p:nvPicPr>
                      <p:cNvPr id="7" name="Object 6"/>
                      <p:cNvPicPr/>
                      <p:nvPr/>
                    </p:nvPicPr>
                    <p:blipFill>
                      <a:blip r:embed="rId11"/>
                      <a:stretch>
                        <a:fillRect/>
                      </a:stretch>
                    </p:blipFill>
                    <p:spPr>
                      <a:xfrm>
                        <a:off x="3716834" y="5837928"/>
                        <a:ext cx="2679266" cy="484248"/>
                      </a:xfrm>
                      <a:prstGeom prst="rect">
                        <a:avLst/>
                      </a:prstGeom>
                    </p:spPr>
                  </p:pic>
                </p:oleObj>
              </mc:Fallback>
            </mc:AlternateContent>
          </a:graphicData>
        </a:graphic>
      </p:graphicFrame>
      <p:sp>
        <p:nvSpPr>
          <p:cNvPr id="24" name="Rectangle 23"/>
          <p:cNvSpPr/>
          <p:nvPr/>
        </p:nvSpPr>
        <p:spPr>
          <a:xfrm>
            <a:off x="6396100" y="5885531"/>
            <a:ext cx="5117619" cy="400110"/>
          </a:xfrm>
          <a:prstGeom prst="rect">
            <a:avLst/>
          </a:prstGeom>
        </p:spPr>
        <p:txBody>
          <a:bodyPr wrap="none">
            <a:spAutoFit/>
          </a:bodyPr>
          <a:lstStyle/>
          <a:p>
            <a:r>
              <a:rPr lang="en-US" sz="2000">
                <a:latin typeface="Times New Roman" panose="02020603050405020304" pitchFamily="18" charset="0"/>
                <a:ea typeface="Calibri" panose="020F0502020204030204" pitchFamily="34" charset="0"/>
                <a:cs typeface="Times New Roman" panose="02020603050405020304" pitchFamily="18" charset="0"/>
              </a:rPr>
              <a:t>Where</a:t>
            </a:r>
            <a:r>
              <a:rPr lang="en-US" sz="2000" i="1">
                <a:latin typeface="Times New Roman" panose="02020603050405020304" pitchFamily="18" charset="0"/>
                <a:ea typeface="Calibri" panose="020F0502020204030204" pitchFamily="34" charset="0"/>
                <a:cs typeface="Times New Roman" panose="02020603050405020304" pitchFamily="18" charset="0"/>
              </a:rPr>
              <a:t> </a:t>
            </a:r>
            <a:r>
              <a:rPr lang="en-US" sz="2000" i="1" err="1">
                <a:latin typeface="Times New Roman" panose="02020603050405020304" pitchFamily="18" charset="0"/>
                <a:ea typeface="Calibri" panose="020F0502020204030204" pitchFamily="34" charset="0"/>
                <a:cs typeface="Times New Roman" panose="02020603050405020304" pitchFamily="18" charset="0"/>
              </a:rPr>
              <a:t>T</a:t>
            </a:r>
            <a:r>
              <a:rPr lang="en-US" sz="2000" i="1" baseline="-25000" err="1">
                <a:latin typeface="Times New Roman" panose="02020603050405020304" pitchFamily="18" charset="0"/>
                <a:ea typeface="Calibri" panose="020F0502020204030204" pitchFamily="34" charset="0"/>
                <a:cs typeface="Times New Roman" panose="02020603050405020304" pitchFamily="18" charset="0"/>
              </a:rPr>
              <a:t>s</a:t>
            </a:r>
            <a:r>
              <a:rPr lang="en-US" sz="2000">
                <a:latin typeface="Times New Roman" panose="02020603050405020304" pitchFamily="18" charset="0"/>
                <a:ea typeface="Calibri" panose="020F0502020204030204" pitchFamily="34" charset="0"/>
                <a:cs typeface="Times New Roman" panose="02020603050405020304" pitchFamily="18" charset="0"/>
              </a:rPr>
              <a:t> is the surface temperature of the bottle</a:t>
            </a:r>
            <a:endParaRPr lang="en-US" sz="2000" i="1">
              <a:latin typeface="Times New Roman" panose="02020603050405020304" pitchFamily="18" charset="0"/>
              <a:ea typeface="Calibri" panose="020F0502020204030204" pitchFamily="34" charset="0"/>
              <a:cs typeface="Times New Roman" panose="02020603050405020304" pitchFamily="18" charset="0"/>
            </a:endParaRPr>
          </a:p>
        </p:txBody>
      </p:sp>
      <p:sp>
        <p:nvSpPr>
          <p:cNvPr id="25" name="Rectangle 24"/>
          <p:cNvSpPr/>
          <p:nvPr/>
        </p:nvSpPr>
        <p:spPr>
          <a:xfrm>
            <a:off x="9493802" y="4033079"/>
            <a:ext cx="2555984" cy="707886"/>
          </a:xfrm>
          <a:prstGeom prst="rect">
            <a:avLst/>
          </a:prstGeom>
        </p:spPr>
        <p:txBody>
          <a:bodyPr wrap="square">
            <a:spAutoFit/>
          </a:bodyPr>
          <a:lstStyle/>
          <a:p>
            <a:r>
              <a:rPr lang="en-US" sz="2000">
                <a:latin typeface="Times New Roman" panose="02020603050405020304" pitchFamily="18" charset="0"/>
                <a:ea typeface="Calibri" panose="020F0502020204030204" pitchFamily="34" charset="0"/>
                <a:cs typeface="Times New Roman" panose="02020603050405020304" pitchFamily="18" charset="0"/>
              </a:rPr>
              <a:t>Where</a:t>
            </a:r>
            <a:r>
              <a:rPr lang="en-US" sz="2000" i="1">
                <a:latin typeface="Times New Roman" panose="02020603050405020304" pitchFamily="18" charset="0"/>
                <a:ea typeface="Calibri" panose="020F0502020204030204" pitchFamily="34" charset="0"/>
                <a:cs typeface="Times New Roman" panose="02020603050405020304" pitchFamily="18" charset="0"/>
              </a:rPr>
              <a:t> H</a:t>
            </a:r>
            <a:r>
              <a:rPr lang="en-US" sz="2000">
                <a:latin typeface="Times New Roman" panose="02020603050405020304" pitchFamily="18" charset="0"/>
                <a:ea typeface="Calibri" panose="020F0502020204030204" pitchFamily="34" charset="0"/>
                <a:cs typeface="Times New Roman" panose="02020603050405020304" pitchFamily="18" charset="0"/>
              </a:rPr>
              <a:t> is the height of the wall </a:t>
            </a:r>
            <a:endParaRPr lang="en-US" sz="2000" i="1">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78424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5120745"/>
            <a:ext cx="11125199" cy="461665"/>
          </a:xfrm>
          <a:prstGeom prst="rect">
            <a:avLst/>
          </a:prstGeom>
        </p:spPr>
        <p:txBody>
          <a:bodyPr wrap="square">
            <a:spAutoFit/>
          </a:bodyPr>
          <a:lstStyle/>
          <a:p>
            <a:r>
              <a:rPr lang="en-US" sz="2400" b="1">
                <a:latin typeface="Times New Roman" panose="02020603050405020304" pitchFamily="18" charset="0"/>
              </a:rPr>
              <a:t>Find: </a:t>
            </a:r>
            <a:r>
              <a:rPr lang="en-US" sz="2400">
                <a:latin typeface="Times New Roman" panose="02020603050405020304" pitchFamily="18" charset="0"/>
              </a:rPr>
              <a:t>Whether to place the bottle vertically or horizontally for faster cooling </a:t>
            </a:r>
            <a:endParaRPr lang="en-US" sz="2400"/>
          </a:p>
        </p:txBody>
      </p:sp>
      <p:sp>
        <p:nvSpPr>
          <p:cNvPr id="5" name="Rectangle 4"/>
          <p:cNvSpPr/>
          <p:nvPr/>
        </p:nvSpPr>
        <p:spPr>
          <a:xfrm>
            <a:off x="353289" y="1726466"/>
            <a:ext cx="11260668" cy="2785378"/>
          </a:xfrm>
          <a:prstGeom prst="rect">
            <a:avLst/>
          </a:prstGeom>
        </p:spPr>
        <p:txBody>
          <a:bodyPr wrap="square">
            <a:spAutoFit/>
          </a:bodyPr>
          <a:lstStyle/>
          <a:p>
            <a:pPr algn="just">
              <a:lnSpc>
                <a:spcPts val="3500"/>
              </a:lnSpc>
            </a:pPr>
            <a:r>
              <a:rPr lang="en-US" sz="2400" b="1">
                <a:latin typeface="Times New Roman" panose="02020603050405020304" pitchFamily="18" charset="0"/>
              </a:rPr>
              <a:t>Assumptions: </a:t>
            </a:r>
            <a:r>
              <a:rPr lang="en-US" sz="2400">
                <a:latin typeface="Times New Roman" panose="02020603050405020304" pitchFamily="18" charset="0"/>
              </a:rPr>
              <a:t>(1) The bottle is cooled only by natural convection (2) </a:t>
            </a:r>
            <a:r>
              <a:rPr lang="en-US" sz="2400">
                <a:solidFill>
                  <a:srgbClr val="000000"/>
                </a:solidFill>
                <a:latin typeface="Times New Roman" panose="02020603050405020304" pitchFamily="18" charset="0"/>
                <a:cs typeface="Times New Roman" panose="02020603050405020304" pitchFamily="18" charset="0"/>
              </a:rPr>
              <a:t>N</a:t>
            </a:r>
            <a:r>
              <a:rPr lang="en-US" sz="24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o spatial variation of temperature, the temperature of the surface of the bottle (</a:t>
            </a:r>
            <a:r>
              <a:rPr lang="en-US" sz="2400" i="1"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T</a:t>
            </a:r>
            <a:r>
              <a:rPr lang="en-US" sz="2400" i="1" baseline="-2500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s</a:t>
            </a:r>
            <a:r>
              <a:rPr lang="en-US" sz="24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and cold drink (</a:t>
            </a:r>
            <a:r>
              <a:rPr lang="en-US" sz="2400" i="1"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T</a:t>
            </a:r>
            <a:r>
              <a:rPr lang="en-US" sz="2400" i="1" baseline="-2500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cd</a:t>
            </a:r>
            <a:r>
              <a:rPr lang="en-US" sz="24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and (</a:t>
            </a:r>
            <a:r>
              <a:rPr lang="en-US" sz="2400" i="1"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T</a:t>
            </a:r>
            <a:r>
              <a:rPr lang="en-US" sz="2400" i="1" baseline="-2500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air</a:t>
            </a:r>
            <a:r>
              <a:rPr lang="en-US" sz="24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will remain uniform everywhere and will only change with time </a:t>
            </a:r>
            <a:r>
              <a:rPr lang="en-US" sz="2400">
                <a:latin typeface="Times New Roman" panose="02020603050405020304" pitchFamily="18" charset="0"/>
              </a:rPr>
              <a:t>(3) The cold drink does not contain any bubble or even if it contain bubbles those will have no effect in heat transfer (4) The time of cooling will be approximated by taking an order of magnitude of the time needed for heat transfer (5)  </a:t>
            </a:r>
            <a:endParaRPr lang="en-US" sz="2400"/>
          </a:p>
        </p:txBody>
      </p:sp>
      <p:sp>
        <p:nvSpPr>
          <p:cNvPr id="7" name="TextBox 6"/>
          <p:cNvSpPr txBox="1"/>
          <p:nvPr/>
        </p:nvSpPr>
        <p:spPr>
          <a:xfrm>
            <a:off x="304800" y="1043709"/>
            <a:ext cx="1302328" cy="461665"/>
          </a:xfrm>
          <a:prstGeom prst="rect">
            <a:avLst/>
          </a:prstGeom>
          <a:noFill/>
        </p:spPr>
        <p:txBody>
          <a:bodyPr wrap="square" rtlCol="0">
            <a:spAutoFit/>
          </a:bodyPr>
          <a:lstStyle/>
          <a:p>
            <a:r>
              <a:rPr lang="en-US" sz="2400">
                <a:solidFill>
                  <a:srgbClr val="FF0000"/>
                </a:solidFill>
              </a:rPr>
              <a:t>Solution:</a:t>
            </a:r>
          </a:p>
        </p:txBody>
      </p:sp>
      <p:graphicFrame>
        <p:nvGraphicFramePr>
          <p:cNvPr id="8" name="Object 7"/>
          <p:cNvGraphicFramePr>
            <a:graphicFrameLocks noChangeAspect="1"/>
          </p:cNvGraphicFramePr>
          <p:nvPr>
            <p:extLst>
              <p:ext uri="{D42A27DB-BD31-4B8C-83A1-F6EECF244321}">
                <p14:modId xmlns:p14="http://schemas.microsoft.com/office/powerpoint/2010/main" val="1541427407"/>
              </p:ext>
            </p:extLst>
          </p:nvPr>
        </p:nvGraphicFramePr>
        <p:xfrm>
          <a:off x="4866987" y="4020008"/>
          <a:ext cx="2679700" cy="482600"/>
        </p:xfrm>
        <a:graphic>
          <a:graphicData uri="http://schemas.openxmlformats.org/presentationml/2006/ole">
            <mc:AlternateContent xmlns:mc="http://schemas.openxmlformats.org/markup-compatibility/2006">
              <mc:Choice xmlns:v="urn:schemas-microsoft-com:vml" Requires="v">
                <p:oleObj name="Equation" r:id="rId2" imgW="2679319" imgH="483092" progId="Equation.DSMT4">
                  <p:embed/>
                </p:oleObj>
              </mc:Choice>
              <mc:Fallback>
                <p:oleObj name="Equation" r:id="rId2" imgW="2679319" imgH="483092" progId="Equation.DSMT4">
                  <p:embed/>
                  <p:pic>
                    <p:nvPicPr>
                      <p:cNvPr id="8" name="Object 7"/>
                      <p:cNvPicPr/>
                      <p:nvPr/>
                    </p:nvPicPr>
                    <p:blipFill>
                      <a:blip r:embed="rId3"/>
                      <a:stretch>
                        <a:fillRect/>
                      </a:stretch>
                    </p:blipFill>
                    <p:spPr>
                      <a:xfrm>
                        <a:off x="4866987" y="4020008"/>
                        <a:ext cx="2679700" cy="482600"/>
                      </a:xfrm>
                      <a:prstGeom prst="rect">
                        <a:avLst/>
                      </a:prstGeom>
                    </p:spPr>
                  </p:pic>
                </p:oleObj>
              </mc:Fallback>
            </mc:AlternateContent>
          </a:graphicData>
        </a:graphic>
      </p:graphicFrame>
    </p:spTree>
    <p:extLst>
      <p:ext uri="{BB962C8B-B14F-4D97-AF65-F5344CB8AC3E}">
        <p14:creationId xmlns:p14="http://schemas.microsoft.com/office/powerpoint/2010/main" val="713563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D22F896-40B5-4ADD-8801-0D06FADFA095}" type="slidenum">
              <a:rPr lang="en-US" smtClean="0"/>
              <a:t>4</a:t>
            </a:fld>
            <a:endParaRPr lang="en-US"/>
          </a:p>
        </p:txBody>
      </p:sp>
      <p:sp>
        <p:nvSpPr>
          <p:cNvPr id="3" name="TextBox 2"/>
          <p:cNvSpPr txBox="1"/>
          <p:nvPr/>
        </p:nvSpPr>
        <p:spPr>
          <a:xfrm>
            <a:off x="304800" y="1043709"/>
            <a:ext cx="1302328" cy="461665"/>
          </a:xfrm>
          <a:prstGeom prst="rect">
            <a:avLst/>
          </a:prstGeom>
          <a:noFill/>
        </p:spPr>
        <p:txBody>
          <a:bodyPr wrap="square" rtlCol="0">
            <a:spAutoFit/>
          </a:bodyPr>
          <a:lstStyle/>
          <a:p>
            <a:r>
              <a:rPr lang="en-US" sz="2400">
                <a:solidFill>
                  <a:srgbClr val="FF0000"/>
                </a:solidFill>
              </a:rPr>
              <a:t>Solution:</a:t>
            </a:r>
          </a:p>
        </p:txBody>
      </p:sp>
      <p:sp>
        <p:nvSpPr>
          <p:cNvPr id="5" name="Rectangle 4"/>
          <p:cNvSpPr/>
          <p:nvPr/>
        </p:nvSpPr>
        <p:spPr>
          <a:xfrm>
            <a:off x="189298" y="1825412"/>
            <a:ext cx="11397672" cy="882678"/>
          </a:xfrm>
          <a:prstGeom prst="rect">
            <a:avLst/>
          </a:prstGeom>
        </p:spPr>
        <p:txBody>
          <a:bodyPr wrap="square">
            <a:spAutoFit/>
          </a:bodyPr>
          <a:lstStyle/>
          <a:p>
            <a:pPr marL="228600" marR="0" algn="just">
              <a:lnSpc>
                <a:spcPct val="107000"/>
              </a:lnSpc>
              <a:spcBef>
                <a:spcPts val="0"/>
              </a:spcBef>
              <a:spcAft>
                <a:spcPts val="800"/>
              </a:spcAft>
            </a:pPr>
            <a:r>
              <a:rPr lang="en-US" sz="24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rate of cooling down of the bottle (Q) will be (assuming no spatial variation of temperature and the cold drink temperature will be uniform and </a:t>
            </a:r>
            <a:r>
              <a:rPr lang="en-US" sz="2400" i="1"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T</a:t>
            </a:r>
            <a:r>
              <a:rPr lang="en-US" sz="2400" i="1" baseline="-2500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cd</a:t>
            </a:r>
            <a:r>
              <a:rPr lang="en-US" sz="24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any time instant),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2424965166"/>
              </p:ext>
            </p:extLst>
          </p:nvPr>
        </p:nvGraphicFramePr>
        <p:xfrm>
          <a:off x="552572" y="2873608"/>
          <a:ext cx="2556832" cy="1036212"/>
        </p:xfrm>
        <a:graphic>
          <a:graphicData uri="http://schemas.openxmlformats.org/presentationml/2006/ole">
            <mc:AlternateContent xmlns:mc="http://schemas.openxmlformats.org/markup-compatibility/2006">
              <mc:Choice xmlns:v="urn:schemas-microsoft-com:vml" Requires="v">
                <p:oleObj name="Equation" r:id="rId2" imgW="1002960" imgH="406080" progId="Equation.DSMT4">
                  <p:embed/>
                </p:oleObj>
              </mc:Choice>
              <mc:Fallback>
                <p:oleObj name="Equation" r:id="rId2" imgW="1002960" imgH="406080" progId="Equation.DSMT4">
                  <p:embed/>
                  <p:pic>
                    <p:nvPicPr>
                      <p:cNvPr id="6" name="Object 5"/>
                      <p:cNvPicPr/>
                      <p:nvPr/>
                    </p:nvPicPr>
                    <p:blipFill>
                      <a:blip r:embed="rId3"/>
                      <a:stretch>
                        <a:fillRect/>
                      </a:stretch>
                    </p:blipFill>
                    <p:spPr>
                      <a:xfrm>
                        <a:off x="552572" y="2873608"/>
                        <a:ext cx="2556832" cy="1036212"/>
                      </a:xfrm>
                      <a:prstGeom prst="rect">
                        <a:avLst/>
                      </a:prstGeom>
                    </p:spPr>
                  </p:pic>
                </p:oleObj>
              </mc:Fallback>
            </mc:AlternateContent>
          </a:graphicData>
        </a:graphic>
      </p:graphicFrame>
      <p:sp>
        <p:nvSpPr>
          <p:cNvPr id="8" name="Rectangle 7"/>
          <p:cNvSpPr/>
          <p:nvPr/>
        </p:nvSpPr>
        <p:spPr>
          <a:xfrm>
            <a:off x="4614427" y="3153415"/>
            <a:ext cx="3735318" cy="487506"/>
          </a:xfrm>
          <a:prstGeom prst="rect">
            <a:avLst/>
          </a:prstGeom>
        </p:spPr>
        <p:txBody>
          <a:bodyPr wrap="none">
            <a:spAutoFit/>
          </a:bodyPr>
          <a:lstStyle/>
          <a:p>
            <a:pPr marL="228600" marR="0" algn="just">
              <a:lnSpc>
                <a:spcPct val="107000"/>
              </a:lnSpc>
              <a:spcBef>
                <a:spcPts val="0"/>
              </a:spcBef>
              <a:spcAft>
                <a:spcPts val="800"/>
              </a:spcAft>
            </a:pPr>
            <a:r>
              <a:rPr lang="en-US" sz="2400">
                <a:latin typeface="Times New Roman" panose="02020603050405020304" pitchFamily="18" charset="0"/>
                <a:ea typeface="Calibri" panose="020F0502020204030204" pitchFamily="34" charset="0"/>
                <a:cs typeface="Times New Roman" panose="02020603050405020304" pitchFamily="18" charset="0"/>
              </a:rPr>
              <a:t>where </a:t>
            </a:r>
            <a:r>
              <a:rPr lang="en-US" sz="2400" i="1">
                <a:latin typeface="Times New Roman" panose="02020603050405020304" pitchFamily="18" charset="0"/>
                <a:ea typeface="Calibri" panose="020F0502020204030204" pitchFamily="34" charset="0"/>
                <a:cs typeface="Times New Roman" panose="02020603050405020304" pitchFamily="18" charset="0"/>
              </a:rPr>
              <a:t>c</a:t>
            </a:r>
            <a:r>
              <a:rPr lang="en-US" sz="2400">
                <a:latin typeface="Times New Roman" panose="02020603050405020304" pitchFamily="18" charset="0"/>
                <a:ea typeface="Calibri" panose="020F0502020204030204" pitchFamily="34" charset="0"/>
                <a:cs typeface="Times New Roman" panose="02020603050405020304" pitchFamily="18" charset="0"/>
              </a:rPr>
              <a:t> is the specific heat</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p:cNvSpPr txBox="1"/>
          <p:nvPr/>
        </p:nvSpPr>
        <p:spPr>
          <a:xfrm>
            <a:off x="2972826" y="3153415"/>
            <a:ext cx="1237673" cy="461665"/>
          </a:xfrm>
          <a:prstGeom prst="rect">
            <a:avLst/>
          </a:prstGeom>
          <a:noFill/>
        </p:spPr>
        <p:txBody>
          <a:bodyPr wrap="square" rtlCol="0">
            <a:spAutoFit/>
          </a:bodyPr>
          <a:lstStyle/>
          <a:p>
            <a:r>
              <a:rPr lang="en-US" sz="2400"/>
              <a:t>…….(1)</a:t>
            </a:r>
          </a:p>
        </p:txBody>
      </p:sp>
      <p:sp>
        <p:nvSpPr>
          <p:cNvPr id="11" name="Rectangle 10"/>
          <p:cNvSpPr/>
          <p:nvPr/>
        </p:nvSpPr>
        <p:spPr>
          <a:xfrm>
            <a:off x="304800" y="4213248"/>
            <a:ext cx="4958409" cy="487506"/>
          </a:xfrm>
          <a:prstGeom prst="rect">
            <a:avLst/>
          </a:prstGeom>
        </p:spPr>
        <p:txBody>
          <a:bodyPr wrap="none">
            <a:spAutoFit/>
          </a:bodyPr>
          <a:lstStyle/>
          <a:p>
            <a:pPr marL="228600" marR="0" algn="just">
              <a:lnSpc>
                <a:spcPct val="107000"/>
              </a:lnSpc>
              <a:spcBef>
                <a:spcPts val="0"/>
              </a:spcBef>
              <a:spcAft>
                <a:spcPts val="800"/>
              </a:spcAft>
            </a:pPr>
            <a:r>
              <a:rPr lang="en-US" sz="2400">
                <a:latin typeface="Times New Roman" panose="02020603050405020304" pitchFamily="18" charset="0"/>
                <a:ea typeface="Calibri" panose="020F0502020204030204" pitchFamily="34" charset="0"/>
                <a:cs typeface="Times New Roman" panose="02020603050405020304" pitchFamily="18" charset="0"/>
              </a:rPr>
              <a:t>Now this heat is dissipated in the air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Rectangle 12"/>
          <p:cNvSpPr/>
          <p:nvPr/>
        </p:nvSpPr>
        <p:spPr>
          <a:xfrm>
            <a:off x="653141" y="5064135"/>
            <a:ext cx="587020" cy="461665"/>
          </a:xfrm>
          <a:prstGeom prst="rect">
            <a:avLst/>
          </a:prstGeom>
        </p:spPr>
        <p:txBody>
          <a:bodyPr wrap="none">
            <a:spAutoFit/>
          </a:bodyPr>
          <a:lstStyle/>
          <a:p>
            <a:r>
              <a:rPr lang="en-US" sz="2400">
                <a:latin typeface="Times New Roman" panose="02020603050405020304" pitchFamily="18" charset="0"/>
                <a:ea typeface="Calibri" panose="020F0502020204030204" pitchFamily="34" charset="0"/>
              </a:rPr>
              <a:t>So,</a:t>
            </a:r>
            <a:endParaRPr lang="en-US" sz="2400"/>
          </a:p>
        </p:txBody>
      </p:sp>
      <p:graphicFrame>
        <p:nvGraphicFramePr>
          <p:cNvPr id="14" name="Object 13"/>
          <p:cNvGraphicFramePr>
            <a:graphicFrameLocks noChangeAspect="1"/>
          </p:cNvGraphicFramePr>
          <p:nvPr>
            <p:extLst>
              <p:ext uri="{D42A27DB-BD31-4B8C-83A1-F6EECF244321}">
                <p14:modId xmlns:p14="http://schemas.microsoft.com/office/powerpoint/2010/main" val="4293636904"/>
              </p:ext>
            </p:extLst>
          </p:nvPr>
        </p:nvGraphicFramePr>
        <p:xfrm>
          <a:off x="1830988" y="5307611"/>
          <a:ext cx="2737717" cy="574346"/>
        </p:xfrm>
        <a:graphic>
          <a:graphicData uri="http://schemas.openxmlformats.org/presentationml/2006/ole">
            <mc:AlternateContent xmlns:mc="http://schemas.openxmlformats.org/markup-compatibility/2006">
              <mc:Choice xmlns:v="urn:schemas-microsoft-com:vml" Requires="v">
                <p:oleObj name="Equation" r:id="rId4" imgW="1091880" imgH="228600" progId="Equation.DSMT4">
                  <p:embed/>
                </p:oleObj>
              </mc:Choice>
              <mc:Fallback>
                <p:oleObj name="Equation" r:id="rId4" imgW="1091880" imgH="228600" progId="Equation.DSMT4">
                  <p:embed/>
                  <p:pic>
                    <p:nvPicPr>
                      <p:cNvPr id="14" name="Object 13"/>
                      <p:cNvPicPr/>
                      <p:nvPr/>
                    </p:nvPicPr>
                    <p:blipFill>
                      <a:blip r:embed="rId5"/>
                      <a:stretch>
                        <a:fillRect/>
                      </a:stretch>
                    </p:blipFill>
                    <p:spPr>
                      <a:xfrm>
                        <a:off x="1830988" y="5307611"/>
                        <a:ext cx="2737717" cy="574346"/>
                      </a:xfrm>
                      <a:prstGeom prst="rect">
                        <a:avLst/>
                      </a:prstGeom>
                    </p:spPr>
                  </p:pic>
                </p:oleObj>
              </mc:Fallback>
            </mc:AlternateContent>
          </a:graphicData>
        </a:graphic>
      </p:graphicFrame>
      <p:sp>
        <p:nvSpPr>
          <p:cNvPr id="15" name="TextBox 14"/>
          <p:cNvSpPr txBox="1"/>
          <p:nvPr/>
        </p:nvSpPr>
        <p:spPr>
          <a:xfrm>
            <a:off x="4568705" y="5307611"/>
            <a:ext cx="1237673" cy="461665"/>
          </a:xfrm>
          <a:prstGeom prst="rect">
            <a:avLst/>
          </a:prstGeom>
          <a:noFill/>
        </p:spPr>
        <p:txBody>
          <a:bodyPr wrap="square" rtlCol="0">
            <a:spAutoFit/>
          </a:bodyPr>
          <a:lstStyle/>
          <a:p>
            <a:r>
              <a:rPr lang="en-US" sz="2400"/>
              <a:t>…….(2)</a:t>
            </a:r>
          </a:p>
        </p:txBody>
      </p:sp>
      <p:sp>
        <p:nvSpPr>
          <p:cNvPr id="17" name="Rectangle 16"/>
          <p:cNvSpPr/>
          <p:nvPr/>
        </p:nvSpPr>
        <p:spPr>
          <a:xfrm>
            <a:off x="5736010" y="5276959"/>
            <a:ext cx="4300408" cy="487506"/>
          </a:xfrm>
          <a:prstGeom prst="rect">
            <a:avLst/>
          </a:prstGeom>
        </p:spPr>
        <p:txBody>
          <a:bodyPr wrap="none">
            <a:spAutoFit/>
          </a:bodyPr>
          <a:lstStyle/>
          <a:p>
            <a:pPr marL="228600" marR="0" algn="just">
              <a:lnSpc>
                <a:spcPct val="107000"/>
              </a:lnSpc>
              <a:spcBef>
                <a:spcPts val="0"/>
              </a:spcBef>
              <a:spcAft>
                <a:spcPts val="800"/>
              </a:spcAft>
            </a:pPr>
            <a:r>
              <a:rPr lang="en-US" sz="2400">
                <a:latin typeface="Times New Roman" panose="02020603050405020304" pitchFamily="18" charset="0"/>
                <a:ea typeface="Calibri" panose="020F0502020204030204" pitchFamily="34" charset="0"/>
                <a:cs typeface="Times New Roman" panose="02020603050405020304" pitchFamily="18" charset="0"/>
              </a:rPr>
              <a:t>where </a:t>
            </a:r>
            <a:r>
              <a:rPr lang="en-US" sz="2400" i="1">
                <a:latin typeface="Times New Roman" panose="02020603050405020304" pitchFamily="18" charset="0"/>
                <a:ea typeface="Calibri" panose="020F0502020204030204" pitchFamily="34" charset="0"/>
                <a:cs typeface="Times New Roman" panose="02020603050405020304" pitchFamily="18" charset="0"/>
              </a:rPr>
              <a:t>A </a:t>
            </a:r>
            <a:r>
              <a:rPr lang="en-US" sz="2400">
                <a:latin typeface="Times New Roman" panose="02020603050405020304" pitchFamily="18" charset="0"/>
                <a:ea typeface="Calibri" panose="020F0502020204030204" pitchFamily="34" charset="0"/>
                <a:cs typeface="Times New Roman" panose="02020603050405020304" pitchFamily="18" charset="0"/>
              </a:rPr>
              <a:t>is the total bottle area.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28106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D22F896-40B5-4ADD-8801-0D06FADFA095}" type="slidenum">
              <a:rPr lang="en-US" smtClean="0"/>
              <a:t>5</a:t>
            </a:fld>
            <a:endParaRPr lang="en-US"/>
          </a:p>
        </p:txBody>
      </p:sp>
      <p:sp>
        <p:nvSpPr>
          <p:cNvPr id="4" name="Rectangle 3"/>
          <p:cNvSpPr/>
          <p:nvPr/>
        </p:nvSpPr>
        <p:spPr>
          <a:xfrm>
            <a:off x="101786" y="1248833"/>
            <a:ext cx="5375189" cy="487506"/>
          </a:xfrm>
          <a:prstGeom prst="rect">
            <a:avLst/>
          </a:prstGeom>
        </p:spPr>
        <p:txBody>
          <a:bodyPr wrap="none">
            <a:spAutoFit/>
          </a:bodyPr>
          <a:lstStyle/>
          <a:p>
            <a:pPr marL="228600" marR="0" algn="just">
              <a:lnSpc>
                <a:spcPct val="107000"/>
              </a:lnSpc>
              <a:spcBef>
                <a:spcPts val="0"/>
              </a:spcBef>
              <a:spcAft>
                <a:spcPts val="800"/>
              </a:spcAft>
            </a:pPr>
            <a:r>
              <a:rPr lang="en-US" sz="2400">
                <a:latin typeface="Times New Roman" panose="02020603050405020304" pitchFamily="18" charset="0"/>
                <a:ea typeface="Calibri" panose="020F0502020204030204" pitchFamily="34" charset="0"/>
                <a:cs typeface="Times New Roman" panose="02020603050405020304" pitchFamily="18" charset="0"/>
              </a:rPr>
              <a:t>Equating both the equations we will get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1173095450"/>
              </p:ext>
            </p:extLst>
          </p:nvPr>
        </p:nvGraphicFramePr>
        <p:xfrm>
          <a:off x="484476" y="1828148"/>
          <a:ext cx="3967451" cy="969406"/>
        </p:xfrm>
        <a:graphic>
          <a:graphicData uri="http://schemas.openxmlformats.org/presentationml/2006/ole">
            <mc:AlternateContent xmlns:mc="http://schemas.openxmlformats.org/markup-compatibility/2006">
              <mc:Choice xmlns:v="urn:schemas-microsoft-com:vml" Requires="v">
                <p:oleObj name="Equation" r:id="rId2" imgW="1663560" imgH="406080" progId="Equation.DSMT4">
                  <p:embed/>
                </p:oleObj>
              </mc:Choice>
              <mc:Fallback>
                <p:oleObj name="Equation" r:id="rId2" imgW="1663560" imgH="406080" progId="Equation.DSMT4">
                  <p:embed/>
                  <p:pic>
                    <p:nvPicPr>
                      <p:cNvPr id="5" name="Object 4"/>
                      <p:cNvPicPr/>
                      <p:nvPr/>
                    </p:nvPicPr>
                    <p:blipFill>
                      <a:blip r:embed="rId3"/>
                      <a:stretch>
                        <a:fillRect/>
                      </a:stretch>
                    </p:blipFill>
                    <p:spPr>
                      <a:xfrm>
                        <a:off x="484476" y="1828148"/>
                        <a:ext cx="3967451" cy="969406"/>
                      </a:xfrm>
                      <a:prstGeom prst="rect">
                        <a:avLst/>
                      </a:prstGeom>
                    </p:spPr>
                  </p:pic>
                </p:oleObj>
              </mc:Fallback>
            </mc:AlternateContent>
          </a:graphicData>
        </a:graphic>
      </p:graphicFrame>
      <p:sp>
        <p:nvSpPr>
          <p:cNvPr id="7" name="TextBox 6"/>
          <p:cNvSpPr txBox="1"/>
          <p:nvPr/>
        </p:nvSpPr>
        <p:spPr>
          <a:xfrm>
            <a:off x="4858138" y="2174732"/>
            <a:ext cx="1237673" cy="461665"/>
          </a:xfrm>
          <a:prstGeom prst="rect">
            <a:avLst/>
          </a:prstGeom>
          <a:noFill/>
        </p:spPr>
        <p:txBody>
          <a:bodyPr wrap="square" rtlCol="0">
            <a:spAutoFit/>
          </a:bodyPr>
          <a:lstStyle/>
          <a:p>
            <a:r>
              <a:rPr lang="en-US" sz="2400"/>
              <a:t>…….(3)</a:t>
            </a:r>
          </a:p>
        </p:txBody>
      </p:sp>
      <p:sp>
        <p:nvSpPr>
          <p:cNvPr id="9" name="Rectangle 8"/>
          <p:cNvSpPr/>
          <p:nvPr/>
        </p:nvSpPr>
        <p:spPr>
          <a:xfrm>
            <a:off x="-209996" y="3074790"/>
            <a:ext cx="8603637" cy="487506"/>
          </a:xfrm>
          <a:prstGeom prst="rect">
            <a:avLst/>
          </a:prstGeom>
        </p:spPr>
        <p:txBody>
          <a:bodyPr wrap="none">
            <a:spAutoFit/>
          </a:bodyPr>
          <a:lstStyle/>
          <a:p>
            <a:pPr marL="228600" marR="0" algn="just">
              <a:lnSpc>
                <a:spcPct val="107000"/>
              </a:lnSpc>
              <a:spcBef>
                <a:spcPts val="0"/>
              </a:spcBef>
              <a:spcAft>
                <a:spcPts val="800"/>
              </a:spcAft>
            </a:pPr>
            <a:r>
              <a:rPr lang="en-US" sz="2400">
                <a:latin typeface="Times New Roman" panose="02020603050405020304" pitchFamily="18" charset="0"/>
                <a:ea typeface="Calibri" panose="020F0502020204030204" pitchFamily="34" charset="0"/>
                <a:cs typeface="Times New Roman" panose="02020603050405020304" pitchFamily="18" charset="0"/>
              </a:rPr>
              <a:t> So, the order of cooling down time for the cold dink bottle will be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0" name="Object 9"/>
          <p:cNvGraphicFramePr>
            <a:graphicFrameLocks noChangeAspect="1"/>
          </p:cNvGraphicFramePr>
          <p:nvPr>
            <p:extLst>
              <p:ext uri="{D42A27DB-BD31-4B8C-83A1-F6EECF244321}">
                <p14:modId xmlns:p14="http://schemas.microsoft.com/office/powerpoint/2010/main" val="1970468135"/>
              </p:ext>
            </p:extLst>
          </p:nvPr>
        </p:nvGraphicFramePr>
        <p:xfrm>
          <a:off x="557356" y="3912609"/>
          <a:ext cx="1320780" cy="797935"/>
        </p:xfrm>
        <a:graphic>
          <a:graphicData uri="http://schemas.openxmlformats.org/presentationml/2006/ole">
            <mc:AlternateContent xmlns:mc="http://schemas.openxmlformats.org/markup-compatibility/2006">
              <mc:Choice xmlns:v="urn:schemas-microsoft-com:vml" Requires="v">
                <p:oleObj name="Equation" r:id="rId4" imgW="672840" imgH="406080" progId="Equation.DSMT4">
                  <p:embed/>
                </p:oleObj>
              </mc:Choice>
              <mc:Fallback>
                <p:oleObj name="Equation" r:id="rId4" imgW="672840" imgH="406080" progId="Equation.DSMT4">
                  <p:embed/>
                  <p:pic>
                    <p:nvPicPr>
                      <p:cNvPr id="10" name="Object 9"/>
                      <p:cNvPicPr/>
                      <p:nvPr/>
                    </p:nvPicPr>
                    <p:blipFill>
                      <a:blip r:embed="rId5"/>
                      <a:stretch>
                        <a:fillRect/>
                      </a:stretch>
                    </p:blipFill>
                    <p:spPr>
                      <a:xfrm>
                        <a:off x="557356" y="3912609"/>
                        <a:ext cx="1320780" cy="797935"/>
                      </a:xfrm>
                      <a:prstGeom prst="rect">
                        <a:avLst/>
                      </a:prstGeom>
                    </p:spPr>
                  </p:pic>
                </p:oleObj>
              </mc:Fallback>
            </mc:AlternateContent>
          </a:graphicData>
        </a:graphic>
      </p:graphicFrame>
      <p:sp>
        <p:nvSpPr>
          <p:cNvPr id="11" name="TextBox 10"/>
          <p:cNvSpPr txBox="1"/>
          <p:nvPr/>
        </p:nvSpPr>
        <p:spPr>
          <a:xfrm>
            <a:off x="2387411" y="4034606"/>
            <a:ext cx="1237673" cy="461665"/>
          </a:xfrm>
          <a:prstGeom prst="rect">
            <a:avLst/>
          </a:prstGeom>
          <a:noFill/>
        </p:spPr>
        <p:txBody>
          <a:bodyPr wrap="square" rtlCol="0">
            <a:spAutoFit/>
          </a:bodyPr>
          <a:lstStyle/>
          <a:p>
            <a:r>
              <a:rPr lang="en-US" sz="2400"/>
              <a:t>…….(4)</a:t>
            </a:r>
          </a:p>
        </p:txBody>
      </p:sp>
      <p:sp>
        <p:nvSpPr>
          <p:cNvPr id="13" name="Rectangle 12"/>
          <p:cNvSpPr/>
          <p:nvPr/>
        </p:nvSpPr>
        <p:spPr>
          <a:xfrm>
            <a:off x="221672" y="5060857"/>
            <a:ext cx="10954328" cy="882678"/>
          </a:xfrm>
          <a:prstGeom prst="rect">
            <a:avLst/>
          </a:prstGeom>
        </p:spPr>
        <p:txBody>
          <a:bodyPr wrap="square">
            <a:spAutoFit/>
          </a:bodyPr>
          <a:lstStyle/>
          <a:p>
            <a:pPr marL="228600" marR="0" algn="just">
              <a:lnSpc>
                <a:spcPct val="107000"/>
              </a:lnSpc>
              <a:spcBef>
                <a:spcPts val="0"/>
              </a:spcBef>
              <a:spcAft>
                <a:spcPts val="800"/>
              </a:spcAft>
            </a:pPr>
            <a:r>
              <a:rPr lang="en-US" sz="2400">
                <a:latin typeface="Times New Roman" panose="02020603050405020304" pitchFamily="18" charset="0"/>
                <a:ea typeface="Calibri" panose="020F0502020204030204" pitchFamily="34" charset="0"/>
                <a:cs typeface="Times New Roman" panose="02020603050405020304" pitchFamily="18" charset="0"/>
              </a:rPr>
              <a:t>If we the above equation carefully only </a:t>
            </a:r>
            <a:r>
              <a:rPr lang="en-US" sz="2400" i="1">
                <a:latin typeface="Times New Roman" panose="02020603050405020304" pitchFamily="18" charset="0"/>
                <a:ea typeface="Calibri" panose="020F0502020204030204" pitchFamily="34" charset="0"/>
                <a:cs typeface="Times New Roman" panose="02020603050405020304" pitchFamily="18" charset="0"/>
              </a:rPr>
              <a:t>h</a:t>
            </a:r>
            <a:r>
              <a:rPr lang="en-US" sz="2400">
                <a:latin typeface="Times New Roman" panose="02020603050405020304" pitchFamily="18" charset="0"/>
                <a:ea typeface="Calibri" panose="020F0502020204030204" pitchFamily="34" charset="0"/>
                <a:cs typeface="Times New Roman" panose="02020603050405020304" pitchFamily="18" charset="0"/>
              </a:rPr>
              <a:t> (heat transfer coefficient) will be a function of the orientation of the bottle. Rest parameters are independent of the orientation.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51172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rotWithShape="1">
          <a:blip r:embed="rId2"/>
          <a:srcRect t="22657"/>
          <a:stretch/>
        </p:blipFill>
        <p:spPr>
          <a:xfrm rot="5400000">
            <a:off x="2499377" y="2235432"/>
            <a:ext cx="2608799" cy="686591"/>
          </a:xfrm>
          <a:prstGeom prst="rect">
            <a:avLst/>
          </a:prstGeom>
        </p:spPr>
      </p:pic>
      <p:pic>
        <p:nvPicPr>
          <p:cNvPr id="15" name="Picture 14"/>
          <p:cNvPicPr>
            <a:picLocks noChangeAspect="1"/>
          </p:cNvPicPr>
          <p:nvPr/>
        </p:nvPicPr>
        <p:blipFill>
          <a:blip r:embed="rId2"/>
          <a:stretch>
            <a:fillRect/>
          </a:stretch>
        </p:blipFill>
        <p:spPr>
          <a:xfrm>
            <a:off x="5161188" y="2796326"/>
            <a:ext cx="2743200" cy="933450"/>
          </a:xfrm>
          <a:prstGeom prst="rect">
            <a:avLst/>
          </a:prstGeom>
        </p:spPr>
      </p:pic>
      <p:sp>
        <p:nvSpPr>
          <p:cNvPr id="2" name="Slide Number Placeholder 1"/>
          <p:cNvSpPr>
            <a:spLocks noGrp="1"/>
          </p:cNvSpPr>
          <p:nvPr>
            <p:ph type="sldNum" sz="quarter" idx="12"/>
          </p:nvPr>
        </p:nvSpPr>
        <p:spPr/>
        <p:txBody>
          <a:bodyPr/>
          <a:lstStyle/>
          <a:p>
            <a:fld id="{6D22F896-40B5-4ADD-8801-0D06FADFA095}" type="slidenum">
              <a:rPr lang="en-US" smtClean="0"/>
              <a:t>6</a:t>
            </a:fld>
            <a:endParaRPr lang="en-US"/>
          </a:p>
        </p:txBody>
      </p:sp>
      <p:sp>
        <p:nvSpPr>
          <p:cNvPr id="7" name="Rectangle 6"/>
          <p:cNvSpPr/>
          <p:nvPr/>
        </p:nvSpPr>
        <p:spPr>
          <a:xfrm>
            <a:off x="289604" y="4389198"/>
            <a:ext cx="2542684" cy="468077"/>
          </a:xfrm>
          <a:prstGeom prst="rect">
            <a:avLst/>
          </a:prstGeom>
        </p:spPr>
        <p:txBody>
          <a:bodyPr wrap="none">
            <a:spAutoFit/>
          </a:bodyPr>
          <a:lstStyle/>
          <a:p>
            <a:pPr marL="228600" marR="0" algn="just">
              <a:lnSpc>
                <a:spcPct val="107000"/>
              </a:lnSpc>
              <a:spcBef>
                <a:spcPts val="0"/>
              </a:spcBef>
              <a:spcAft>
                <a:spcPts val="800"/>
              </a:spcAft>
            </a:pPr>
            <a:r>
              <a:rPr lang="en-US" sz="2400">
                <a:latin typeface="Times New Roman" panose="02020603050405020304" pitchFamily="18" charset="0"/>
                <a:ea typeface="Calibri" panose="020F0502020204030204" pitchFamily="34" charset="0"/>
                <a:cs typeface="Times New Roman" panose="02020603050405020304" pitchFamily="18" charset="0"/>
              </a:rPr>
              <a:t>So, we can write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4187966562"/>
              </p:ext>
            </p:extLst>
          </p:nvPr>
        </p:nvGraphicFramePr>
        <p:xfrm>
          <a:off x="1665217" y="4968107"/>
          <a:ext cx="1167071" cy="1046340"/>
        </p:xfrm>
        <a:graphic>
          <a:graphicData uri="http://schemas.openxmlformats.org/presentationml/2006/ole">
            <mc:AlternateContent xmlns:mc="http://schemas.openxmlformats.org/markup-compatibility/2006">
              <mc:Choice xmlns:v="urn:schemas-microsoft-com:vml" Requires="v">
                <p:oleObj name="Equation" r:id="rId3" imgW="552344" imgH="496070" progId="Equation.DSMT4">
                  <p:embed/>
                </p:oleObj>
              </mc:Choice>
              <mc:Fallback>
                <p:oleObj name="Equation" r:id="rId3" imgW="552344" imgH="496070" progId="Equation.DSMT4">
                  <p:embed/>
                  <p:pic>
                    <p:nvPicPr>
                      <p:cNvPr id="8" name="Object 7"/>
                      <p:cNvPicPr/>
                      <p:nvPr/>
                    </p:nvPicPr>
                    <p:blipFill>
                      <a:blip r:embed="rId4"/>
                      <a:stretch>
                        <a:fillRect/>
                      </a:stretch>
                    </p:blipFill>
                    <p:spPr>
                      <a:xfrm>
                        <a:off x="1665217" y="4968107"/>
                        <a:ext cx="1167071" cy="1046340"/>
                      </a:xfrm>
                      <a:prstGeom prst="rect">
                        <a:avLst/>
                      </a:prstGeom>
                    </p:spPr>
                  </p:pic>
                </p:oleObj>
              </mc:Fallback>
            </mc:AlternateContent>
          </a:graphicData>
        </a:graphic>
      </p:graphicFrame>
      <p:sp>
        <p:nvSpPr>
          <p:cNvPr id="9" name="TextBox 8"/>
          <p:cNvSpPr txBox="1"/>
          <p:nvPr/>
        </p:nvSpPr>
        <p:spPr>
          <a:xfrm>
            <a:off x="3080138" y="5115261"/>
            <a:ext cx="1237673" cy="461665"/>
          </a:xfrm>
          <a:prstGeom prst="rect">
            <a:avLst/>
          </a:prstGeom>
          <a:noFill/>
        </p:spPr>
        <p:txBody>
          <a:bodyPr wrap="square" rtlCol="0">
            <a:spAutoFit/>
          </a:bodyPr>
          <a:lstStyle/>
          <a:p>
            <a:r>
              <a:rPr lang="en-US" sz="2400"/>
              <a:t>…….(5)</a:t>
            </a:r>
          </a:p>
        </p:txBody>
      </p:sp>
      <p:sp>
        <p:nvSpPr>
          <p:cNvPr id="10" name="TextBox 9"/>
          <p:cNvSpPr txBox="1"/>
          <p:nvPr/>
        </p:nvSpPr>
        <p:spPr>
          <a:xfrm>
            <a:off x="4765964" y="4968107"/>
            <a:ext cx="6779491" cy="830997"/>
          </a:xfrm>
          <a:prstGeom prst="rect">
            <a:avLst/>
          </a:prstGeom>
          <a:noFill/>
        </p:spPr>
        <p:txBody>
          <a:bodyPr wrap="square" rtlCol="0">
            <a:spAutoFit/>
          </a:bodyPr>
          <a:lstStyle/>
          <a:p>
            <a:r>
              <a:rPr lang="en-US" sz="2400"/>
              <a:t>Subscript 1 and 2 stands for vertical and horizontal position respectively</a:t>
            </a:r>
          </a:p>
        </p:txBody>
      </p:sp>
      <p:sp>
        <p:nvSpPr>
          <p:cNvPr id="28" name="Rectangle 27"/>
          <p:cNvSpPr/>
          <p:nvPr/>
        </p:nvSpPr>
        <p:spPr>
          <a:xfrm rot="5400000">
            <a:off x="3240973" y="2838477"/>
            <a:ext cx="647700" cy="355460"/>
          </a:xfrm>
          <a:prstGeom prst="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pic>
        <p:nvPicPr>
          <p:cNvPr id="29" name="Picture 28"/>
          <p:cNvPicPr>
            <a:picLocks noChangeAspect="1"/>
          </p:cNvPicPr>
          <p:nvPr/>
        </p:nvPicPr>
        <p:blipFill>
          <a:blip r:embed="rId5">
            <a:clrChange>
              <a:clrFrom>
                <a:srgbClr val="FBFBFB"/>
              </a:clrFrom>
              <a:clrTo>
                <a:srgbClr val="FBFBFB">
                  <a:alpha val="0"/>
                </a:srgbClr>
              </a:clrTo>
            </a:clrChange>
            <a:extLst>
              <a:ext uri="{BEBA8EAE-BF5A-486C-A8C5-ECC9F3942E4B}">
                <a14:imgProps xmlns:a14="http://schemas.microsoft.com/office/drawing/2010/main">
                  <a14:imgLayer r:embed="rId6">
                    <a14:imgEffect>
                      <a14:sharpenSoften amount="83000"/>
                    </a14:imgEffect>
                    <a14:imgEffect>
                      <a14:brightnessContrast bright="-49000" contrast="98000"/>
                    </a14:imgEffect>
                  </a14:imgLayer>
                </a14:imgProps>
              </a:ext>
            </a:extLst>
          </a:blip>
          <a:stretch>
            <a:fillRect/>
          </a:stretch>
        </p:blipFill>
        <p:spPr>
          <a:xfrm rot="11386959" flipV="1">
            <a:off x="1818055" y="2545240"/>
            <a:ext cx="1611130" cy="883900"/>
          </a:xfrm>
          <a:prstGeom prst="rect">
            <a:avLst/>
          </a:prstGeom>
        </p:spPr>
      </p:pic>
      <p:grpSp>
        <p:nvGrpSpPr>
          <p:cNvPr id="13" name="Group 12"/>
          <p:cNvGrpSpPr/>
          <p:nvPr/>
        </p:nvGrpSpPr>
        <p:grpSpPr>
          <a:xfrm>
            <a:off x="656551" y="1924331"/>
            <a:ext cx="1307552" cy="1647583"/>
            <a:chOff x="656551" y="1924331"/>
            <a:chExt cx="1307552" cy="1647583"/>
          </a:xfrm>
        </p:grpSpPr>
        <p:pic>
          <p:nvPicPr>
            <p:cNvPr id="27" name="Picture 26"/>
            <p:cNvPicPr>
              <a:picLocks noChangeAspect="1"/>
            </p:cNvPicPr>
            <p:nvPr/>
          </p:nvPicPr>
          <p:blipFill rotWithShape="1">
            <a:blip r:embed="rId7"/>
            <a:srcRect l="17283" r="14404"/>
            <a:stretch/>
          </p:blipFill>
          <p:spPr>
            <a:xfrm rot="16200000">
              <a:off x="597876" y="2241096"/>
              <a:ext cx="1647583" cy="1014054"/>
            </a:xfrm>
            <a:prstGeom prst="rect">
              <a:avLst/>
            </a:prstGeom>
          </p:spPr>
        </p:pic>
        <p:cxnSp>
          <p:nvCxnSpPr>
            <p:cNvPr id="30" name="Straight Arrow Connector 29"/>
            <p:cNvCxnSpPr/>
            <p:nvPr/>
          </p:nvCxnSpPr>
          <p:spPr>
            <a:xfrm rot="16200000" flipV="1">
              <a:off x="1421667" y="2547311"/>
              <a:ext cx="0" cy="640080"/>
            </a:xfrm>
            <a:prstGeom prst="straightConnector1">
              <a:avLst/>
            </a:prstGeom>
            <a:ln w="1905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656551" y="2636519"/>
              <a:ext cx="521854" cy="461665"/>
            </a:xfrm>
            <a:prstGeom prst="rect">
              <a:avLst/>
            </a:prstGeom>
            <a:noFill/>
          </p:spPr>
          <p:txBody>
            <a:bodyPr wrap="square" rtlCol="0">
              <a:spAutoFit/>
            </a:bodyPr>
            <a:lstStyle/>
            <a:p>
              <a:r>
                <a:rPr lang="en-US" sz="2400" b="1" i="1">
                  <a:solidFill>
                    <a:srgbClr val="FF0000"/>
                  </a:solidFill>
                </a:rPr>
                <a:t>Q</a:t>
              </a:r>
            </a:p>
          </p:txBody>
        </p:sp>
        <p:sp>
          <p:nvSpPr>
            <p:cNvPr id="34" name="TextBox 33"/>
            <p:cNvSpPr txBox="1"/>
            <p:nvPr/>
          </p:nvSpPr>
          <p:spPr>
            <a:xfrm>
              <a:off x="838284" y="3102398"/>
              <a:ext cx="521854" cy="400110"/>
            </a:xfrm>
            <a:prstGeom prst="rect">
              <a:avLst/>
            </a:prstGeom>
            <a:noFill/>
          </p:spPr>
          <p:txBody>
            <a:bodyPr wrap="square" rtlCol="0">
              <a:spAutoFit/>
            </a:bodyPr>
            <a:lstStyle/>
            <a:p>
              <a:r>
                <a:rPr lang="en-US" sz="2000"/>
                <a:t>air</a:t>
              </a:r>
            </a:p>
          </p:txBody>
        </p:sp>
        <p:sp>
          <p:nvSpPr>
            <p:cNvPr id="35" name="TextBox 34"/>
            <p:cNvSpPr txBox="1"/>
            <p:nvPr/>
          </p:nvSpPr>
          <p:spPr>
            <a:xfrm>
              <a:off x="1442249" y="3090376"/>
              <a:ext cx="521854" cy="400110"/>
            </a:xfrm>
            <a:prstGeom prst="rect">
              <a:avLst/>
            </a:prstGeom>
            <a:noFill/>
          </p:spPr>
          <p:txBody>
            <a:bodyPr wrap="square" rtlCol="0">
              <a:spAutoFit/>
            </a:bodyPr>
            <a:lstStyle/>
            <a:p>
              <a:r>
                <a:rPr lang="en-US" sz="2000"/>
                <a:t>cd</a:t>
              </a:r>
            </a:p>
          </p:txBody>
        </p:sp>
      </p:grpSp>
      <p:pic>
        <p:nvPicPr>
          <p:cNvPr id="22" name="Picture 21"/>
          <p:cNvPicPr>
            <a:picLocks noChangeAspect="1"/>
          </p:cNvPicPr>
          <p:nvPr/>
        </p:nvPicPr>
        <p:blipFill rotWithShape="1">
          <a:blip r:embed="rId8"/>
          <a:srcRect l="34313" t="77025" r="17955"/>
          <a:stretch/>
        </p:blipFill>
        <p:spPr>
          <a:xfrm>
            <a:off x="6206965" y="3995931"/>
            <a:ext cx="1659467" cy="439866"/>
          </a:xfrm>
          <a:prstGeom prst="rect">
            <a:avLst/>
          </a:prstGeom>
        </p:spPr>
      </p:pic>
      <p:pic>
        <p:nvPicPr>
          <p:cNvPr id="11" name="Picture 10"/>
          <p:cNvPicPr>
            <a:picLocks noChangeAspect="1"/>
          </p:cNvPicPr>
          <p:nvPr/>
        </p:nvPicPr>
        <p:blipFill>
          <a:blip r:embed="rId5">
            <a:clrChange>
              <a:clrFrom>
                <a:srgbClr val="FBFBFB"/>
              </a:clrFrom>
              <a:clrTo>
                <a:srgbClr val="FBFBFB">
                  <a:alpha val="0"/>
                </a:srgbClr>
              </a:clrTo>
            </a:clrChange>
            <a:extLst>
              <a:ext uri="{BEBA8EAE-BF5A-486C-A8C5-ECC9F3942E4B}">
                <a14:imgProps xmlns:a14="http://schemas.microsoft.com/office/drawing/2010/main">
                  <a14:imgLayer r:embed="rId6">
                    <a14:imgEffect>
                      <a14:sharpenSoften amount="83000"/>
                    </a14:imgEffect>
                    <a14:imgEffect>
                      <a14:brightnessContrast bright="-49000" contrast="98000"/>
                    </a14:imgEffect>
                  </a14:imgLayer>
                </a14:imgProps>
              </a:ext>
            </a:extLst>
          </a:blip>
          <a:stretch>
            <a:fillRect/>
          </a:stretch>
        </p:blipFill>
        <p:spPr>
          <a:xfrm rot="20514468" flipV="1">
            <a:off x="7276717" y="2099242"/>
            <a:ext cx="2098671" cy="994286"/>
          </a:xfrm>
          <a:prstGeom prst="rect">
            <a:avLst/>
          </a:prstGeom>
        </p:spPr>
      </p:pic>
      <p:sp>
        <p:nvSpPr>
          <p:cNvPr id="12" name="Rectangle 11"/>
          <p:cNvSpPr/>
          <p:nvPr/>
        </p:nvSpPr>
        <p:spPr>
          <a:xfrm>
            <a:off x="6790528" y="2929350"/>
            <a:ext cx="605292" cy="322052"/>
          </a:xfrm>
          <a:prstGeom prst="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grpSp>
        <p:nvGrpSpPr>
          <p:cNvPr id="14" name="Group 13"/>
          <p:cNvGrpSpPr/>
          <p:nvPr/>
        </p:nvGrpSpPr>
        <p:grpSpPr>
          <a:xfrm>
            <a:off x="957106" y="1450180"/>
            <a:ext cx="1004878" cy="918878"/>
            <a:chOff x="5716781" y="1031147"/>
            <a:chExt cx="1004878" cy="918878"/>
          </a:xfrm>
        </p:grpSpPr>
        <p:sp>
          <p:nvSpPr>
            <p:cNvPr id="33" name="TextBox 32"/>
            <p:cNvSpPr txBox="1"/>
            <p:nvPr/>
          </p:nvSpPr>
          <p:spPr>
            <a:xfrm>
              <a:off x="5716781" y="1525639"/>
              <a:ext cx="526393" cy="400110"/>
            </a:xfrm>
            <a:prstGeom prst="rect">
              <a:avLst/>
            </a:prstGeom>
            <a:noFill/>
          </p:spPr>
          <p:txBody>
            <a:bodyPr wrap="square" rtlCol="0">
              <a:spAutoFit/>
            </a:bodyPr>
            <a:lstStyle/>
            <a:p>
              <a:r>
                <a:rPr lang="en-US" sz="2000" b="1" i="1"/>
                <a:t>h</a:t>
              </a:r>
              <a:r>
                <a:rPr lang="en-US" sz="2000" b="1" i="1" baseline="-25000"/>
                <a:t>air</a:t>
              </a:r>
            </a:p>
          </p:txBody>
        </p:sp>
        <p:grpSp>
          <p:nvGrpSpPr>
            <p:cNvPr id="6" name="Group 5"/>
            <p:cNvGrpSpPr/>
            <p:nvPr/>
          </p:nvGrpSpPr>
          <p:grpSpPr>
            <a:xfrm>
              <a:off x="5784683" y="1031147"/>
              <a:ext cx="936976" cy="918878"/>
              <a:chOff x="2253260" y="1363292"/>
              <a:chExt cx="936976" cy="918878"/>
            </a:xfrm>
          </p:grpSpPr>
          <p:sp>
            <p:nvSpPr>
              <p:cNvPr id="3" name="Right Brace 2"/>
              <p:cNvSpPr/>
              <p:nvPr/>
            </p:nvSpPr>
            <p:spPr>
              <a:xfrm rot="16200000">
                <a:off x="2522786" y="1430218"/>
                <a:ext cx="293807" cy="832859"/>
              </a:xfrm>
              <a:prstGeom prst="rightBrace">
                <a:avLst>
                  <a:gd name="adj1" fmla="val 41849"/>
                  <a:gd name="adj2" fmla="val 49259"/>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p:cNvSpPr txBox="1"/>
              <p:nvPr/>
            </p:nvSpPr>
            <p:spPr>
              <a:xfrm>
                <a:off x="2663843" y="1882060"/>
                <a:ext cx="526393" cy="400110"/>
              </a:xfrm>
              <a:prstGeom prst="rect">
                <a:avLst/>
              </a:prstGeom>
              <a:noFill/>
            </p:spPr>
            <p:txBody>
              <a:bodyPr wrap="square" rtlCol="0">
                <a:spAutoFit/>
              </a:bodyPr>
              <a:lstStyle/>
              <a:p>
                <a:r>
                  <a:rPr lang="en-US" sz="2000" b="1" i="1" err="1"/>
                  <a:t>h</a:t>
                </a:r>
                <a:r>
                  <a:rPr lang="en-US" sz="2000" b="1" i="1" baseline="-25000" err="1"/>
                  <a:t>cd</a:t>
                </a:r>
                <a:endParaRPr lang="en-US" sz="2000" b="1" i="1" baseline="-25000"/>
              </a:p>
            </p:txBody>
          </p:sp>
          <p:sp>
            <p:nvSpPr>
              <p:cNvPr id="36" name="TextBox 35"/>
              <p:cNvSpPr txBox="1"/>
              <p:nvPr/>
            </p:nvSpPr>
            <p:spPr>
              <a:xfrm>
                <a:off x="2340070" y="1363292"/>
                <a:ext cx="763753" cy="400110"/>
              </a:xfrm>
              <a:prstGeom prst="rect">
                <a:avLst/>
              </a:prstGeom>
              <a:noFill/>
            </p:spPr>
            <p:txBody>
              <a:bodyPr wrap="square" rtlCol="0">
                <a:spAutoFit/>
              </a:bodyPr>
              <a:lstStyle/>
              <a:p>
                <a:r>
                  <a:rPr lang="en-US" sz="2000" b="1" i="1"/>
                  <a:t>h=h</a:t>
                </a:r>
                <a:r>
                  <a:rPr lang="en-US" sz="2000" b="1" i="1" baseline="-25000"/>
                  <a:t>1</a:t>
                </a:r>
              </a:p>
            </p:txBody>
          </p:sp>
        </p:grpSp>
      </p:grpSp>
      <p:pic>
        <p:nvPicPr>
          <p:cNvPr id="41" name="Picture 40"/>
          <p:cNvPicPr>
            <a:picLocks noChangeAspect="1"/>
          </p:cNvPicPr>
          <p:nvPr/>
        </p:nvPicPr>
        <p:blipFill rotWithShape="1">
          <a:blip r:embed="rId7"/>
          <a:srcRect l="17283" r="14404"/>
          <a:stretch/>
        </p:blipFill>
        <p:spPr>
          <a:xfrm>
            <a:off x="9626017" y="1510080"/>
            <a:ext cx="1647583" cy="1014054"/>
          </a:xfrm>
          <a:prstGeom prst="rect">
            <a:avLst/>
          </a:prstGeom>
        </p:spPr>
      </p:pic>
      <p:cxnSp>
        <p:nvCxnSpPr>
          <p:cNvPr id="42" name="Straight Arrow Connector 41"/>
          <p:cNvCxnSpPr/>
          <p:nvPr/>
        </p:nvCxnSpPr>
        <p:spPr>
          <a:xfrm flipV="1">
            <a:off x="10449808" y="1710788"/>
            <a:ext cx="0" cy="640080"/>
          </a:xfrm>
          <a:prstGeom prst="straightConnector1">
            <a:avLst/>
          </a:prstGeom>
          <a:ln w="1905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10227522" y="1249123"/>
            <a:ext cx="521854" cy="461665"/>
          </a:xfrm>
          <a:prstGeom prst="rect">
            <a:avLst/>
          </a:prstGeom>
          <a:noFill/>
        </p:spPr>
        <p:txBody>
          <a:bodyPr wrap="square" rtlCol="0">
            <a:spAutoFit/>
          </a:bodyPr>
          <a:lstStyle/>
          <a:p>
            <a:r>
              <a:rPr lang="en-US" sz="2400" b="1" i="1">
                <a:solidFill>
                  <a:srgbClr val="FF0000"/>
                </a:solidFill>
              </a:rPr>
              <a:t>Q</a:t>
            </a:r>
          </a:p>
        </p:txBody>
      </p:sp>
      <p:sp>
        <p:nvSpPr>
          <p:cNvPr id="45" name="TextBox 44"/>
          <p:cNvSpPr txBox="1"/>
          <p:nvPr/>
        </p:nvSpPr>
        <p:spPr>
          <a:xfrm>
            <a:off x="10823437" y="1523597"/>
            <a:ext cx="521854" cy="400110"/>
          </a:xfrm>
          <a:prstGeom prst="rect">
            <a:avLst/>
          </a:prstGeom>
          <a:noFill/>
        </p:spPr>
        <p:txBody>
          <a:bodyPr wrap="square" rtlCol="0">
            <a:spAutoFit/>
          </a:bodyPr>
          <a:lstStyle/>
          <a:p>
            <a:r>
              <a:rPr lang="en-US" sz="2000"/>
              <a:t>air</a:t>
            </a:r>
          </a:p>
        </p:txBody>
      </p:sp>
      <p:sp>
        <p:nvSpPr>
          <p:cNvPr id="46" name="TextBox 45"/>
          <p:cNvSpPr txBox="1"/>
          <p:nvPr/>
        </p:nvSpPr>
        <p:spPr>
          <a:xfrm>
            <a:off x="10814974" y="2030828"/>
            <a:ext cx="521854" cy="400110"/>
          </a:xfrm>
          <a:prstGeom prst="rect">
            <a:avLst/>
          </a:prstGeom>
          <a:noFill/>
        </p:spPr>
        <p:txBody>
          <a:bodyPr wrap="square" rtlCol="0">
            <a:spAutoFit/>
          </a:bodyPr>
          <a:lstStyle/>
          <a:p>
            <a:r>
              <a:rPr lang="en-US" sz="2000"/>
              <a:t>cd</a:t>
            </a:r>
          </a:p>
        </p:txBody>
      </p:sp>
      <p:sp>
        <p:nvSpPr>
          <p:cNvPr id="38" name="TextBox 37"/>
          <p:cNvSpPr txBox="1"/>
          <p:nvPr/>
        </p:nvSpPr>
        <p:spPr>
          <a:xfrm>
            <a:off x="9625454" y="2023484"/>
            <a:ext cx="526393" cy="400110"/>
          </a:xfrm>
          <a:prstGeom prst="rect">
            <a:avLst/>
          </a:prstGeom>
          <a:noFill/>
        </p:spPr>
        <p:txBody>
          <a:bodyPr wrap="square" rtlCol="0">
            <a:spAutoFit/>
          </a:bodyPr>
          <a:lstStyle/>
          <a:p>
            <a:r>
              <a:rPr lang="en-US" sz="2000" b="1" i="1"/>
              <a:t>h</a:t>
            </a:r>
            <a:r>
              <a:rPr lang="en-US" sz="2000" b="1" i="1" baseline="-25000"/>
              <a:t>air</a:t>
            </a:r>
          </a:p>
        </p:txBody>
      </p:sp>
      <p:sp>
        <p:nvSpPr>
          <p:cNvPr id="48" name="Right Brace 47"/>
          <p:cNvSpPr/>
          <p:nvPr/>
        </p:nvSpPr>
        <p:spPr>
          <a:xfrm rot="10800000">
            <a:off x="9464077" y="1623374"/>
            <a:ext cx="293807" cy="832859"/>
          </a:xfrm>
          <a:prstGeom prst="rightBrace">
            <a:avLst>
              <a:gd name="adj1" fmla="val 41849"/>
              <a:gd name="adj2" fmla="val 49259"/>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TextBox 48"/>
          <p:cNvSpPr txBox="1"/>
          <p:nvPr/>
        </p:nvSpPr>
        <p:spPr>
          <a:xfrm>
            <a:off x="9656627" y="1597632"/>
            <a:ext cx="526393" cy="400110"/>
          </a:xfrm>
          <a:prstGeom prst="rect">
            <a:avLst/>
          </a:prstGeom>
          <a:noFill/>
        </p:spPr>
        <p:txBody>
          <a:bodyPr wrap="square" rtlCol="0">
            <a:spAutoFit/>
          </a:bodyPr>
          <a:lstStyle/>
          <a:p>
            <a:r>
              <a:rPr lang="en-US" sz="2000" b="1" i="1" err="1"/>
              <a:t>h</a:t>
            </a:r>
            <a:r>
              <a:rPr lang="en-US" sz="2000" b="1" i="1" baseline="-25000" err="1"/>
              <a:t>cd</a:t>
            </a:r>
            <a:endParaRPr lang="en-US" sz="2000" b="1" i="1" baseline="-25000"/>
          </a:p>
        </p:txBody>
      </p:sp>
      <p:sp>
        <p:nvSpPr>
          <p:cNvPr id="50" name="TextBox 49"/>
          <p:cNvSpPr txBox="1"/>
          <p:nvPr/>
        </p:nvSpPr>
        <p:spPr>
          <a:xfrm>
            <a:off x="8809568" y="1782453"/>
            <a:ext cx="763753" cy="400110"/>
          </a:xfrm>
          <a:prstGeom prst="rect">
            <a:avLst/>
          </a:prstGeom>
          <a:noFill/>
        </p:spPr>
        <p:txBody>
          <a:bodyPr wrap="square" rtlCol="0">
            <a:spAutoFit/>
          </a:bodyPr>
          <a:lstStyle/>
          <a:p>
            <a:r>
              <a:rPr lang="en-US" sz="2000" b="1" i="1"/>
              <a:t>h=h</a:t>
            </a:r>
            <a:r>
              <a:rPr lang="en-US" sz="2000" b="1" i="1" baseline="-25000"/>
              <a:t>2</a:t>
            </a:r>
          </a:p>
        </p:txBody>
      </p:sp>
      <p:pic>
        <p:nvPicPr>
          <p:cNvPr id="19" name="Picture 18"/>
          <p:cNvPicPr>
            <a:picLocks noChangeAspect="1"/>
          </p:cNvPicPr>
          <p:nvPr/>
        </p:nvPicPr>
        <p:blipFill rotWithShape="1">
          <a:blip r:embed="rId9"/>
          <a:srcRect t="85550" r="24033" b="-365"/>
          <a:stretch/>
        </p:blipFill>
        <p:spPr>
          <a:xfrm>
            <a:off x="3214054" y="3901584"/>
            <a:ext cx="1179446" cy="465668"/>
          </a:xfrm>
          <a:prstGeom prst="rect">
            <a:avLst/>
          </a:prstGeom>
        </p:spPr>
      </p:pic>
    </p:spTree>
    <p:extLst>
      <p:ext uri="{BB962C8B-B14F-4D97-AF65-F5344CB8AC3E}">
        <p14:creationId xmlns:p14="http://schemas.microsoft.com/office/powerpoint/2010/main" val="4288934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500"/>
                                        <p:tgtEl>
                                          <p:spTgt spid="41"/>
                                        </p:tgtEl>
                                      </p:cBhvr>
                                    </p:animEffect>
                                  </p:childTnLst>
                                </p:cTn>
                              </p:par>
                              <p:par>
                                <p:cTn id="28" presetID="10" presetClass="entr" presetSubtype="0" fill="hold" nodeType="with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500"/>
                                        <p:tgtEl>
                                          <p:spTgt spid="4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fade">
                                      <p:cBhvr>
                                        <p:cTn id="33" dur="500"/>
                                        <p:tgtEl>
                                          <p:spTgt spid="4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fade">
                                      <p:cBhvr>
                                        <p:cTn id="36" dur="500"/>
                                        <p:tgtEl>
                                          <p:spTgt spid="4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fade">
                                      <p:cBhvr>
                                        <p:cTn id="39" dur="500"/>
                                        <p:tgtEl>
                                          <p:spTgt spid="3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fade">
                                      <p:cBhvr>
                                        <p:cTn id="42" dur="500"/>
                                        <p:tgtEl>
                                          <p:spTgt spid="4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9"/>
                                        </p:tgtEl>
                                        <p:attrNameLst>
                                          <p:attrName>style.visibility</p:attrName>
                                        </p:attrNameLst>
                                      </p:cBhvr>
                                      <p:to>
                                        <p:strVal val="visible"/>
                                      </p:to>
                                    </p:set>
                                    <p:animEffect transition="in" filter="fade">
                                      <p:cBhvr>
                                        <p:cTn id="45" dur="500"/>
                                        <p:tgtEl>
                                          <p:spTgt spid="4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50"/>
                                        </p:tgtEl>
                                        <p:attrNameLst>
                                          <p:attrName>style.visibility</p:attrName>
                                        </p:attrNameLst>
                                      </p:cBhvr>
                                      <p:to>
                                        <p:strVal val="visible"/>
                                      </p:to>
                                    </p:set>
                                    <p:animEffect transition="in" filter="fade">
                                      <p:cBhvr>
                                        <p:cTn id="48" dur="500"/>
                                        <p:tgtEl>
                                          <p:spTgt spid="5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fade">
                                      <p:cBhvr>
                                        <p:cTn id="51"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12" grpId="0" animBg="1"/>
      <p:bldP spid="43" grpId="0"/>
      <p:bldP spid="45" grpId="0"/>
      <p:bldP spid="46" grpId="0"/>
      <p:bldP spid="38" grpId="0"/>
      <p:bldP spid="48" grpId="0" animBg="1"/>
      <p:bldP spid="49" grpId="0"/>
      <p:bldP spid="5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D22F896-40B5-4ADD-8801-0D06FADFA095}" type="slidenum">
              <a:rPr lang="en-US" smtClean="0"/>
              <a:t>7</a:t>
            </a:fld>
            <a:endParaRPr lang="en-US"/>
          </a:p>
        </p:txBody>
      </p:sp>
      <p:sp>
        <p:nvSpPr>
          <p:cNvPr id="4" name="Rectangle 3"/>
          <p:cNvSpPr/>
          <p:nvPr/>
        </p:nvSpPr>
        <p:spPr>
          <a:xfrm>
            <a:off x="129308" y="1294215"/>
            <a:ext cx="11240655" cy="863250"/>
          </a:xfrm>
          <a:prstGeom prst="rect">
            <a:avLst/>
          </a:prstGeom>
        </p:spPr>
        <p:txBody>
          <a:bodyPr wrap="square">
            <a:spAutoFit/>
          </a:bodyPr>
          <a:lstStyle/>
          <a:p>
            <a:pPr marL="228600" marR="0" algn="just">
              <a:lnSpc>
                <a:spcPct val="107000"/>
              </a:lnSpc>
              <a:spcBef>
                <a:spcPts val="0"/>
              </a:spcBef>
              <a:spcAft>
                <a:spcPts val="800"/>
              </a:spcAft>
            </a:pPr>
            <a:r>
              <a:rPr lang="en-US" sz="2400">
                <a:latin typeface="Times New Roman" panose="02020603050405020304" pitchFamily="18" charset="0"/>
                <a:ea typeface="Calibri" panose="020F0502020204030204" pitchFamily="34" charset="0"/>
                <a:cs typeface="Times New Roman" panose="02020603050405020304" pitchFamily="18" charset="0"/>
              </a:rPr>
              <a:t>Now we have to estimate the overall heat transfer coefficient (</a:t>
            </a:r>
            <a:r>
              <a:rPr lang="en-US" sz="2400" i="1">
                <a:latin typeface="Times New Roman" panose="02020603050405020304" pitchFamily="18" charset="0"/>
                <a:ea typeface="Calibri" panose="020F0502020204030204" pitchFamily="34" charset="0"/>
                <a:cs typeface="Times New Roman" panose="02020603050405020304" pitchFamily="18" charset="0"/>
              </a:rPr>
              <a:t>h</a:t>
            </a:r>
            <a:r>
              <a:rPr lang="en-US" sz="2400">
                <a:latin typeface="Times New Roman" panose="02020603050405020304" pitchFamily="18" charset="0"/>
                <a:ea typeface="Calibri" panose="020F0502020204030204" pitchFamily="34" charset="0"/>
                <a:cs typeface="Times New Roman" panose="02020603050405020304" pitchFamily="18" charset="0"/>
              </a:rPr>
              <a:t>) for the horizontal and vertical position of the cold drink bottle respectively.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129308" y="2264438"/>
            <a:ext cx="8672947" cy="487506"/>
          </a:xfrm>
          <a:prstGeom prst="rect">
            <a:avLst/>
          </a:prstGeom>
        </p:spPr>
        <p:txBody>
          <a:bodyPr wrap="square">
            <a:spAutoFit/>
          </a:bodyPr>
          <a:lstStyle/>
          <a:p>
            <a:pPr marL="228600" marR="0" algn="just">
              <a:lnSpc>
                <a:spcPct val="107000"/>
              </a:lnSpc>
              <a:spcBef>
                <a:spcPts val="0"/>
              </a:spcBef>
              <a:spcAft>
                <a:spcPts val="800"/>
              </a:spcAft>
            </a:pPr>
            <a:r>
              <a:rPr lang="en-US" sz="2400">
                <a:latin typeface="Times New Roman" panose="02020603050405020304" pitchFamily="18" charset="0"/>
                <a:ea typeface="Calibri" panose="020F0502020204030204" pitchFamily="34" charset="0"/>
                <a:cs typeface="Times New Roman" panose="02020603050405020304" pitchFamily="18" charset="0"/>
              </a:rPr>
              <a:t>The overall heat transfer coefficient (</a:t>
            </a:r>
            <a:r>
              <a:rPr lang="en-US" sz="2400" i="1">
                <a:latin typeface="Times New Roman" panose="02020603050405020304" pitchFamily="18" charset="0"/>
                <a:ea typeface="Calibri" panose="020F0502020204030204" pitchFamily="34" charset="0"/>
                <a:cs typeface="Times New Roman" panose="02020603050405020304" pitchFamily="18" charset="0"/>
              </a:rPr>
              <a:t>h</a:t>
            </a:r>
            <a:r>
              <a:rPr lang="en-US" sz="2400">
                <a:latin typeface="Times New Roman" panose="02020603050405020304" pitchFamily="18" charset="0"/>
                <a:ea typeface="Calibri" panose="020F0502020204030204" pitchFamily="34" charset="0"/>
                <a:cs typeface="Times New Roman" panose="02020603050405020304" pitchFamily="18" charset="0"/>
              </a:rPr>
              <a:t>) for this problem will be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1800863950"/>
              </p:ext>
            </p:extLst>
          </p:nvPr>
        </p:nvGraphicFramePr>
        <p:xfrm>
          <a:off x="423863" y="2943439"/>
          <a:ext cx="3108325" cy="1143000"/>
        </p:xfrm>
        <a:graphic>
          <a:graphicData uri="http://schemas.openxmlformats.org/presentationml/2006/ole">
            <mc:AlternateContent xmlns:mc="http://schemas.openxmlformats.org/markup-compatibility/2006">
              <mc:Choice xmlns:v="urn:schemas-microsoft-com:vml" Requires="v">
                <p:oleObj name="Equation" r:id="rId2" imgW="1206360" imgH="444240" progId="Equation.DSMT4">
                  <p:embed/>
                </p:oleObj>
              </mc:Choice>
              <mc:Fallback>
                <p:oleObj name="Equation" r:id="rId2" imgW="1206360" imgH="444240" progId="Equation.DSMT4">
                  <p:embed/>
                  <p:pic>
                    <p:nvPicPr>
                      <p:cNvPr id="7" name="Object 6"/>
                      <p:cNvPicPr/>
                      <p:nvPr/>
                    </p:nvPicPr>
                    <p:blipFill>
                      <a:blip r:embed="rId3"/>
                      <a:stretch>
                        <a:fillRect/>
                      </a:stretch>
                    </p:blipFill>
                    <p:spPr>
                      <a:xfrm>
                        <a:off x="423863" y="2943439"/>
                        <a:ext cx="3108325" cy="1143000"/>
                      </a:xfrm>
                      <a:prstGeom prst="rect">
                        <a:avLst/>
                      </a:prstGeom>
                    </p:spPr>
                  </p:pic>
                </p:oleObj>
              </mc:Fallback>
            </mc:AlternateContent>
          </a:graphicData>
        </a:graphic>
      </p:graphicFrame>
      <p:sp>
        <p:nvSpPr>
          <p:cNvPr id="8" name="TextBox 7"/>
          <p:cNvSpPr txBox="1"/>
          <p:nvPr/>
        </p:nvSpPr>
        <p:spPr>
          <a:xfrm>
            <a:off x="3691926" y="3554988"/>
            <a:ext cx="1237673" cy="461665"/>
          </a:xfrm>
          <a:prstGeom prst="rect">
            <a:avLst/>
          </a:prstGeom>
          <a:noFill/>
        </p:spPr>
        <p:txBody>
          <a:bodyPr wrap="square" rtlCol="0">
            <a:spAutoFit/>
          </a:bodyPr>
          <a:lstStyle/>
          <a:p>
            <a:r>
              <a:rPr lang="en-US" sz="2400"/>
              <a:t>…….(6)</a:t>
            </a:r>
          </a:p>
        </p:txBody>
      </p:sp>
      <p:sp>
        <p:nvSpPr>
          <p:cNvPr id="10" name="Rectangle 9"/>
          <p:cNvSpPr/>
          <p:nvPr/>
        </p:nvSpPr>
        <p:spPr>
          <a:xfrm>
            <a:off x="129308" y="4805990"/>
            <a:ext cx="6986208" cy="468077"/>
          </a:xfrm>
          <a:prstGeom prst="rect">
            <a:avLst/>
          </a:prstGeom>
        </p:spPr>
        <p:txBody>
          <a:bodyPr wrap="none">
            <a:spAutoFit/>
          </a:bodyPr>
          <a:lstStyle/>
          <a:p>
            <a:pPr marL="228600" marR="0" algn="just">
              <a:lnSpc>
                <a:spcPct val="107000"/>
              </a:lnSpc>
              <a:spcBef>
                <a:spcPts val="0"/>
              </a:spcBef>
              <a:spcAft>
                <a:spcPts val="800"/>
              </a:spcAft>
            </a:pPr>
            <a:r>
              <a:rPr lang="en-US" sz="2400">
                <a:latin typeface="Times New Roman" panose="02020603050405020304" pitchFamily="18" charset="0"/>
                <a:ea typeface="Calibri" panose="020F0502020204030204" pitchFamily="34" charset="0"/>
                <a:cs typeface="Times New Roman" panose="02020603050405020304" pitchFamily="18" charset="0"/>
              </a:rPr>
              <a:t>From the scale analysis for </a:t>
            </a:r>
            <a:r>
              <a:rPr lang="en-US" sz="2400" err="1">
                <a:latin typeface="Times New Roman" panose="02020603050405020304" pitchFamily="18" charset="0"/>
                <a:ea typeface="Calibri" panose="020F0502020204030204" pitchFamily="34" charset="0"/>
                <a:cs typeface="Times New Roman" panose="02020603050405020304" pitchFamily="18" charset="0"/>
              </a:rPr>
              <a:t>Pr</a:t>
            </a:r>
            <a:r>
              <a:rPr lang="en-US" sz="2400">
                <a:latin typeface="Times New Roman" panose="02020603050405020304" pitchFamily="18" charset="0"/>
                <a:ea typeface="Calibri" panose="020F0502020204030204" pitchFamily="34" charset="0"/>
                <a:cs typeface="Times New Roman" panose="02020603050405020304" pitchFamily="18" charset="0"/>
              </a:rPr>
              <a:t> &gt;1 fluids we can write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1" name="Object 10"/>
          <p:cNvGraphicFramePr>
            <a:graphicFrameLocks noChangeAspect="1"/>
          </p:cNvGraphicFramePr>
          <p:nvPr>
            <p:extLst>
              <p:ext uri="{D42A27DB-BD31-4B8C-83A1-F6EECF244321}">
                <p14:modId xmlns:p14="http://schemas.microsoft.com/office/powerpoint/2010/main" val="557124975"/>
              </p:ext>
            </p:extLst>
          </p:nvPr>
        </p:nvGraphicFramePr>
        <p:xfrm>
          <a:off x="576721" y="5343853"/>
          <a:ext cx="5705475" cy="800100"/>
        </p:xfrm>
        <a:graphic>
          <a:graphicData uri="http://schemas.openxmlformats.org/presentationml/2006/ole">
            <mc:AlternateContent xmlns:mc="http://schemas.openxmlformats.org/markup-compatibility/2006">
              <mc:Choice xmlns:v="urn:schemas-microsoft-com:vml" Requires="v">
                <p:oleObj name="Equation" r:id="rId4" imgW="2806560" imgH="393480" progId="Equation.DSMT4">
                  <p:embed/>
                </p:oleObj>
              </mc:Choice>
              <mc:Fallback>
                <p:oleObj name="Equation" r:id="rId4" imgW="2806560" imgH="393480" progId="Equation.DSMT4">
                  <p:embed/>
                  <p:pic>
                    <p:nvPicPr>
                      <p:cNvPr id="11" name="Object 10"/>
                      <p:cNvPicPr/>
                      <p:nvPr/>
                    </p:nvPicPr>
                    <p:blipFill>
                      <a:blip r:embed="rId5"/>
                      <a:stretch>
                        <a:fillRect/>
                      </a:stretch>
                    </p:blipFill>
                    <p:spPr>
                      <a:xfrm>
                        <a:off x="576721" y="5343853"/>
                        <a:ext cx="5705475" cy="800100"/>
                      </a:xfrm>
                      <a:prstGeom prst="rect">
                        <a:avLst/>
                      </a:prstGeom>
                    </p:spPr>
                  </p:pic>
                </p:oleObj>
              </mc:Fallback>
            </mc:AlternateContent>
          </a:graphicData>
        </a:graphic>
      </p:graphicFrame>
      <p:sp>
        <p:nvSpPr>
          <p:cNvPr id="12" name="TextBox 11"/>
          <p:cNvSpPr txBox="1"/>
          <p:nvPr/>
        </p:nvSpPr>
        <p:spPr>
          <a:xfrm>
            <a:off x="6657568" y="5535366"/>
            <a:ext cx="1237673" cy="461665"/>
          </a:xfrm>
          <a:prstGeom prst="rect">
            <a:avLst/>
          </a:prstGeom>
          <a:noFill/>
        </p:spPr>
        <p:txBody>
          <a:bodyPr wrap="square" rtlCol="0">
            <a:spAutoFit/>
          </a:bodyPr>
          <a:lstStyle/>
          <a:p>
            <a:r>
              <a:rPr lang="en-US" sz="2400"/>
              <a:t>…….(7)</a:t>
            </a:r>
          </a:p>
        </p:txBody>
      </p:sp>
      <p:sp>
        <p:nvSpPr>
          <p:cNvPr id="3" name="TextBox 2"/>
          <p:cNvSpPr txBox="1"/>
          <p:nvPr/>
        </p:nvSpPr>
        <p:spPr>
          <a:xfrm>
            <a:off x="305789" y="4274539"/>
            <a:ext cx="2505146" cy="461665"/>
          </a:xfrm>
          <a:prstGeom prst="rect">
            <a:avLst/>
          </a:prstGeom>
          <a:noFill/>
        </p:spPr>
        <p:txBody>
          <a:bodyPr wrap="square" rtlCol="0">
            <a:spAutoFit/>
          </a:bodyPr>
          <a:lstStyle/>
          <a:p>
            <a:r>
              <a:rPr lang="en-US" sz="2400" b="1"/>
              <a:t>Position 1</a:t>
            </a:r>
          </a:p>
        </p:txBody>
      </p:sp>
    </p:spTree>
    <p:extLst>
      <p:ext uri="{BB962C8B-B14F-4D97-AF65-F5344CB8AC3E}">
        <p14:creationId xmlns:p14="http://schemas.microsoft.com/office/powerpoint/2010/main" val="3531942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D22F896-40B5-4ADD-8801-0D06FADFA095}" type="slidenum">
              <a:rPr lang="en-US" smtClean="0"/>
              <a:t>8</a:t>
            </a:fld>
            <a:endParaRPr lang="en-US"/>
          </a:p>
        </p:txBody>
      </p:sp>
      <p:sp>
        <p:nvSpPr>
          <p:cNvPr id="10" name="Rectangle 9"/>
          <p:cNvSpPr/>
          <p:nvPr/>
        </p:nvSpPr>
        <p:spPr>
          <a:xfrm>
            <a:off x="349563" y="1221571"/>
            <a:ext cx="2969083" cy="461665"/>
          </a:xfrm>
          <a:prstGeom prst="rect">
            <a:avLst/>
          </a:prstGeom>
        </p:spPr>
        <p:txBody>
          <a:bodyPr wrap="none">
            <a:spAutoFit/>
          </a:bodyPr>
          <a:lstStyle/>
          <a:p>
            <a:r>
              <a:rPr lang="en-US" sz="2400">
                <a:latin typeface="Times New Roman" panose="02020603050405020304" pitchFamily="18" charset="0"/>
                <a:ea typeface="Calibri" panose="020F0502020204030204" pitchFamily="34" charset="0"/>
              </a:rPr>
              <a:t>If we assume the same</a:t>
            </a:r>
            <a:endParaRPr lang="en-US" sz="2400"/>
          </a:p>
        </p:txBody>
      </p:sp>
      <p:graphicFrame>
        <p:nvGraphicFramePr>
          <p:cNvPr id="11" name="Object 10"/>
          <p:cNvGraphicFramePr>
            <a:graphicFrameLocks noChangeAspect="1"/>
          </p:cNvGraphicFramePr>
          <p:nvPr>
            <p:extLst>
              <p:ext uri="{D42A27DB-BD31-4B8C-83A1-F6EECF244321}">
                <p14:modId xmlns:p14="http://schemas.microsoft.com/office/powerpoint/2010/main" val="2012349888"/>
              </p:ext>
            </p:extLst>
          </p:nvPr>
        </p:nvGraphicFramePr>
        <p:xfrm>
          <a:off x="3270993" y="1245341"/>
          <a:ext cx="3316288" cy="519112"/>
        </p:xfrm>
        <a:graphic>
          <a:graphicData uri="http://schemas.openxmlformats.org/presentationml/2006/ole">
            <mc:AlternateContent xmlns:mc="http://schemas.openxmlformats.org/markup-compatibility/2006">
              <mc:Choice xmlns:v="urn:schemas-microsoft-com:vml" Requires="v">
                <p:oleObj name="Equation" r:id="rId2" imgW="1625400" imgH="253800" progId="Equation.DSMT4">
                  <p:embed/>
                </p:oleObj>
              </mc:Choice>
              <mc:Fallback>
                <p:oleObj name="Equation" r:id="rId2" imgW="1625400" imgH="253800" progId="Equation.DSMT4">
                  <p:embed/>
                  <p:pic>
                    <p:nvPicPr>
                      <p:cNvPr id="11" name="Object 10"/>
                      <p:cNvPicPr/>
                      <p:nvPr/>
                    </p:nvPicPr>
                    <p:blipFill>
                      <a:blip r:embed="rId3"/>
                      <a:stretch>
                        <a:fillRect/>
                      </a:stretch>
                    </p:blipFill>
                    <p:spPr>
                      <a:xfrm>
                        <a:off x="3270993" y="1245341"/>
                        <a:ext cx="3316288" cy="519112"/>
                      </a:xfrm>
                      <a:prstGeom prst="rect">
                        <a:avLst/>
                      </a:prstGeom>
                    </p:spPr>
                  </p:pic>
                </p:oleObj>
              </mc:Fallback>
            </mc:AlternateContent>
          </a:graphicData>
        </a:graphic>
      </p:graphicFrame>
      <p:sp>
        <p:nvSpPr>
          <p:cNvPr id="13" name="Rectangle 12"/>
          <p:cNvSpPr/>
          <p:nvPr/>
        </p:nvSpPr>
        <p:spPr>
          <a:xfrm>
            <a:off x="6587281" y="1267275"/>
            <a:ext cx="3786614" cy="461665"/>
          </a:xfrm>
          <a:prstGeom prst="rect">
            <a:avLst/>
          </a:prstGeom>
        </p:spPr>
        <p:txBody>
          <a:bodyPr wrap="none">
            <a:spAutoFit/>
          </a:bodyPr>
          <a:lstStyle/>
          <a:p>
            <a:r>
              <a:rPr lang="en-US" sz="2400">
                <a:latin typeface="Times New Roman" panose="02020603050405020304" pitchFamily="18" charset="0"/>
                <a:ea typeface="Calibri" panose="020F0502020204030204" pitchFamily="34" charset="0"/>
              </a:rPr>
              <a:t>inside and outside the bottle, </a:t>
            </a:r>
            <a:endParaRPr lang="en-US" sz="2400"/>
          </a:p>
        </p:txBody>
      </p:sp>
      <p:graphicFrame>
        <p:nvGraphicFramePr>
          <p:cNvPr id="14" name="Object 13"/>
          <p:cNvGraphicFramePr>
            <a:graphicFrameLocks noChangeAspect="1"/>
          </p:cNvGraphicFramePr>
          <p:nvPr>
            <p:extLst>
              <p:ext uri="{D42A27DB-BD31-4B8C-83A1-F6EECF244321}">
                <p14:modId xmlns:p14="http://schemas.microsoft.com/office/powerpoint/2010/main" val="2027514370"/>
              </p:ext>
            </p:extLst>
          </p:nvPr>
        </p:nvGraphicFramePr>
        <p:xfrm>
          <a:off x="639232" y="2423825"/>
          <a:ext cx="9698790" cy="2115849"/>
        </p:xfrm>
        <a:graphic>
          <a:graphicData uri="http://schemas.openxmlformats.org/presentationml/2006/ole">
            <mc:AlternateContent xmlns:mc="http://schemas.openxmlformats.org/markup-compatibility/2006">
              <mc:Choice xmlns:v="urn:schemas-microsoft-com:vml" Requires="v">
                <p:oleObj name="Equation" r:id="rId4" imgW="5067000" imgH="1104840" progId="Equation.DSMT4">
                  <p:embed/>
                </p:oleObj>
              </mc:Choice>
              <mc:Fallback>
                <p:oleObj name="Equation" r:id="rId4" imgW="5067000" imgH="1104840" progId="Equation.DSMT4">
                  <p:embed/>
                  <p:pic>
                    <p:nvPicPr>
                      <p:cNvPr id="14" name="Object 13"/>
                      <p:cNvPicPr/>
                      <p:nvPr/>
                    </p:nvPicPr>
                    <p:blipFill>
                      <a:blip r:embed="rId5"/>
                      <a:stretch>
                        <a:fillRect/>
                      </a:stretch>
                    </p:blipFill>
                    <p:spPr>
                      <a:xfrm>
                        <a:off x="639232" y="2423825"/>
                        <a:ext cx="9698790" cy="2115849"/>
                      </a:xfrm>
                      <a:prstGeom prst="rect">
                        <a:avLst/>
                      </a:prstGeom>
                    </p:spPr>
                  </p:pic>
                </p:oleObj>
              </mc:Fallback>
            </mc:AlternateContent>
          </a:graphicData>
        </a:graphic>
      </p:graphicFrame>
      <p:sp>
        <p:nvSpPr>
          <p:cNvPr id="4" name="Rectangle 3"/>
          <p:cNvSpPr/>
          <p:nvPr/>
        </p:nvSpPr>
        <p:spPr>
          <a:xfrm>
            <a:off x="435323" y="4697841"/>
            <a:ext cx="5918608" cy="487506"/>
          </a:xfrm>
          <a:prstGeom prst="rect">
            <a:avLst/>
          </a:prstGeom>
        </p:spPr>
        <p:txBody>
          <a:bodyPr wrap="none">
            <a:spAutoFit/>
          </a:bodyPr>
          <a:lstStyle/>
          <a:p>
            <a:pPr marL="228600" marR="0" algn="just">
              <a:lnSpc>
                <a:spcPct val="107000"/>
              </a:lnSpc>
              <a:spcBef>
                <a:spcPts val="0"/>
              </a:spcBef>
              <a:spcAft>
                <a:spcPts val="800"/>
              </a:spcAft>
            </a:pPr>
            <a:r>
              <a:rPr lang="en-US" sz="2400">
                <a:latin typeface="Times New Roman" panose="02020603050405020304" pitchFamily="18" charset="0"/>
                <a:ea typeface="Calibri" panose="020F0502020204030204" pitchFamily="34" charset="0"/>
                <a:cs typeface="Times New Roman" panose="02020603050405020304" pitchFamily="18" charset="0"/>
              </a:rPr>
              <a:t>Since,  </a:t>
            </a:r>
            <a:r>
              <a:rPr lang="en-US" sz="2400" i="1" err="1">
                <a:latin typeface="Times New Roman" panose="02020603050405020304" pitchFamily="18" charset="0"/>
                <a:ea typeface="Calibri" panose="020F0502020204030204" pitchFamily="34" charset="0"/>
                <a:cs typeface="Times New Roman" panose="02020603050405020304" pitchFamily="18" charset="0"/>
              </a:rPr>
              <a:t>h</a:t>
            </a:r>
            <a:r>
              <a:rPr lang="en-US" sz="2400" i="1" baseline="-25000" err="1">
                <a:latin typeface="Times New Roman" panose="02020603050405020304" pitchFamily="18" charset="0"/>
                <a:ea typeface="Calibri" panose="020F0502020204030204" pitchFamily="34" charset="0"/>
                <a:cs typeface="Times New Roman" panose="02020603050405020304" pitchFamily="18" charset="0"/>
              </a:rPr>
              <a:t>cd</a:t>
            </a:r>
            <a:r>
              <a:rPr lang="en-US" sz="2400" i="1" baseline="-25000">
                <a:latin typeface="Times New Roman" panose="02020603050405020304" pitchFamily="18" charset="0"/>
                <a:ea typeface="Calibri" panose="020F0502020204030204" pitchFamily="34" charset="0"/>
                <a:cs typeface="Times New Roman" panose="02020603050405020304" pitchFamily="18" charset="0"/>
              </a:rPr>
              <a:t> </a:t>
            </a:r>
            <a:r>
              <a:rPr lang="en-US" sz="2400">
                <a:latin typeface="Times New Roman" panose="02020603050405020304" pitchFamily="18" charset="0"/>
                <a:ea typeface="Calibri" panose="020F0502020204030204" pitchFamily="34" charset="0"/>
                <a:cs typeface="Times New Roman" panose="02020603050405020304" pitchFamily="18" charset="0"/>
              </a:rPr>
              <a:t>&gt;&gt; </a:t>
            </a:r>
            <a:r>
              <a:rPr lang="en-US" sz="2400" i="1">
                <a:latin typeface="Times New Roman" panose="02020603050405020304" pitchFamily="18" charset="0"/>
                <a:ea typeface="Calibri" panose="020F0502020204030204" pitchFamily="34" charset="0"/>
                <a:cs typeface="Times New Roman" panose="02020603050405020304" pitchFamily="18" charset="0"/>
              </a:rPr>
              <a:t>h</a:t>
            </a:r>
            <a:r>
              <a:rPr lang="en-US" sz="2400" i="1" baseline="-25000">
                <a:latin typeface="Times New Roman" panose="02020603050405020304" pitchFamily="18" charset="0"/>
                <a:ea typeface="Calibri" panose="020F0502020204030204" pitchFamily="34" charset="0"/>
                <a:cs typeface="Times New Roman" panose="02020603050405020304" pitchFamily="18" charset="0"/>
              </a:rPr>
              <a:t>air </a:t>
            </a:r>
            <a:r>
              <a:rPr lang="en-US" sz="2400">
                <a:latin typeface="Times New Roman" panose="02020603050405020304" pitchFamily="18" charset="0"/>
                <a:ea typeface="Calibri" panose="020F0502020204030204" pitchFamily="34" charset="0"/>
                <a:cs typeface="Times New Roman" panose="02020603050405020304" pitchFamily="18" charset="0"/>
              </a:rPr>
              <a:t>we can say the overall </a:t>
            </a:r>
            <a:r>
              <a:rPr lang="en-US" sz="2400" i="1">
                <a:latin typeface="Times New Roman" panose="02020603050405020304" pitchFamily="18" charset="0"/>
                <a:ea typeface="Calibri" panose="020F0502020204030204" pitchFamily="34" charset="0"/>
                <a:cs typeface="Times New Roman" panose="02020603050405020304" pitchFamily="18" charset="0"/>
              </a:rPr>
              <a:t>h</a:t>
            </a:r>
            <a:r>
              <a:rPr lang="en-US" sz="2400">
                <a:latin typeface="Times New Roman" panose="02020603050405020304" pitchFamily="18" charset="0"/>
                <a:ea typeface="Calibri" panose="020F0502020204030204" pitchFamily="34" charset="0"/>
                <a:cs typeface="Times New Roman" panose="02020603050405020304" pitchFamily="18" charset="0"/>
              </a:rPr>
              <a:t> is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1958440226"/>
              </p:ext>
            </p:extLst>
          </p:nvPr>
        </p:nvGraphicFramePr>
        <p:xfrm>
          <a:off x="815942" y="5280262"/>
          <a:ext cx="7625414" cy="1008823"/>
        </p:xfrm>
        <a:graphic>
          <a:graphicData uri="http://schemas.openxmlformats.org/presentationml/2006/ole">
            <mc:AlternateContent xmlns:mc="http://schemas.openxmlformats.org/markup-compatibility/2006">
              <mc:Choice xmlns:v="urn:schemas-microsoft-com:vml" Requires="v">
                <p:oleObj name="Equation" r:id="rId6" imgW="4317840" imgH="571320" progId="Equation.DSMT4">
                  <p:embed/>
                </p:oleObj>
              </mc:Choice>
              <mc:Fallback>
                <p:oleObj name="Equation" r:id="rId6" imgW="4317840" imgH="571320" progId="Equation.DSMT4">
                  <p:embed/>
                  <p:pic>
                    <p:nvPicPr>
                      <p:cNvPr id="5" name="Object 4"/>
                      <p:cNvPicPr/>
                      <p:nvPr/>
                    </p:nvPicPr>
                    <p:blipFill>
                      <a:blip r:embed="rId7"/>
                      <a:stretch>
                        <a:fillRect/>
                      </a:stretch>
                    </p:blipFill>
                    <p:spPr>
                      <a:xfrm>
                        <a:off x="815942" y="5280262"/>
                        <a:ext cx="7625414" cy="1008823"/>
                      </a:xfrm>
                      <a:prstGeom prst="rect">
                        <a:avLst/>
                      </a:prstGeom>
                    </p:spPr>
                  </p:pic>
                </p:oleObj>
              </mc:Fallback>
            </mc:AlternateContent>
          </a:graphicData>
        </a:graphic>
      </p:graphicFrame>
      <p:sp>
        <p:nvSpPr>
          <p:cNvPr id="12" name="TextBox 11"/>
          <p:cNvSpPr txBox="1"/>
          <p:nvPr/>
        </p:nvSpPr>
        <p:spPr>
          <a:xfrm>
            <a:off x="8858901" y="5557522"/>
            <a:ext cx="1237673" cy="461665"/>
          </a:xfrm>
          <a:prstGeom prst="rect">
            <a:avLst/>
          </a:prstGeom>
          <a:noFill/>
        </p:spPr>
        <p:txBody>
          <a:bodyPr wrap="square" rtlCol="0">
            <a:spAutoFit/>
          </a:bodyPr>
          <a:lstStyle/>
          <a:p>
            <a:r>
              <a:rPr lang="en-US" sz="2400"/>
              <a:t>…….(8)</a:t>
            </a:r>
          </a:p>
        </p:txBody>
      </p:sp>
      <p:sp>
        <p:nvSpPr>
          <p:cNvPr id="3" name="Rectangle 2"/>
          <p:cNvSpPr/>
          <p:nvPr/>
        </p:nvSpPr>
        <p:spPr>
          <a:xfrm>
            <a:off x="349563" y="1876481"/>
            <a:ext cx="2541080" cy="461665"/>
          </a:xfrm>
          <a:prstGeom prst="rect">
            <a:avLst/>
          </a:prstGeom>
        </p:spPr>
        <p:txBody>
          <a:bodyPr wrap="none">
            <a:spAutoFit/>
          </a:bodyPr>
          <a:lstStyle/>
          <a:p>
            <a:r>
              <a:rPr lang="en-US" sz="2400">
                <a:latin typeface="Times New Roman" panose="02020603050405020304" pitchFamily="18" charset="0"/>
                <a:ea typeface="Calibri" panose="020F0502020204030204" pitchFamily="34" charset="0"/>
              </a:rPr>
              <a:t>Then we can write </a:t>
            </a:r>
            <a:endParaRPr lang="en-US" sz="2400"/>
          </a:p>
        </p:txBody>
      </p:sp>
    </p:spTree>
    <p:extLst>
      <p:ext uri="{BB962C8B-B14F-4D97-AF65-F5344CB8AC3E}">
        <p14:creationId xmlns:p14="http://schemas.microsoft.com/office/powerpoint/2010/main" val="265773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D22F896-40B5-4ADD-8801-0D06FADFA095}" type="slidenum">
              <a:rPr lang="en-US" smtClean="0"/>
              <a:t>9</a:t>
            </a:fld>
            <a:endParaRPr lang="en-US"/>
          </a:p>
        </p:txBody>
      </p:sp>
      <p:sp>
        <p:nvSpPr>
          <p:cNvPr id="3" name="Rectangle 2"/>
          <p:cNvSpPr/>
          <p:nvPr/>
        </p:nvSpPr>
        <p:spPr>
          <a:xfrm>
            <a:off x="0" y="2897857"/>
            <a:ext cx="4378122" cy="468077"/>
          </a:xfrm>
          <a:prstGeom prst="rect">
            <a:avLst/>
          </a:prstGeom>
        </p:spPr>
        <p:txBody>
          <a:bodyPr wrap="none">
            <a:spAutoFit/>
          </a:bodyPr>
          <a:lstStyle/>
          <a:p>
            <a:pPr marL="228600" marR="0" algn="just">
              <a:lnSpc>
                <a:spcPct val="107000"/>
              </a:lnSpc>
              <a:spcBef>
                <a:spcPts val="0"/>
              </a:spcBef>
              <a:spcAft>
                <a:spcPts val="800"/>
              </a:spcAft>
            </a:pPr>
            <a:r>
              <a:rPr lang="en-US" sz="2400">
                <a:latin typeface="Times New Roman" panose="02020603050405020304" pitchFamily="18" charset="0"/>
                <a:ea typeface="Calibri" panose="020F0502020204030204" pitchFamily="34" charset="0"/>
                <a:cs typeface="Times New Roman" panose="02020603050405020304" pitchFamily="18" charset="0"/>
              </a:rPr>
              <a:t>From equation (5) we can write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2288912877"/>
              </p:ext>
            </p:extLst>
          </p:nvPr>
        </p:nvGraphicFramePr>
        <p:xfrm>
          <a:off x="312547" y="3610944"/>
          <a:ext cx="5713413" cy="1052513"/>
        </p:xfrm>
        <a:graphic>
          <a:graphicData uri="http://schemas.openxmlformats.org/presentationml/2006/ole">
            <mc:AlternateContent xmlns:mc="http://schemas.openxmlformats.org/markup-compatibility/2006">
              <mc:Choice xmlns:v="urn:schemas-microsoft-com:vml" Requires="v">
                <p:oleObj name="Equation" r:id="rId2" imgW="2616120" imgH="482400" progId="Equation.DSMT4">
                  <p:embed/>
                </p:oleObj>
              </mc:Choice>
              <mc:Fallback>
                <p:oleObj name="Equation" r:id="rId2" imgW="2616120" imgH="482400" progId="Equation.DSMT4">
                  <p:embed/>
                  <p:pic>
                    <p:nvPicPr>
                      <p:cNvPr id="4" name="Object 3"/>
                      <p:cNvPicPr/>
                      <p:nvPr/>
                    </p:nvPicPr>
                    <p:blipFill>
                      <a:blip r:embed="rId3"/>
                      <a:stretch>
                        <a:fillRect/>
                      </a:stretch>
                    </p:blipFill>
                    <p:spPr>
                      <a:xfrm>
                        <a:off x="312547" y="3610944"/>
                        <a:ext cx="5713413" cy="1052513"/>
                      </a:xfrm>
                      <a:prstGeom prst="rect">
                        <a:avLst/>
                      </a:prstGeom>
                    </p:spPr>
                  </p:pic>
                </p:oleObj>
              </mc:Fallback>
            </mc:AlternateContent>
          </a:graphicData>
        </a:graphic>
      </p:graphicFrame>
      <p:sp>
        <p:nvSpPr>
          <p:cNvPr id="6" name="Rectangle 5"/>
          <p:cNvSpPr/>
          <p:nvPr/>
        </p:nvSpPr>
        <p:spPr>
          <a:xfrm>
            <a:off x="312547" y="4924195"/>
            <a:ext cx="11655471" cy="1200329"/>
          </a:xfrm>
          <a:prstGeom prst="rect">
            <a:avLst/>
          </a:prstGeom>
        </p:spPr>
        <p:txBody>
          <a:bodyPr wrap="square">
            <a:spAutoFit/>
          </a:bodyPr>
          <a:lstStyle/>
          <a:p>
            <a:r>
              <a:rPr lang="en-US" sz="2400">
                <a:latin typeface="Times New Roman" panose="02020603050405020304" pitchFamily="18" charset="0"/>
                <a:ea typeface="Calibri" panose="020F0502020204030204" pitchFamily="34" charset="0"/>
              </a:rPr>
              <a:t>So, the cooling the cold drink bottle by placing it vertically will take 50% more time compare to the horizontal position. So, if you want to have the cold drink as soon as possible place it horizontally</a:t>
            </a:r>
            <a:endParaRPr lang="en-US" sz="2400"/>
          </a:p>
        </p:txBody>
      </p:sp>
      <p:sp>
        <p:nvSpPr>
          <p:cNvPr id="7" name="TextBox 6"/>
          <p:cNvSpPr txBox="1"/>
          <p:nvPr/>
        </p:nvSpPr>
        <p:spPr>
          <a:xfrm>
            <a:off x="448396" y="1634292"/>
            <a:ext cx="2505146" cy="461665"/>
          </a:xfrm>
          <a:prstGeom prst="rect">
            <a:avLst/>
          </a:prstGeom>
          <a:noFill/>
        </p:spPr>
        <p:txBody>
          <a:bodyPr wrap="square" rtlCol="0">
            <a:spAutoFit/>
          </a:bodyPr>
          <a:lstStyle/>
          <a:p>
            <a:r>
              <a:rPr lang="en-US" sz="2400" b="1"/>
              <a:t>Position 2</a:t>
            </a:r>
          </a:p>
        </p:txBody>
      </p:sp>
      <p:sp>
        <p:nvSpPr>
          <p:cNvPr id="5" name="TextBox 4"/>
          <p:cNvSpPr txBox="1"/>
          <p:nvPr/>
        </p:nvSpPr>
        <p:spPr>
          <a:xfrm>
            <a:off x="405769" y="1164657"/>
            <a:ext cx="2664690" cy="461665"/>
          </a:xfrm>
          <a:prstGeom prst="rect">
            <a:avLst/>
          </a:prstGeom>
          <a:noFill/>
        </p:spPr>
        <p:txBody>
          <a:bodyPr wrap="square" rtlCol="0">
            <a:spAutoFit/>
          </a:bodyPr>
          <a:lstStyle/>
          <a:p>
            <a:r>
              <a:rPr lang="en-US" sz="2400"/>
              <a:t>Similarly, </a:t>
            </a:r>
          </a:p>
        </p:txBody>
      </p:sp>
      <p:graphicFrame>
        <p:nvGraphicFramePr>
          <p:cNvPr id="8" name="Object 7"/>
          <p:cNvGraphicFramePr>
            <a:graphicFrameLocks noChangeAspect="1"/>
          </p:cNvGraphicFramePr>
          <p:nvPr>
            <p:extLst>
              <p:ext uri="{D42A27DB-BD31-4B8C-83A1-F6EECF244321}">
                <p14:modId xmlns:p14="http://schemas.microsoft.com/office/powerpoint/2010/main" val="3424870154"/>
              </p:ext>
            </p:extLst>
          </p:nvPr>
        </p:nvGraphicFramePr>
        <p:xfrm>
          <a:off x="448396" y="2047400"/>
          <a:ext cx="2910639" cy="761644"/>
        </p:xfrm>
        <a:graphic>
          <a:graphicData uri="http://schemas.openxmlformats.org/presentationml/2006/ole">
            <mc:AlternateContent xmlns:mc="http://schemas.openxmlformats.org/markup-compatibility/2006">
              <mc:Choice xmlns:v="urn:schemas-microsoft-com:vml" Requires="v">
                <p:oleObj name="Equation" r:id="rId4" imgW="1307880" imgH="342720" progId="Equation.DSMT4">
                  <p:embed/>
                </p:oleObj>
              </mc:Choice>
              <mc:Fallback>
                <p:oleObj name="Equation" r:id="rId4" imgW="1307880" imgH="342720" progId="Equation.DSMT4">
                  <p:embed/>
                  <p:pic>
                    <p:nvPicPr>
                      <p:cNvPr id="8" name="Object 7"/>
                      <p:cNvPicPr/>
                      <p:nvPr/>
                    </p:nvPicPr>
                    <p:blipFill>
                      <a:blip r:embed="rId5"/>
                      <a:stretch>
                        <a:fillRect/>
                      </a:stretch>
                    </p:blipFill>
                    <p:spPr>
                      <a:xfrm>
                        <a:off x="448396" y="2047400"/>
                        <a:ext cx="2910639" cy="761644"/>
                      </a:xfrm>
                      <a:prstGeom prst="rect">
                        <a:avLst/>
                      </a:prstGeom>
                    </p:spPr>
                  </p:pic>
                </p:oleObj>
              </mc:Fallback>
            </mc:AlternateContent>
          </a:graphicData>
        </a:graphic>
      </p:graphicFrame>
    </p:spTree>
    <p:extLst>
      <p:ext uri="{BB962C8B-B14F-4D97-AF65-F5344CB8AC3E}">
        <p14:creationId xmlns:p14="http://schemas.microsoft.com/office/powerpoint/2010/main" val="868220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D22F896-40B5-4ADD-8801-0D06FADFA095}" type="slidenum">
              <a:rPr lang="en-US" smtClean="0"/>
              <a:t>10</a:t>
            </a:fld>
            <a:endParaRPr lang="en-US"/>
          </a:p>
        </p:txBody>
      </p:sp>
      <p:sp>
        <p:nvSpPr>
          <p:cNvPr id="3" name="Rectangle 2"/>
          <p:cNvSpPr/>
          <p:nvPr/>
        </p:nvSpPr>
        <p:spPr>
          <a:xfrm>
            <a:off x="364065" y="1191378"/>
            <a:ext cx="11159068" cy="1938992"/>
          </a:xfrm>
          <a:prstGeom prst="rect">
            <a:avLst/>
          </a:prstGeom>
        </p:spPr>
        <p:txBody>
          <a:bodyPr wrap="square">
            <a:spAutoFit/>
          </a:bodyPr>
          <a:lstStyle/>
          <a:p>
            <a:pPr algn="just"/>
            <a:r>
              <a:rPr lang="en-US" sz="2400">
                <a:latin typeface="Times New Roman" panose="02020603050405020304" pitchFamily="18" charset="0"/>
              </a:rPr>
              <a:t>The ABC Evening News Report in a news segment on hypothermia research studies at the University of Minnesota claimed that heat loss from the body (at 25°C ) is faster in 10°C water than in air at the same temperature. Is that a realistic statement? If the statement is found to be true then how fast?  Person can be approximated as a vertical cylinder of diameter D = 0.3 m and length L = 1.8 m </a:t>
            </a:r>
            <a:endParaRPr lang="en-US" sz="2400"/>
          </a:p>
        </p:txBody>
      </p:sp>
      <p:sp>
        <p:nvSpPr>
          <p:cNvPr id="6" name="TextBox 5"/>
          <p:cNvSpPr txBox="1"/>
          <p:nvPr/>
        </p:nvSpPr>
        <p:spPr>
          <a:xfrm>
            <a:off x="288320" y="478620"/>
            <a:ext cx="3256452" cy="461665"/>
          </a:xfrm>
          <a:prstGeom prst="rect">
            <a:avLst/>
          </a:prstGeom>
          <a:noFill/>
        </p:spPr>
        <p:txBody>
          <a:bodyPr wrap="square" rtlCol="0">
            <a:spAutoFit/>
          </a:bodyPr>
          <a:lstStyle/>
          <a:p>
            <a:r>
              <a:rPr lang="en-US" sz="2400" b="1">
                <a:solidFill>
                  <a:srgbClr val="FF0000"/>
                </a:solidFill>
              </a:rPr>
              <a:t>Problem 2</a:t>
            </a:r>
          </a:p>
        </p:txBody>
      </p:sp>
      <p:sp>
        <p:nvSpPr>
          <p:cNvPr id="9" name="Rectangle 8"/>
          <p:cNvSpPr/>
          <p:nvPr/>
        </p:nvSpPr>
        <p:spPr>
          <a:xfrm>
            <a:off x="1546357" y="3942452"/>
            <a:ext cx="2904068" cy="2246769"/>
          </a:xfrm>
          <a:prstGeom prst="rect">
            <a:avLst/>
          </a:prstGeom>
        </p:spPr>
        <p:txBody>
          <a:bodyPr wrap="square">
            <a:spAutoFit/>
          </a:bodyPr>
          <a:lstStyle/>
          <a:p>
            <a:r>
              <a:rPr lang="en-US" sz="2000" b="1">
                <a:latin typeface="Times New Roman" panose="02020603050405020304" pitchFamily="18" charset="0"/>
              </a:rPr>
              <a:t>For air, </a:t>
            </a:r>
          </a:p>
          <a:p>
            <a:pPr>
              <a:lnSpc>
                <a:spcPct val="150000"/>
              </a:lnSpc>
            </a:pPr>
            <a:r>
              <a:rPr lang="en-US" sz="2000" i="1">
                <a:latin typeface="Times New Roman" panose="02020603050405020304" pitchFamily="18" charset="0"/>
              </a:rPr>
              <a:t>k = 0.0293 W/</a:t>
            </a:r>
            <a:r>
              <a:rPr lang="en-US" sz="2000" i="1" err="1">
                <a:latin typeface="Times New Roman" panose="02020603050405020304" pitchFamily="18" charset="0"/>
              </a:rPr>
              <a:t>m</a:t>
            </a:r>
            <a:r>
              <a:rPr lang="en-US" sz="2000" i="1" err="1">
                <a:latin typeface="Symbol" panose="05050102010706020507" pitchFamily="18" charset="2"/>
              </a:rPr>
              <a:t>×</a:t>
            </a:r>
            <a:r>
              <a:rPr lang="en-US" sz="2000" i="1" err="1">
                <a:latin typeface="Times New Roman" panose="02020603050405020304" pitchFamily="18" charset="0"/>
              </a:rPr>
              <a:t>K</a:t>
            </a:r>
            <a:r>
              <a:rPr lang="en-US">
                <a:latin typeface="Times New Roman" panose="02020603050405020304" pitchFamily="18" charset="0"/>
              </a:rPr>
              <a:t>, </a:t>
            </a:r>
          </a:p>
          <a:p>
            <a:pPr>
              <a:lnSpc>
                <a:spcPct val="150000"/>
              </a:lnSpc>
            </a:pPr>
            <a:r>
              <a:rPr lang="en-US" sz="2000" i="1">
                <a:latin typeface="Times New Roman" panose="02020603050405020304" pitchFamily="18" charset="0"/>
              </a:rPr>
              <a:t>ν = 19.91 </a:t>
            </a:r>
            <a:r>
              <a:rPr lang="en-US" sz="2000" i="1">
                <a:latin typeface="Symbol" panose="05050102010706020507" pitchFamily="18" charset="2"/>
              </a:rPr>
              <a:t>´ </a:t>
            </a:r>
            <a:r>
              <a:rPr lang="en-US" sz="2000" i="1">
                <a:latin typeface="Times New Roman" panose="02020603050405020304" pitchFamily="18" charset="0"/>
              </a:rPr>
              <a:t>10</a:t>
            </a:r>
            <a:r>
              <a:rPr lang="en-US" sz="2000" i="1" baseline="30000">
                <a:latin typeface="Times New Roman" panose="02020603050405020304" pitchFamily="18" charset="0"/>
              </a:rPr>
              <a:t>-6</a:t>
            </a:r>
            <a:r>
              <a:rPr lang="en-US" sz="2000" i="1">
                <a:latin typeface="Times New Roman" panose="02020603050405020304" pitchFamily="18" charset="0"/>
              </a:rPr>
              <a:t> m</a:t>
            </a:r>
            <a:r>
              <a:rPr lang="en-US" sz="2000" i="1" baseline="30000">
                <a:latin typeface="Times New Roman" panose="02020603050405020304" pitchFamily="18" charset="0"/>
              </a:rPr>
              <a:t>2</a:t>
            </a:r>
            <a:r>
              <a:rPr lang="en-US" sz="2000" i="1">
                <a:latin typeface="Times New Roman" panose="02020603050405020304" pitchFamily="18" charset="0"/>
              </a:rPr>
              <a:t>/s</a:t>
            </a:r>
            <a:r>
              <a:rPr lang="en-US" i="1">
                <a:latin typeface="Times New Roman" panose="02020603050405020304" pitchFamily="18" charset="0"/>
              </a:rPr>
              <a:t>, </a:t>
            </a:r>
          </a:p>
          <a:p>
            <a:pPr>
              <a:lnSpc>
                <a:spcPct val="150000"/>
              </a:lnSpc>
            </a:pPr>
            <a:r>
              <a:rPr lang="el-GR" sz="2000" i="1">
                <a:latin typeface="Times New Roman" panose="02020603050405020304" pitchFamily="18" charset="0"/>
              </a:rPr>
              <a:t>α</a:t>
            </a:r>
            <a:r>
              <a:rPr lang="en-US" sz="2000" i="1">
                <a:latin typeface="Times New Roman" panose="02020603050405020304" pitchFamily="18" charset="0"/>
              </a:rPr>
              <a:t> = 28.4 </a:t>
            </a:r>
            <a:r>
              <a:rPr lang="en-US" sz="2000" i="1">
                <a:latin typeface="Symbol" panose="05050102010706020507" pitchFamily="18" charset="2"/>
              </a:rPr>
              <a:t>´ </a:t>
            </a:r>
            <a:r>
              <a:rPr lang="en-US" sz="2000" i="1">
                <a:latin typeface="Times New Roman" panose="02020603050405020304" pitchFamily="18" charset="0"/>
              </a:rPr>
              <a:t>10</a:t>
            </a:r>
            <a:r>
              <a:rPr lang="en-US" sz="2000" i="1" baseline="30000">
                <a:latin typeface="Times New Roman" panose="02020603050405020304" pitchFamily="18" charset="0"/>
              </a:rPr>
              <a:t>-6</a:t>
            </a:r>
            <a:r>
              <a:rPr lang="en-US" sz="2000" i="1">
                <a:latin typeface="Times New Roman" panose="02020603050405020304" pitchFamily="18" charset="0"/>
              </a:rPr>
              <a:t> m</a:t>
            </a:r>
            <a:r>
              <a:rPr lang="en-US" sz="2000" i="1" baseline="30000">
                <a:latin typeface="Times New Roman" panose="02020603050405020304" pitchFamily="18" charset="0"/>
              </a:rPr>
              <a:t>2</a:t>
            </a:r>
            <a:r>
              <a:rPr lang="en-US" sz="2000" i="1">
                <a:latin typeface="Times New Roman" panose="02020603050405020304" pitchFamily="18" charset="0"/>
              </a:rPr>
              <a:t>/s; </a:t>
            </a:r>
          </a:p>
          <a:p>
            <a:pPr>
              <a:lnSpc>
                <a:spcPct val="150000"/>
              </a:lnSpc>
            </a:pPr>
            <a:r>
              <a:rPr lang="en-US" sz="2000" i="1" err="1">
                <a:latin typeface="Symbol" panose="05050102010706020507" pitchFamily="18" charset="2"/>
              </a:rPr>
              <a:t>b</a:t>
            </a:r>
            <a:r>
              <a:rPr lang="en-US" sz="2000" i="1" baseline="-25000" err="1">
                <a:latin typeface="Times New Roman" panose="02020603050405020304" pitchFamily="18" charset="0"/>
              </a:rPr>
              <a:t>a</a:t>
            </a:r>
            <a:r>
              <a:rPr lang="en-US" sz="2000" i="1">
                <a:latin typeface="Times New Roman" panose="02020603050405020304" pitchFamily="18" charset="0"/>
              </a:rPr>
              <a:t> = 3.45</a:t>
            </a:r>
            <a:r>
              <a:rPr lang="en-US" sz="2000" i="1">
                <a:latin typeface="Symbol" panose="05050102010706020507" pitchFamily="18" charset="2"/>
              </a:rPr>
              <a:t>´</a:t>
            </a:r>
            <a:r>
              <a:rPr lang="en-US" sz="2000" i="1">
                <a:latin typeface="Times New Roman" panose="02020603050405020304" pitchFamily="18" charset="0"/>
              </a:rPr>
              <a:t>10</a:t>
            </a:r>
            <a:r>
              <a:rPr lang="en-US" sz="2000" i="1" baseline="30000">
                <a:latin typeface="Times New Roman" panose="02020603050405020304" pitchFamily="18" charset="0"/>
              </a:rPr>
              <a:t>-3 </a:t>
            </a:r>
            <a:r>
              <a:rPr lang="en-US" sz="2000" i="1">
                <a:latin typeface="Times New Roman" panose="02020603050405020304" pitchFamily="18" charset="0"/>
              </a:rPr>
              <a:t>K </a:t>
            </a:r>
            <a:r>
              <a:rPr lang="en-US" sz="2000" i="1" baseline="30000">
                <a:latin typeface="Times New Roman" panose="02020603050405020304" pitchFamily="18" charset="0"/>
              </a:rPr>
              <a:t>-1</a:t>
            </a:r>
            <a:r>
              <a:rPr lang="en-US" sz="2000" i="1">
                <a:latin typeface="Times New Roman" panose="02020603050405020304" pitchFamily="18" charset="0"/>
              </a:rPr>
              <a:t> </a:t>
            </a:r>
          </a:p>
        </p:txBody>
      </p:sp>
      <p:sp>
        <p:nvSpPr>
          <p:cNvPr id="11" name="Rectangle 10"/>
          <p:cNvSpPr/>
          <p:nvPr/>
        </p:nvSpPr>
        <p:spPr>
          <a:xfrm>
            <a:off x="364065" y="3742397"/>
            <a:ext cx="925253" cy="400110"/>
          </a:xfrm>
          <a:prstGeom prst="rect">
            <a:avLst/>
          </a:prstGeom>
        </p:spPr>
        <p:txBody>
          <a:bodyPr wrap="none">
            <a:spAutoFit/>
          </a:bodyPr>
          <a:lstStyle/>
          <a:p>
            <a:r>
              <a:rPr lang="en-US" sz="2000" b="1">
                <a:latin typeface="Times New Roman" panose="02020603050405020304" pitchFamily="18" charset="0"/>
              </a:rPr>
              <a:t>Data:  </a:t>
            </a:r>
          </a:p>
        </p:txBody>
      </p:sp>
      <p:sp>
        <p:nvSpPr>
          <p:cNvPr id="12" name="Rectangle 11"/>
          <p:cNvSpPr/>
          <p:nvPr/>
        </p:nvSpPr>
        <p:spPr>
          <a:xfrm>
            <a:off x="5006106" y="3942451"/>
            <a:ext cx="3911601" cy="2246769"/>
          </a:xfrm>
          <a:prstGeom prst="rect">
            <a:avLst/>
          </a:prstGeom>
        </p:spPr>
        <p:txBody>
          <a:bodyPr wrap="square">
            <a:spAutoFit/>
          </a:bodyPr>
          <a:lstStyle/>
          <a:p>
            <a:r>
              <a:rPr lang="en-US" sz="2000" b="1">
                <a:latin typeface="Times New Roman" panose="02020603050405020304" pitchFamily="18" charset="0"/>
              </a:rPr>
              <a:t>For water, </a:t>
            </a:r>
          </a:p>
          <a:p>
            <a:pPr>
              <a:lnSpc>
                <a:spcPct val="150000"/>
              </a:lnSpc>
            </a:pPr>
            <a:r>
              <a:rPr lang="en-US" sz="2000" i="1">
                <a:latin typeface="Times New Roman" panose="02020603050405020304" pitchFamily="18" charset="0"/>
              </a:rPr>
              <a:t>k = 0.598 W/</a:t>
            </a:r>
            <a:r>
              <a:rPr lang="en-US" sz="2000" i="1" err="1">
                <a:latin typeface="Times New Roman" panose="02020603050405020304" pitchFamily="18" charset="0"/>
              </a:rPr>
              <a:t>m</a:t>
            </a:r>
            <a:r>
              <a:rPr lang="en-US" sz="2000" i="1" err="1">
                <a:latin typeface="Symbol" panose="05050102010706020507" pitchFamily="18" charset="2"/>
              </a:rPr>
              <a:t>×</a:t>
            </a:r>
            <a:r>
              <a:rPr lang="en-US" sz="2000" i="1" err="1">
                <a:latin typeface="Times New Roman" panose="02020603050405020304" pitchFamily="18" charset="0"/>
              </a:rPr>
              <a:t>K</a:t>
            </a:r>
            <a:r>
              <a:rPr lang="en-US">
                <a:latin typeface="Times New Roman" panose="02020603050405020304" pitchFamily="18" charset="0"/>
              </a:rPr>
              <a:t>, </a:t>
            </a:r>
          </a:p>
          <a:p>
            <a:pPr>
              <a:lnSpc>
                <a:spcPct val="150000"/>
              </a:lnSpc>
            </a:pPr>
            <a:r>
              <a:rPr lang="en-US" sz="2000" i="1">
                <a:latin typeface="Times New Roman" panose="02020603050405020304" pitchFamily="18" charset="0"/>
              </a:rPr>
              <a:t>ν = 1.081 </a:t>
            </a:r>
            <a:r>
              <a:rPr lang="en-US" sz="2000" i="1">
                <a:latin typeface="Symbol" panose="05050102010706020507" pitchFamily="18" charset="2"/>
              </a:rPr>
              <a:t>´ </a:t>
            </a:r>
            <a:r>
              <a:rPr lang="en-US" sz="2000" i="1">
                <a:latin typeface="Times New Roman" panose="02020603050405020304" pitchFamily="18" charset="0"/>
              </a:rPr>
              <a:t>10</a:t>
            </a:r>
            <a:r>
              <a:rPr lang="en-US" sz="2000" i="1" baseline="30000">
                <a:latin typeface="Times New Roman" panose="02020603050405020304" pitchFamily="18" charset="0"/>
              </a:rPr>
              <a:t>-6</a:t>
            </a:r>
            <a:r>
              <a:rPr lang="en-US" sz="2000" i="1">
                <a:latin typeface="Times New Roman" panose="02020603050405020304" pitchFamily="18" charset="0"/>
              </a:rPr>
              <a:t> m</a:t>
            </a:r>
            <a:r>
              <a:rPr lang="en-US" sz="2000" i="1" baseline="30000">
                <a:latin typeface="Times New Roman" panose="02020603050405020304" pitchFamily="18" charset="0"/>
              </a:rPr>
              <a:t>2</a:t>
            </a:r>
            <a:r>
              <a:rPr lang="en-US" sz="2000" i="1">
                <a:latin typeface="Times New Roman" panose="02020603050405020304" pitchFamily="18" charset="0"/>
              </a:rPr>
              <a:t>/s</a:t>
            </a:r>
            <a:r>
              <a:rPr lang="en-US" i="1">
                <a:latin typeface="Times New Roman" panose="02020603050405020304" pitchFamily="18" charset="0"/>
              </a:rPr>
              <a:t>, </a:t>
            </a:r>
          </a:p>
          <a:p>
            <a:pPr>
              <a:lnSpc>
                <a:spcPct val="150000"/>
              </a:lnSpc>
            </a:pPr>
            <a:r>
              <a:rPr lang="el-GR" sz="2000" i="1">
                <a:latin typeface="Times New Roman" panose="02020603050405020304" pitchFamily="18" charset="0"/>
              </a:rPr>
              <a:t>α</a:t>
            </a:r>
            <a:r>
              <a:rPr lang="en-US" sz="2000" i="1">
                <a:latin typeface="Times New Roman" panose="02020603050405020304" pitchFamily="18" charset="0"/>
              </a:rPr>
              <a:t> = 1.431 </a:t>
            </a:r>
            <a:r>
              <a:rPr lang="en-US" sz="2000" i="1">
                <a:latin typeface="Symbol" panose="05050102010706020507" pitchFamily="18" charset="2"/>
              </a:rPr>
              <a:t>´ </a:t>
            </a:r>
            <a:r>
              <a:rPr lang="en-US" sz="2000" i="1">
                <a:latin typeface="Times New Roman" panose="02020603050405020304" pitchFamily="18" charset="0"/>
              </a:rPr>
              <a:t>10</a:t>
            </a:r>
            <a:r>
              <a:rPr lang="en-US" sz="2000" i="1" baseline="30000">
                <a:latin typeface="Times New Roman" panose="02020603050405020304" pitchFamily="18" charset="0"/>
              </a:rPr>
              <a:t>-7</a:t>
            </a:r>
            <a:r>
              <a:rPr lang="en-US" sz="2000" i="1">
                <a:latin typeface="Times New Roman" panose="02020603050405020304" pitchFamily="18" charset="0"/>
              </a:rPr>
              <a:t> m</a:t>
            </a:r>
            <a:r>
              <a:rPr lang="en-US" sz="2000" i="1" baseline="30000">
                <a:latin typeface="Times New Roman" panose="02020603050405020304" pitchFamily="18" charset="0"/>
              </a:rPr>
              <a:t>2</a:t>
            </a:r>
            <a:r>
              <a:rPr lang="en-US" sz="2000" i="1">
                <a:latin typeface="Times New Roman" panose="02020603050405020304" pitchFamily="18" charset="0"/>
              </a:rPr>
              <a:t>/s, </a:t>
            </a:r>
          </a:p>
          <a:p>
            <a:pPr>
              <a:lnSpc>
                <a:spcPct val="150000"/>
              </a:lnSpc>
            </a:pPr>
            <a:r>
              <a:rPr lang="en-US" sz="2000" i="1" err="1">
                <a:latin typeface="Symbol" panose="05050102010706020507" pitchFamily="18" charset="2"/>
              </a:rPr>
              <a:t>b</a:t>
            </a:r>
            <a:r>
              <a:rPr lang="en-US" sz="2000" i="1" baseline="-25000" err="1">
                <a:latin typeface="Times New Roman" panose="02020603050405020304" pitchFamily="18" charset="0"/>
              </a:rPr>
              <a:t>w</a:t>
            </a:r>
            <a:r>
              <a:rPr lang="en-US" sz="2000" i="1">
                <a:latin typeface="Times New Roman" panose="02020603050405020304" pitchFamily="18" charset="0"/>
              </a:rPr>
              <a:t> = 174 </a:t>
            </a:r>
            <a:r>
              <a:rPr lang="en-US" sz="2000" i="1">
                <a:latin typeface="Symbol" panose="05050102010706020507" pitchFamily="18" charset="2"/>
              </a:rPr>
              <a:t>´</a:t>
            </a:r>
            <a:r>
              <a:rPr lang="en-US" sz="2000" i="1">
                <a:latin typeface="Times New Roman" panose="02020603050405020304" pitchFamily="18" charset="0"/>
              </a:rPr>
              <a:t>10</a:t>
            </a:r>
            <a:r>
              <a:rPr lang="en-US" sz="2000" i="1" baseline="30000">
                <a:latin typeface="Times New Roman" panose="02020603050405020304" pitchFamily="18" charset="0"/>
              </a:rPr>
              <a:t>-6 </a:t>
            </a:r>
            <a:r>
              <a:rPr lang="en-US" sz="2000" i="1">
                <a:latin typeface="Times New Roman" panose="02020603050405020304" pitchFamily="18" charset="0"/>
              </a:rPr>
              <a:t>K </a:t>
            </a:r>
            <a:r>
              <a:rPr lang="en-US" sz="2000" i="1" baseline="30000">
                <a:latin typeface="Times New Roman" panose="02020603050405020304" pitchFamily="18" charset="0"/>
              </a:rPr>
              <a:t>-1 </a:t>
            </a:r>
            <a:r>
              <a:rPr lang="en-US" sz="2000" i="1">
                <a:latin typeface="Times New Roman" panose="02020603050405020304" pitchFamily="18" charset="0"/>
              </a:rPr>
              <a:t>.</a:t>
            </a:r>
            <a:endParaRPr lang="en-US" sz="2000" i="1"/>
          </a:p>
        </p:txBody>
      </p:sp>
      <p:sp>
        <p:nvSpPr>
          <p:cNvPr id="13" name="TextBox 12"/>
          <p:cNvSpPr txBox="1"/>
          <p:nvPr/>
        </p:nvSpPr>
        <p:spPr>
          <a:xfrm>
            <a:off x="364065" y="3205551"/>
            <a:ext cx="5475171" cy="461665"/>
          </a:xfrm>
          <a:prstGeom prst="rect">
            <a:avLst/>
          </a:prstGeom>
          <a:noFill/>
        </p:spPr>
        <p:txBody>
          <a:bodyPr wrap="square" rtlCol="0">
            <a:spAutoFit/>
          </a:bodyPr>
          <a:lstStyle/>
          <a:p>
            <a:r>
              <a:rPr lang="en-US" sz="2400"/>
              <a:t>The variation of </a:t>
            </a:r>
            <a:r>
              <a:rPr lang="en-US" sz="2400" i="1"/>
              <a:t>Ra</a:t>
            </a:r>
            <a:r>
              <a:rPr lang="en-US" sz="2400"/>
              <a:t> with the </a:t>
            </a:r>
            <a:r>
              <a:rPr lang="en-US" sz="2400" i="1"/>
              <a:t>Nu</a:t>
            </a:r>
            <a:r>
              <a:rPr lang="en-US" sz="2400"/>
              <a:t> is given as </a:t>
            </a:r>
          </a:p>
        </p:txBody>
      </p:sp>
      <p:graphicFrame>
        <p:nvGraphicFramePr>
          <p:cNvPr id="14" name="Object 13"/>
          <p:cNvGraphicFramePr>
            <a:graphicFrameLocks noChangeAspect="1"/>
          </p:cNvGraphicFramePr>
          <p:nvPr>
            <p:extLst>
              <p:ext uri="{D42A27DB-BD31-4B8C-83A1-F6EECF244321}">
                <p14:modId xmlns:p14="http://schemas.microsoft.com/office/powerpoint/2010/main" val="222025771"/>
              </p:ext>
            </p:extLst>
          </p:nvPr>
        </p:nvGraphicFramePr>
        <p:xfrm>
          <a:off x="5843588" y="3132138"/>
          <a:ext cx="2236787" cy="566737"/>
        </p:xfrm>
        <a:graphic>
          <a:graphicData uri="http://schemas.openxmlformats.org/presentationml/2006/ole">
            <mc:AlternateContent xmlns:mc="http://schemas.openxmlformats.org/markup-compatibility/2006">
              <mc:Choice xmlns:v="urn:schemas-microsoft-com:vml" Requires="v">
                <p:oleObj name="Equation" r:id="rId2" imgW="1054080" imgH="266400" progId="Equation.DSMT4">
                  <p:embed/>
                </p:oleObj>
              </mc:Choice>
              <mc:Fallback>
                <p:oleObj name="Equation" r:id="rId2" imgW="1054080" imgH="266400" progId="Equation.DSMT4">
                  <p:embed/>
                  <p:pic>
                    <p:nvPicPr>
                      <p:cNvPr id="14" name="Object 13"/>
                      <p:cNvPicPr/>
                      <p:nvPr/>
                    </p:nvPicPr>
                    <p:blipFill>
                      <a:blip r:embed="rId3"/>
                      <a:stretch>
                        <a:fillRect/>
                      </a:stretch>
                    </p:blipFill>
                    <p:spPr>
                      <a:xfrm>
                        <a:off x="5843588" y="3132138"/>
                        <a:ext cx="2236787" cy="566737"/>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3096746347"/>
              </p:ext>
            </p:extLst>
          </p:nvPr>
        </p:nvGraphicFramePr>
        <p:xfrm>
          <a:off x="9139379" y="3010139"/>
          <a:ext cx="2147887" cy="852487"/>
        </p:xfrm>
        <a:graphic>
          <a:graphicData uri="http://schemas.openxmlformats.org/presentationml/2006/ole">
            <mc:AlternateContent xmlns:mc="http://schemas.openxmlformats.org/markup-compatibility/2006">
              <mc:Choice xmlns:v="urn:schemas-microsoft-com:vml" Requires="v">
                <p:oleObj name="Equation" r:id="rId4" imgW="1054080" imgH="419040" progId="Equation.DSMT4">
                  <p:embed/>
                </p:oleObj>
              </mc:Choice>
              <mc:Fallback>
                <p:oleObj name="Equation" r:id="rId4" imgW="1054080" imgH="419040" progId="Equation.DSMT4">
                  <p:embed/>
                  <p:pic>
                    <p:nvPicPr>
                      <p:cNvPr id="10" name="Object 9"/>
                      <p:cNvPicPr/>
                      <p:nvPr/>
                    </p:nvPicPr>
                    <p:blipFill>
                      <a:blip r:embed="rId5"/>
                      <a:stretch>
                        <a:fillRect/>
                      </a:stretch>
                    </p:blipFill>
                    <p:spPr>
                      <a:xfrm>
                        <a:off x="9139379" y="3010139"/>
                        <a:ext cx="2147887" cy="852487"/>
                      </a:xfrm>
                      <a:prstGeom prst="rect">
                        <a:avLst/>
                      </a:prstGeom>
                    </p:spPr>
                  </p:pic>
                </p:oleObj>
              </mc:Fallback>
            </mc:AlternateContent>
          </a:graphicData>
        </a:graphic>
      </p:graphicFrame>
      <p:sp>
        <p:nvSpPr>
          <p:cNvPr id="4" name="TextBox 3"/>
          <p:cNvSpPr txBox="1"/>
          <p:nvPr/>
        </p:nvSpPr>
        <p:spPr>
          <a:xfrm>
            <a:off x="8030729" y="3205551"/>
            <a:ext cx="1182541" cy="461665"/>
          </a:xfrm>
          <a:prstGeom prst="rect">
            <a:avLst/>
          </a:prstGeom>
          <a:noFill/>
        </p:spPr>
        <p:txBody>
          <a:bodyPr wrap="square" rtlCol="0">
            <a:spAutoFit/>
          </a:bodyPr>
          <a:lstStyle/>
          <a:p>
            <a:r>
              <a:rPr lang="en-US" sz="2400"/>
              <a:t>Where,</a:t>
            </a:r>
          </a:p>
        </p:txBody>
      </p:sp>
    </p:spTree>
    <p:extLst>
      <p:ext uri="{BB962C8B-B14F-4D97-AF65-F5344CB8AC3E}">
        <p14:creationId xmlns:p14="http://schemas.microsoft.com/office/powerpoint/2010/main" val="1398375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4081A6-3EAE-94DA-4347-279A9E32E680}"/>
              </a:ext>
            </a:extLst>
          </p:cNvPr>
          <p:cNvSpPr>
            <a:spLocks noGrp="1"/>
          </p:cNvSpPr>
          <p:nvPr>
            <p:ph type="sldNum" sz="quarter" idx="12"/>
          </p:nvPr>
        </p:nvSpPr>
        <p:spPr/>
        <p:txBody>
          <a:bodyPr/>
          <a:lstStyle/>
          <a:p>
            <a:fld id="{6D22F896-40B5-4ADD-8801-0D06FADFA095}" type="slidenum">
              <a:rPr lang="en-US" smtClean="0"/>
              <a:t>11</a:t>
            </a:fld>
            <a:endParaRPr lang="en-US"/>
          </a:p>
        </p:txBody>
      </p:sp>
    </p:spTree>
    <p:extLst>
      <p:ext uri="{BB962C8B-B14F-4D97-AF65-F5344CB8AC3E}">
        <p14:creationId xmlns:p14="http://schemas.microsoft.com/office/powerpoint/2010/main" val="591728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D22F896-40B5-4ADD-8801-0D06FADFA095}" type="slidenum">
              <a:rPr lang="en-US" smtClean="0"/>
              <a:t>12</a:t>
            </a:fld>
            <a:endParaRPr lang="en-US"/>
          </a:p>
        </p:txBody>
      </p:sp>
      <p:sp>
        <p:nvSpPr>
          <p:cNvPr id="3" name="TextBox 2"/>
          <p:cNvSpPr txBox="1"/>
          <p:nvPr/>
        </p:nvSpPr>
        <p:spPr>
          <a:xfrm>
            <a:off x="380999" y="1231720"/>
            <a:ext cx="3256452" cy="461665"/>
          </a:xfrm>
          <a:prstGeom prst="rect">
            <a:avLst/>
          </a:prstGeom>
          <a:noFill/>
        </p:spPr>
        <p:txBody>
          <a:bodyPr wrap="square" rtlCol="0">
            <a:spAutoFit/>
          </a:bodyPr>
          <a:lstStyle/>
          <a:p>
            <a:r>
              <a:rPr lang="en-US" sz="2400" b="1">
                <a:solidFill>
                  <a:srgbClr val="FF0000"/>
                </a:solidFill>
              </a:rPr>
              <a:t>Solution:</a:t>
            </a:r>
          </a:p>
        </p:txBody>
      </p:sp>
      <p:sp>
        <p:nvSpPr>
          <p:cNvPr id="4" name="Rectangle 3"/>
          <p:cNvSpPr/>
          <p:nvPr/>
        </p:nvSpPr>
        <p:spPr>
          <a:xfrm>
            <a:off x="380999" y="1719876"/>
            <a:ext cx="10938933" cy="830997"/>
          </a:xfrm>
          <a:prstGeom prst="rect">
            <a:avLst/>
          </a:prstGeom>
        </p:spPr>
        <p:txBody>
          <a:bodyPr wrap="square">
            <a:spAutoFit/>
          </a:bodyPr>
          <a:lstStyle/>
          <a:p>
            <a:r>
              <a:rPr lang="en-US" sz="2400" b="1"/>
              <a:t>Known: </a:t>
            </a:r>
            <a:r>
              <a:rPr lang="en-US" sz="2400"/>
              <a:t>Person, approximated as a cylinder, experiencing heat loss in water or air at 10°C.</a:t>
            </a:r>
          </a:p>
        </p:txBody>
      </p:sp>
      <p:sp>
        <p:nvSpPr>
          <p:cNvPr id="5" name="Rectangle 4"/>
          <p:cNvSpPr/>
          <p:nvPr/>
        </p:nvSpPr>
        <p:spPr>
          <a:xfrm>
            <a:off x="380998" y="2617161"/>
            <a:ext cx="11125199" cy="461665"/>
          </a:xfrm>
          <a:prstGeom prst="rect">
            <a:avLst/>
          </a:prstGeom>
        </p:spPr>
        <p:txBody>
          <a:bodyPr wrap="square">
            <a:spAutoFit/>
          </a:bodyPr>
          <a:lstStyle/>
          <a:p>
            <a:r>
              <a:rPr lang="en-US" sz="2400" b="1">
                <a:latin typeface="Times New Roman" panose="02020603050405020304" pitchFamily="18" charset="0"/>
              </a:rPr>
              <a:t>Find: </a:t>
            </a:r>
            <a:r>
              <a:rPr lang="en-US" sz="2400">
                <a:latin typeface="Times New Roman" panose="02020603050405020304" pitchFamily="18" charset="0"/>
              </a:rPr>
              <a:t>Whether heat loss from body in water is faster then that in air. If so then how fast?  </a:t>
            </a:r>
            <a:endParaRPr lang="en-US" sz="2400"/>
          </a:p>
        </p:txBody>
      </p:sp>
      <p:sp>
        <p:nvSpPr>
          <p:cNvPr id="6" name="Rectangle 5"/>
          <p:cNvSpPr/>
          <p:nvPr/>
        </p:nvSpPr>
        <p:spPr>
          <a:xfrm>
            <a:off x="380998" y="3258596"/>
            <a:ext cx="11260668" cy="1200329"/>
          </a:xfrm>
          <a:prstGeom prst="rect">
            <a:avLst/>
          </a:prstGeom>
        </p:spPr>
        <p:txBody>
          <a:bodyPr wrap="square">
            <a:spAutoFit/>
          </a:bodyPr>
          <a:lstStyle/>
          <a:p>
            <a:r>
              <a:rPr lang="en-US" sz="2400" b="1">
                <a:latin typeface="Times New Roman" panose="02020603050405020304" pitchFamily="18" charset="0"/>
              </a:rPr>
              <a:t>Assumptions: </a:t>
            </a:r>
            <a:r>
              <a:rPr lang="en-US" sz="2400">
                <a:latin typeface="Times New Roman" panose="02020603050405020304" pitchFamily="18" charset="0"/>
              </a:rPr>
              <a:t>(1) Person can be approximated as a vertical cylinder of diameter D = 0.3 m and height H = 1.8 m (2) Initially the outer surface of the body is kept at </a:t>
            </a:r>
            <a:r>
              <a:rPr lang="en-US" sz="2400" i="1">
                <a:latin typeface="Times New Roman" panose="02020603050405020304" pitchFamily="18" charset="0"/>
              </a:rPr>
              <a:t>25°C</a:t>
            </a:r>
            <a:r>
              <a:rPr lang="en-US" sz="2400">
                <a:latin typeface="Times New Roman" panose="02020603050405020304" pitchFamily="18" charset="0"/>
              </a:rPr>
              <a:t> </a:t>
            </a:r>
          </a:p>
          <a:p>
            <a:r>
              <a:rPr lang="en-US" sz="2400">
                <a:latin typeface="Times New Roman" panose="02020603050405020304" pitchFamily="18" charset="0"/>
              </a:rPr>
              <a:t>(3) Loss is only from the lateral surface of the body.</a:t>
            </a:r>
            <a:endParaRPr lang="en-US" sz="2400"/>
          </a:p>
        </p:txBody>
      </p:sp>
      <p:sp>
        <p:nvSpPr>
          <p:cNvPr id="7" name="Rectangle 6"/>
          <p:cNvSpPr/>
          <p:nvPr/>
        </p:nvSpPr>
        <p:spPr>
          <a:xfrm>
            <a:off x="344053" y="4629584"/>
            <a:ext cx="11125199" cy="830997"/>
          </a:xfrm>
          <a:prstGeom prst="rect">
            <a:avLst/>
          </a:prstGeom>
        </p:spPr>
        <p:txBody>
          <a:bodyPr wrap="square">
            <a:spAutoFit/>
          </a:bodyPr>
          <a:lstStyle/>
          <a:p>
            <a:r>
              <a:rPr lang="en-US" sz="2400" b="1">
                <a:latin typeface="Times New Roman" panose="02020603050405020304" pitchFamily="18" charset="0"/>
              </a:rPr>
              <a:t>Analysis: </a:t>
            </a:r>
            <a:r>
              <a:rPr lang="en-US" sz="2400">
                <a:latin typeface="Times New Roman" panose="02020603050405020304" pitchFamily="18" charset="0"/>
              </a:rPr>
              <a:t>In both water (w) and air (a), the heat loss from the lateral surface of the cylinder approximating the body is</a:t>
            </a:r>
            <a:endParaRPr lang="en-US" sz="2400"/>
          </a:p>
        </p:txBody>
      </p:sp>
      <p:graphicFrame>
        <p:nvGraphicFramePr>
          <p:cNvPr id="8" name="Object 7"/>
          <p:cNvGraphicFramePr>
            <a:graphicFrameLocks noChangeAspect="1"/>
          </p:cNvGraphicFramePr>
          <p:nvPr>
            <p:extLst>
              <p:ext uri="{D42A27DB-BD31-4B8C-83A1-F6EECF244321}">
                <p14:modId xmlns:p14="http://schemas.microsoft.com/office/powerpoint/2010/main" val="1635043460"/>
              </p:ext>
            </p:extLst>
          </p:nvPr>
        </p:nvGraphicFramePr>
        <p:xfrm>
          <a:off x="702110" y="5731656"/>
          <a:ext cx="3525837" cy="566737"/>
        </p:xfrm>
        <a:graphic>
          <a:graphicData uri="http://schemas.openxmlformats.org/presentationml/2006/ole">
            <mc:AlternateContent xmlns:mc="http://schemas.openxmlformats.org/markup-compatibility/2006">
              <mc:Choice xmlns:v="urn:schemas-microsoft-com:vml" Requires="v">
                <p:oleObj name="Equation" r:id="rId2" imgW="1422360" imgH="228600" progId="Equation.DSMT4">
                  <p:embed/>
                </p:oleObj>
              </mc:Choice>
              <mc:Fallback>
                <p:oleObj name="Equation" r:id="rId2" imgW="1422360" imgH="228600" progId="Equation.DSMT4">
                  <p:embed/>
                  <p:pic>
                    <p:nvPicPr>
                      <p:cNvPr id="8" name="Object 7"/>
                      <p:cNvPicPr/>
                      <p:nvPr/>
                    </p:nvPicPr>
                    <p:blipFill>
                      <a:blip r:embed="rId3"/>
                      <a:stretch>
                        <a:fillRect/>
                      </a:stretch>
                    </p:blipFill>
                    <p:spPr>
                      <a:xfrm>
                        <a:off x="702110" y="5731656"/>
                        <a:ext cx="3525837" cy="566737"/>
                      </a:xfrm>
                      <a:prstGeom prst="rect">
                        <a:avLst/>
                      </a:prstGeom>
                    </p:spPr>
                  </p:pic>
                </p:oleObj>
              </mc:Fallback>
            </mc:AlternateContent>
          </a:graphicData>
        </a:graphic>
      </p:graphicFrame>
      <p:sp>
        <p:nvSpPr>
          <p:cNvPr id="9" name="TextBox 8"/>
          <p:cNvSpPr txBox="1"/>
          <p:nvPr/>
        </p:nvSpPr>
        <p:spPr>
          <a:xfrm>
            <a:off x="4575848" y="5784191"/>
            <a:ext cx="1237673" cy="461665"/>
          </a:xfrm>
          <a:prstGeom prst="rect">
            <a:avLst/>
          </a:prstGeom>
          <a:noFill/>
        </p:spPr>
        <p:txBody>
          <a:bodyPr wrap="square" rtlCol="0">
            <a:spAutoFit/>
          </a:bodyPr>
          <a:lstStyle/>
          <a:p>
            <a:r>
              <a:rPr lang="en-US" sz="2400"/>
              <a:t>…….(9)</a:t>
            </a:r>
          </a:p>
        </p:txBody>
      </p:sp>
    </p:spTree>
    <p:extLst>
      <p:ext uri="{BB962C8B-B14F-4D97-AF65-F5344CB8AC3E}">
        <p14:creationId xmlns:p14="http://schemas.microsoft.com/office/powerpoint/2010/main" val="1893877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BD0BE7-A990-4C42-A848-98CE3D30AB0D}"/>
              </a:ext>
            </a:extLst>
          </p:cNvPr>
          <p:cNvSpPr>
            <a:spLocks noGrp="1"/>
          </p:cNvSpPr>
          <p:nvPr>
            <p:ph type="sldNum" sz="quarter" idx="12"/>
          </p:nvPr>
        </p:nvSpPr>
        <p:spPr/>
        <p:txBody>
          <a:bodyPr/>
          <a:lstStyle/>
          <a:p>
            <a:fld id="{6D22F896-40B5-4ADD-8801-0D06FADFA095}" type="slidenum">
              <a:rPr lang="en-US" smtClean="0"/>
              <a:t>13</a:t>
            </a:fld>
            <a:endParaRPr lang="en-US"/>
          </a:p>
        </p:txBody>
      </p:sp>
    </p:spTree>
    <p:extLst>
      <p:ext uri="{BB962C8B-B14F-4D97-AF65-F5344CB8AC3E}">
        <p14:creationId xmlns:p14="http://schemas.microsoft.com/office/powerpoint/2010/main" val="687084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D22F896-40B5-4ADD-8801-0D06FADFA095}" type="slidenum">
              <a:rPr lang="en-US" smtClean="0"/>
              <a:t>14</a:t>
            </a:fld>
            <a:endParaRPr lang="en-US"/>
          </a:p>
        </p:txBody>
      </p:sp>
      <p:sp>
        <p:nvSpPr>
          <p:cNvPr id="3" name="Rectangle 2"/>
          <p:cNvSpPr/>
          <p:nvPr/>
        </p:nvSpPr>
        <p:spPr>
          <a:xfrm>
            <a:off x="325223" y="1258515"/>
            <a:ext cx="7014484" cy="461665"/>
          </a:xfrm>
          <a:prstGeom prst="rect">
            <a:avLst/>
          </a:prstGeom>
        </p:spPr>
        <p:txBody>
          <a:bodyPr wrap="none">
            <a:spAutoFit/>
          </a:bodyPr>
          <a:lstStyle/>
          <a:p>
            <a:r>
              <a:rPr lang="en-US" sz="2400">
                <a:latin typeface="Times New Roman" panose="02020603050405020304" pitchFamily="18" charset="0"/>
              </a:rPr>
              <a:t>here </a:t>
            </a:r>
            <a:r>
              <a:rPr lang="en-US" sz="2400" i="1" err="1">
                <a:latin typeface="Times New Roman" panose="02020603050405020304" pitchFamily="18" charset="0"/>
              </a:rPr>
              <a:t>T</a:t>
            </a:r>
            <a:r>
              <a:rPr lang="en-US" sz="2400" i="1" baseline="-25000" err="1">
                <a:latin typeface="Times New Roman" panose="02020603050405020304" pitchFamily="18" charset="0"/>
              </a:rPr>
              <a:t>s</a:t>
            </a:r>
            <a:r>
              <a:rPr lang="en-US" sz="2400">
                <a:latin typeface="Times New Roman" panose="02020603050405020304" pitchFamily="18" charset="0"/>
              </a:rPr>
              <a:t> and </a:t>
            </a:r>
            <a:r>
              <a:rPr lang="en-US" sz="2400" i="1">
                <a:latin typeface="Times New Roman" panose="02020603050405020304" pitchFamily="18" charset="0"/>
              </a:rPr>
              <a:t>T</a:t>
            </a:r>
            <a:r>
              <a:rPr lang="en-US" sz="2400" i="1" baseline="-25000">
                <a:latin typeface="Symbol" panose="05050102010706020507" pitchFamily="18" charset="2"/>
              </a:rPr>
              <a:t>¥</a:t>
            </a:r>
            <a:r>
              <a:rPr lang="en-US" sz="2400">
                <a:latin typeface="Symbol" panose="05050102010706020507" pitchFamily="18" charset="2"/>
              </a:rPr>
              <a:t> </a:t>
            </a:r>
            <a:r>
              <a:rPr lang="en-US" sz="2400">
                <a:latin typeface="Times New Roman" panose="02020603050405020304" pitchFamily="18" charset="0"/>
              </a:rPr>
              <a:t>are the same for both situations. Hence,</a:t>
            </a:r>
            <a:endParaRPr lang="en-US" sz="2400"/>
          </a:p>
        </p:txBody>
      </p:sp>
      <p:graphicFrame>
        <p:nvGraphicFramePr>
          <p:cNvPr id="4" name="Object 3"/>
          <p:cNvGraphicFramePr>
            <a:graphicFrameLocks noChangeAspect="1"/>
          </p:cNvGraphicFramePr>
          <p:nvPr>
            <p:extLst>
              <p:ext uri="{D42A27DB-BD31-4B8C-83A1-F6EECF244321}">
                <p14:modId xmlns:p14="http://schemas.microsoft.com/office/powerpoint/2010/main" val="1983874039"/>
              </p:ext>
            </p:extLst>
          </p:nvPr>
        </p:nvGraphicFramePr>
        <p:xfrm>
          <a:off x="655204" y="1982352"/>
          <a:ext cx="1384300" cy="1101725"/>
        </p:xfrm>
        <a:graphic>
          <a:graphicData uri="http://schemas.openxmlformats.org/presentationml/2006/ole">
            <mc:AlternateContent xmlns:mc="http://schemas.openxmlformats.org/markup-compatibility/2006">
              <mc:Choice xmlns:v="urn:schemas-microsoft-com:vml" Requires="v">
                <p:oleObj name="Equation" r:id="rId2" imgW="558720" imgH="444240" progId="Equation.DSMT4">
                  <p:embed/>
                </p:oleObj>
              </mc:Choice>
              <mc:Fallback>
                <p:oleObj name="Equation" r:id="rId2" imgW="558720" imgH="444240" progId="Equation.DSMT4">
                  <p:embed/>
                  <p:pic>
                    <p:nvPicPr>
                      <p:cNvPr id="4" name="Object 3"/>
                      <p:cNvPicPr/>
                      <p:nvPr/>
                    </p:nvPicPr>
                    <p:blipFill>
                      <a:blip r:embed="rId3"/>
                      <a:stretch>
                        <a:fillRect/>
                      </a:stretch>
                    </p:blipFill>
                    <p:spPr>
                      <a:xfrm>
                        <a:off x="655204" y="1982352"/>
                        <a:ext cx="1384300" cy="1101725"/>
                      </a:xfrm>
                      <a:prstGeom prst="rect">
                        <a:avLst/>
                      </a:prstGeom>
                    </p:spPr>
                  </p:pic>
                </p:oleObj>
              </mc:Fallback>
            </mc:AlternateContent>
          </a:graphicData>
        </a:graphic>
      </p:graphicFrame>
      <p:sp>
        <p:nvSpPr>
          <p:cNvPr id="5" name="TextBox 4"/>
          <p:cNvSpPr txBox="1"/>
          <p:nvPr/>
        </p:nvSpPr>
        <p:spPr>
          <a:xfrm>
            <a:off x="2331410" y="2302383"/>
            <a:ext cx="1418554" cy="461665"/>
          </a:xfrm>
          <a:prstGeom prst="rect">
            <a:avLst/>
          </a:prstGeom>
          <a:noFill/>
        </p:spPr>
        <p:txBody>
          <a:bodyPr wrap="square" rtlCol="0">
            <a:spAutoFit/>
          </a:bodyPr>
          <a:lstStyle/>
          <a:p>
            <a:r>
              <a:rPr lang="en-US" sz="2400"/>
              <a:t>…….(10)</a:t>
            </a:r>
          </a:p>
        </p:txBody>
      </p:sp>
      <p:sp>
        <p:nvSpPr>
          <p:cNvPr id="6" name="Rectangle 5"/>
          <p:cNvSpPr/>
          <p:nvPr/>
        </p:nvSpPr>
        <p:spPr>
          <a:xfrm>
            <a:off x="397392" y="3241772"/>
            <a:ext cx="3792898" cy="461665"/>
          </a:xfrm>
          <a:prstGeom prst="rect">
            <a:avLst/>
          </a:prstGeom>
        </p:spPr>
        <p:txBody>
          <a:bodyPr wrap="none">
            <a:spAutoFit/>
          </a:bodyPr>
          <a:lstStyle/>
          <a:p>
            <a:r>
              <a:rPr lang="en-US" sz="2400" b="1">
                <a:solidFill>
                  <a:srgbClr val="FF0000"/>
                </a:solidFill>
                <a:latin typeface="Times New Roman" panose="02020603050405020304" pitchFamily="18" charset="0"/>
              </a:rPr>
              <a:t>For Vertical cylinder in air:</a:t>
            </a:r>
            <a:endParaRPr lang="en-US" sz="2400" b="1">
              <a:solidFill>
                <a:srgbClr val="FF0000"/>
              </a:solidFill>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1568917894"/>
              </p:ext>
            </p:extLst>
          </p:nvPr>
        </p:nvGraphicFramePr>
        <p:xfrm>
          <a:off x="552450" y="4043363"/>
          <a:ext cx="9520238" cy="1581150"/>
        </p:xfrm>
        <a:graphic>
          <a:graphicData uri="http://schemas.openxmlformats.org/presentationml/2006/ole">
            <mc:AlternateContent xmlns:mc="http://schemas.openxmlformats.org/markup-compatibility/2006">
              <mc:Choice xmlns:v="urn:schemas-microsoft-com:vml" Requires="v">
                <p:oleObj name="Equation" r:id="rId4" imgW="4660560" imgH="774360" progId="Equation.DSMT4">
                  <p:embed/>
                </p:oleObj>
              </mc:Choice>
              <mc:Fallback>
                <p:oleObj name="Equation" r:id="rId4" imgW="4660560" imgH="774360" progId="Equation.DSMT4">
                  <p:embed/>
                  <p:pic>
                    <p:nvPicPr>
                      <p:cNvPr id="7" name="Object 6"/>
                      <p:cNvPicPr/>
                      <p:nvPr/>
                    </p:nvPicPr>
                    <p:blipFill>
                      <a:blip r:embed="rId5"/>
                      <a:stretch>
                        <a:fillRect/>
                      </a:stretch>
                    </p:blipFill>
                    <p:spPr>
                      <a:xfrm>
                        <a:off x="552450" y="4043363"/>
                        <a:ext cx="9520238" cy="1581150"/>
                      </a:xfrm>
                      <a:prstGeom prst="rect">
                        <a:avLst/>
                      </a:prstGeom>
                    </p:spPr>
                  </p:pic>
                </p:oleObj>
              </mc:Fallback>
            </mc:AlternateContent>
          </a:graphicData>
        </a:graphic>
      </p:graphicFrame>
    </p:spTree>
    <p:extLst>
      <p:ext uri="{BB962C8B-B14F-4D97-AF65-F5344CB8AC3E}">
        <p14:creationId xmlns:p14="http://schemas.microsoft.com/office/powerpoint/2010/main" val="1361922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D22F896-40B5-4ADD-8801-0D06FADFA095}" type="slidenum">
              <a:rPr lang="en-US" smtClean="0"/>
              <a:t>15</a:t>
            </a:fld>
            <a:endParaRPr lang="en-US"/>
          </a:p>
        </p:txBody>
      </p:sp>
      <p:sp>
        <p:nvSpPr>
          <p:cNvPr id="3" name="TextBox 2"/>
          <p:cNvSpPr txBox="1"/>
          <p:nvPr/>
        </p:nvSpPr>
        <p:spPr>
          <a:xfrm>
            <a:off x="378691" y="1182259"/>
            <a:ext cx="7333673" cy="461665"/>
          </a:xfrm>
          <a:prstGeom prst="rect">
            <a:avLst/>
          </a:prstGeom>
          <a:noFill/>
        </p:spPr>
        <p:txBody>
          <a:bodyPr wrap="square" rtlCol="0">
            <a:spAutoFit/>
          </a:bodyPr>
          <a:lstStyle/>
          <a:p>
            <a:r>
              <a:rPr lang="en-US" sz="2400"/>
              <a:t>So, from the relation with </a:t>
            </a:r>
            <a:r>
              <a:rPr lang="en-US" sz="2400" i="1"/>
              <a:t>Nu</a:t>
            </a:r>
          </a:p>
        </p:txBody>
      </p:sp>
      <p:graphicFrame>
        <p:nvGraphicFramePr>
          <p:cNvPr id="4" name="Object 3"/>
          <p:cNvGraphicFramePr>
            <a:graphicFrameLocks noChangeAspect="1"/>
          </p:cNvGraphicFramePr>
          <p:nvPr>
            <p:extLst>
              <p:ext uri="{D42A27DB-BD31-4B8C-83A1-F6EECF244321}">
                <p14:modId xmlns:p14="http://schemas.microsoft.com/office/powerpoint/2010/main" val="1145691876"/>
              </p:ext>
            </p:extLst>
          </p:nvPr>
        </p:nvGraphicFramePr>
        <p:xfrm>
          <a:off x="893763" y="1892300"/>
          <a:ext cx="5988050" cy="552450"/>
        </p:xfrm>
        <a:graphic>
          <a:graphicData uri="http://schemas.openxmlformats.org/presentationml/2006/ole">
            <mc:AlternateContent xmlns:mc="http://schemas.openxmlformats.org/markup-compatibility/2006">
              <mc:Choice xmlns:v="urn:schemas-microsoft-com:vml" Requires="v">
                <p:oleObj name="Equation" r:id="rId2" imgW="2895480" imgH="266400" progId="Equation.DSMT4">
                  <p:embed/>
                </p:oleObj>
              </mc:Choice>
              <mc:Fallback>
                <p:oleObj name="Equation" r:id="rId2" imgW="2895480" imgH="266400" progId="Equation.DSMT4">
                  <p:embed/>
                  <p:pic>
                    <p:nvPicPr>
                      <p:cNvPr id="4" name="Object 3"/>
                      <p:cNvPicPr/>
                      <p:nvPr/>
                    </p:nvPicPr>
                    <p:blipFill>
                      <a:blip r:embed="rId3"/>
                      <a:stretch>
                        <a:fillRect/>
                      </a:stretch>
                    </p:blipFill>
                    <p:spPr>
                      <a:xfrm>
                        <a:off x="893763" y="1892300"/>
                        <a:ext cx="5988050" cy="55245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99181966"/>
              </p:ext>
            </p:extLst>
          </p:nvPr>
        </p:nvGraphicFramePr>
        <p:xfrm>
          <a:off x="815682" y="2708866"/>
          <a:ext cx="2694136" cy="795412"/>
        </p:xfrm>
        <a:graphic>
          <a:graphicData uri="http://schemas.openxmlformats.org/presentationml/2006/ole">
            <mc:AlternateContent xmlns:mc="http://schemas.openxmlformats.org/markup-compatibility/2006">
              <mc:Choice xmlns:v="urn:schemas-microsoft-com:vml" Requires="v">
                <p:oleObj name="Equation" r:id="rId4" imgW="1333440" imgH="393480" progId="Equation.DSMT4">
                  <p:embed/>
                </p:oleObj>
              </mc:Choice>
              <mc:Fallback>
                <p:oleObj name="Equation" r:id="rId4" imgW="1333440" imgH="393480" progId="Equation.DSMT4">
                  <p:embed/>
                  <p:pic>
                    <p:nvPicPr>
                      <p:cNvPr id="5" name="Object 4"/>
                      <p:cNvPicPr/>
                      <p:nvPr/>
                    </p:nvPicPr>
                    <p:blipFill>
                      <a:blip r:embed="rId5"/>
                      <a:stretch>
                        <a:fillRect/>
                      </a:stretch>
                    </p:blipFill>
                    <p:spPr>
                      <a:xfrm>
                        <a:off x="815682" y="2708866"/>
                        <a:ext cx="2694136" cy="795412"/>
                      </a:xfrm>
                      <a:prstGeom prst="rect">
                        <a:avLst/>
                      </a:prstGeom>
                    </p:spPr>
                  </p:pic>
                </p:oleObj>
              </mc:Fallback>
            </mc:AlternateContent>
          </a:graphicData>
        </a:graphic>
      </p:graphicFrame>
      <p:sp>
        <p:nvSpPr>
          <p:cNvPr id="6" name="Rectangle 5"/>
          <p:cNvSpPr/>
          <p:nvPr/>
        </p:nvSpPr>
        <p:spPr>
          <a:xfrm>
            <a:off x="3905056" y="2736577"/>
            <a:ext cx="583814" cy="646331"/>
          </a:xfrm>
          <a:prstGeom prst="rect">
            <a:avLst/>
          </a:prstGeom>
        </p:spPr>
        <p:txBody>
          <a:bodyPr wrap="none">
            <a:spAutoFit/>
          </a:bodyPr>
          <a:lstStyle/>
          <a:p>
            <a:r>
              <a:rPr lang="en-IN" sz="3600">
                <a:latin typeface="MTSYN"/>
              </a:rPr>
              <a:t>⇒</a:t>
            </a:r>
            <a:endParaRPr lang="en-IN" sz="3600"/>
          </a:p>
        </p:txBody>
      </p:sp>
      <p:graphicFrame>
        <p:nvGraphicFramePr>
          <p:cNvPr id="7" name="Object 6"/>
          <p:cNvGraphicFramePr>
            <a:graphicFrameLocks noChangeAspect="1"/>
          </p:cNvGraphicFramePr>
          <p:nvPr>
            <p:extLst>
              <p:ext uri="{D42A27DB-BD31-4B8C-83A1-F6EECF244321}">
                <p14:modId xmlns:p14="http://schemas.microsoft.com/office/powerpoint/2010/main" val="4192722007"/>
              </p:ext>
            </p:extLst>
          </p:nvPr>
        </p:nvGraphicFramePr>
        <p:xfrm>
          <a:off x="4990520" y="2782758"/>
          <a:ext cx="2487379" cy="514630"/>
        </p:xfrm>
        <a:graphic>
          <a:graphicData uri="http://schemas.openxmlformats.org/presentationml/2006/ole">
            <mc:AlternateContent xmlns:mc="http://schemas.openxmlformats.org/markup-compatibility/2006">
              <mc:Choice xmlns:v="urn:schemas-microsoft-com:vml" Requires="v">
                <p:oleObj name="Equation" r:id="rId6" imgW="1104840" imgH="228600" progId="Equation.DSMT4">
                  <p:embed/>
                </p:oleObj>
              </mc:Choice>
              <mc:Fallback>
                <p:oleObj name="Equation" r:id="rId6" imgW="1104840" imgH="228600" progId="Equation.DSMT4">
                  <p:embed/>
                  <p:pic>
                    <p:nvPicPr>
                      <p:cNvPr id="7" name="Object 6"/>
                      <p:cNvPicPr/>
                      <p:nvPr/>
                    </p:nvPicPr>
                    <p:blipFill>
                      <a:blip r:embed="rId7"/>
                      <a:stretch>
                        <a:fillRect/>
                      </a:stretch>
                    </p:blipFill>
                    <p:spPr>
                      <a:xfrm>
                        <a:off x="4990520" y="2782758"/>
                        <a:ext cx="2487379" cy="514630"/>
                      </a:xfrm>
                      <a:prstGeom prst="rect">
                        <a:avLst/>
                      </a:prstGeom>
                    </p:spPr>
                  </p:pic>
                </p:oleObj>
              </mc:Fallback>
            </mc:AlternateContent>
          </a:graphicData>
        </a:graphic>
      </p:graphicFrame>
      <p:sp>
        <p:nvSpPr>
          <p:cNvPr id="8" name="Rectangle 7"/>
          <p:cNvSpPr/>
          <p:nvPr/>
        </p:nvSpPr>
        <p:spPr>
          <a:xfrm>
            <a:off x="518534" y="3688451"/>
            <a:ext cx="3626121" cy="461665"/>
          </a:xfrm>
          <a:prstGeom prst="rect">
            <a:avLst/>
          </a:prstGeom>
        </p:spPr>
        <p:txBody>
          <a:bodyPr wrap="none">
            <a:spAutoFit/>
          </a:bodyPr>
          <a:lstStyle/>
          <a:p>
            <a:r>
              <a:rPr lang="en-US" sz="2400" b="1">
                <a:solidFill>
                  <a:srgbClr val="FF0000"/>
                </a:solidFill>
                <a:latin typeface="Times New Roman" panose="02020603050405020304" pitchFamily="18" charset="0"/>
              </a:rPr>
              <a:t>Vertical cylinder in water:</a:t>
            </a:r>
            <a:endParaRPr lang="en-US" sz="2400" b="1">
              <a:solidFill>
                <a:srgbClr val="FF0000"/>
              </a:solidFill>
            </a:endParaRPr>
          </a:p>
        </p:txBody>
      </p:sp>
      <p:graphicFrame>
        <p:nvGraphicFramePr>
          <p:cNvPr id="9" name="Object 8"/>
          <p:cNvGraphicFramePr>
            <a:graphicFrameLocks noChangeAspect="1"/>
          </p:cNvGraphicFramePr>
          <p:nvPr>
            <p:extLst>
              <p:ext uri="{D42A27DB-BD31-4B8C-83A1-F6EECF244321}">
                <p14:modId xmlns:p14="http://schemas.microsoft.com/office/powerpoint/2010/main" val="435643465"/>
              </p:ext>
            </p:extLst>
          </p:nvPr>
        </p:nvGraphicFramePr>
        <p:xfrm>
          <a:off x="738188" y="4319588"/>
          <a:ext cx="9517062" cy="1585912"/>
        </p:xfrm>
        <a:graphic>
          <a:graphicData uri="http://schemas.openxmlformats.org/presentationml/2006/ole">
            <mc:AlternateContent xmlns:mc="http://schemas.openxmlformats.org/markup-compatibility/2006">
              <mc:Choice xmlns:v="urn:schemas-microsoft-com:vml" Requires="v">
                <p:oleObj name="Equation" r:id="rId8" imgW="4647960" imgH="774360" progId="Equation.DSMT4">
                  <p:embed/>
                </p:oleObj>
              </mc:Choice>
              <mc:Fallback>
                <p:oleObj name="Equation" r:id="rId8" imgW="4647960" imgH="774360" progId="Equation.DSMT4">
                  <p:embed/>
                  <p:pic>
                    <p:nvPicPr>
                      <p:cNvPr id="9" name="Object 8"/>
                      <p:cNvPicPr/>
                      <p:nvPr/>
                    </p:nvPicPr>
                    <p:blipFill>
                      <a:blip r:embed="rId9"/>
                      <a:stretch>
                        <a:fillRect/>
                      </a:stretch>
                    </p:blipFill>
                    <p:spPr>
                      <a:xfrm>
                        <a:off x="738188" y="4319588"/>
                        <a:ext cx="9517062" cy="1585912"/>
                      </a:xfrm>
                      <a:prstGeom prst="rect">
                        <a:avLst/>
                      </a:prstGeom>
                    </p:spPr>
                  </p:pic>
                </p:oleObj>
              </mc:Fallback>
            </mc:AlternateContent>
          </a:graphicData>
        </a:graphic>
      </p:graphicFrame>
    </p:spTree>
    <p:extLst>
      <p:ext uri="{BB962C8B-B14F-4D97-AF65-F5344CB8AC3E}">
        <p14:creationId xmlns:p14="http://schemas.microsoft.com/office/powerpoint/2010/main" val="1873513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D22F896-40B5-4ADD-8801-0D06FADFA095}" type="slidenum">
              <a:rPr lang="en-US" smtClean="0"/>
              <a:t>16</a:t>
            </a:fld>
            <a:endParaRPr lang="en-US"/>
          </a:p>
        </p:txBody>
      </p:sp>
      <p:sp>
        <p:nvSpPr>
          <p:cNvPr id="3" name="TextBox 2"/>
          <p:cNvSpPr txBox="1"/>
          <p:nvPr/>
        </p:nvSpPr>
        <p:spPr>
          <a:xfrm>
            <a:off x="378691" y="997535"/>
            <a:ext cx="7333673" cy="461665"/>
          </a:xfrm>
          <a:prstGeom prst="rect">
            <a:avLst/>
          </a:prstGeom>
          <a:noFill/>
        </p:spPr>
        <p:txBody>
          <a:bodyPr wrap="square" rtlCol="0">
            <a:spAutoFit/>
          </a:bodyPr>
          <a:lstStyle/>
          <a:p>
            <a:r>
              <a:rPr lang="en-US" sz="2400"/>
              <a:t>So, from the relation with </a:t>
            </a:r>
            <a:r>
              <a:rPr lang="en-US" sz="2400" i="1"/>
              <a:t>Nu</a:t>
            </a:r>
          </a:p>
        </p:txBody>
      </p:sp>
      <p:graphicFrame>
        <p:nvGraphicFramePr>
          <p:cNvPr id="4" name="Object 3"/>
          <p:cNvGraphicFramePr>
            <a:graphicFrameLocks noChangeAspect="1"/>
          </p:cNvGraphicFramePr>
          <p:nvPr>
            <p:extLst>
              <p:ext uri="{D42A27DB-BD31-4B8C-83A1-F6EECF244321}">
                <p14:modId xmlns:p14="http://schemas.microsoft.com/office/powerpoint/2010/main" val="1391573408"/>
              </p:ext>
            </p:extLst>
          </p:nvPr>
        </p:nvGraphicFramePr>
        <p:xfrm>
          <a:off x="800247" y="1633692"/>
          <a:ext cx="6067425" cy="552450"/>
        </p:xfrm>
        <a:graphic>
          <a:graphicData uri="http://schemas.openxmlformats.org/presentationml/2006/ole">
            <mc:AlternateContent xmlns:mc="http://schemas.openxmlformats.org/markup-compatibility/2006">
              <mc:Choice xmlns:v="urn:schemas-microsoft-com:vml" Requires="v">
                <p:oleObj name="Equation" r:id="rId2" imgW="2933640" imgH="266400" progId="Equation.DSMT4">
                  <p:embed/>
                </p:oleObj>
              </mc:Choice>
              <mc:Fallback>
                <p:oleObj name="Equation" r:id="rId2" imgW="2933640" imgH="266400" progId="Equation.DSMT4">
                  <p:embed/>
                  <p:pic>
                    <p:nvPicPr>
                      <p:cNvPr id="4" name="Object 3"/>
                      <p:cNvPicPr/>
                      <p:nvPr/>
                    </p:nvPicPr>
                    <p:blipFill>
                      <a:blip r:embed="rId3"/>
                      <a:stretch>
                        <a:fillRect/>
                      </a:stretch>
                    </p:blipFill>
                    <p:spPr>
                      <a:xfrm>
                        <a:off x="800247" y="1633692"/>
                        <a:ext cx="6067425" cy="55245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06255453"/>
              </p:ext>
            </p:extLst>
          </p:nvPr>
        </p:nvGraphicFramePr>
        <p:xfrm>
          <a:off x="803275" y="2449667"/>
          <a:ext cx="2719388" cy="795338"/>
        </p:xfrm>
        <a:graphic>
          <a:graphicData uri="http://schemas.openxmlformats.org/presentationml/2006/ole">
            <mc:AlternateContent xmlns:mc="http://schemas.openxmlformats.org/markup-compatibility/2006">
              <mc:Choice xmlns:v="urn:schemas-microsoft-com:vml" Requires="v">
                <p:oleObj name="Equation" r:id="rId4" imgW="1346040" imgH="393480" progId="Equation.DSMT4">
                  <p:embed/>
                </p:oleObj>
              </mc:Choice>
              <mc:Fallback>
                <p:oleObj name="Equation" r:id="rId4" imgW="1346040" imgH="393480" progId="Equation.DSMT4">
                  <p:embed/>
                  <p:pic>
                    <p:nvPicPr>
                      <p:cNvPr id="5" name="Object 4"/>
                      <p:cNvPicPr/>
                      <p:nvPr/>
                    </p:nvPicPr>
                    <p:blipFill>
                      <a:blip r:embed="rId5"/>
                      <a:stretch>
                        <a:fillRect/>
                      </a:stretch>
                    </p:blipFill>
                    <p:spPr>
                      <a:xfrm>
                        <a:off x="803275" y="2449667"/>
                        <a:ext cx="2719388" cy="795338"/>
                      </a:xfrm>
                      <a:prstGeom prst="rect">
                        <a:avLst/>
                      </a:prstGeom>
                    </p:spPr>
                  </p:pic>
                </p:oleObj>
              </mc:Fallback>
            </mc:AlternateContent>
          </a:graphicData>
        </a:graphic>
      </p:graphicFrame>
      <p:sp>
        <p:nvSpPr>
          <p:cNvPr id="6" name="Rectangle 5"/>
          <p:cNvSpPr/>
          <p:nvPr/>
        </p:nvSpPr>
        <p:spPr>
          <a:xfrm>
            <a:off x="3905056" y="2477965"/>
            <a:ext cx="583814" cy="646331"/>
          </a:xfrm>
          <a:prstGeom prst="rect">
            <a:avLst/>
          </a:prstGeom>
        </p:spPr>
        <p:txBody>
          <a:bodyPr wrap="none">
            <a:spAutoFit/>
          </a:bodyPr>
          <a:lstStyle/>
          <a:p>
            <a:r>
              <a:rPr lang="en-IN" sz="3600">
                <a:latin typeface="MTSYN"/>
              </a:rPr>
              <a:t>⇒</a:t>
            </a:r>
            <a:endParaRPr lang="en-IN" sz="3600"/>
          </a:p>
        </p:txBody>
      </p:sp>
      <p:graphicFrame>
        <p:nvGraphicFramePr>
          <p:cNvPr id="7" name="Object 6"/>
          <p:cNvGraphicFramePr>
            <a:graphicFrameLocks noChangeAspect="1"/>
          </p:cNvGraphicFramePr>
          <p:nvPr>
            <p:extLst>
              <p:ext uri="{D42A27DB-BD31-4B8C-83A1-F6EECF244321}">
                <p14:modId xmlns:p14="http://schemas.microsoft.com/office/powerpoint/2010/main" val="2445748470"/>
              </p:ext>
            </p:extLst>
          </p:nvPr>
        </p:nvGraphicFramePr>
        <p:xfrm>
          <a:off x="5033963" y="2524280"/>
          <a:ext cx="2400300" cy="514350"/>
        </p:xfrm>
        <a:graphic>
          <a:graphicData uri="http://schemas.openxmlformats.org/presentationml/2006/ole">
            <mc:AlternateContent xmlns:mc="http://schemas.openxmlformats.org/markup-compatibility/2006">
              <mc:Choice xmlns:v="urn:schemas-microsoft-com:vml" Requires="v">
                <p:oleObj name="Equation" r:id="rId6" imgW="1066680" imgH="228600" progId="Equation.DSMT4">
                  <p:embed/>
                </p:oleObj>
              </mc:Choice>
              <mc:Fallback>
                <p:oleObj name="Equation" r:id="rId6" imgW="1066680" imgH="228600" progId="Equation.DSMT4">
                  <p:embed/>
                  <p:pic>
                    <p:nvPicPr>
                      <p:cNvPr id="7" name="Object 6"/>
                      <p:cNvPicPr/>
                      <p:nvPr/>
                    </p:nvPicPr>
                    <p:blipFill>
                      <a:blip r:embed="rId7"/>
                      <a:stretch>
                        <a:fillRect/>
                      </a:stretch>
                    </p:blipFill>
                    <p:spPr>
                      <a:xfrm>
                        <a:off x="5033963" y="2524280"/>
                        <a:ext cx="2400300" cy="514350"/>
                      </a:xfrm>
                      <a:prstGeom prst="rect">
                        <a:avLst/>
                      </a:prstGeom>
                    </p:spPr>
                  </p:pic>
                </p:oleObj>
              </mc:Fallback>
            </mc:AlternateContent>
          </a:graphicData>
        </a:graphic>
      </p:graphicFrame>
      <p:sp>
        <p:nvSpPr>
          <p:cNvPr id="8" name="Rectangle 7"/>
          <p:cNvSpPr/>
          <p:nvPr/>
        </p:nvSpPr>
        <p:spPr>
          <a:xfrm>
            <a:off x="445038" y="3397647"/>
            <a:ext cx="7948010" cy="461665"/>
          </a:xfrm>
          <a:prstGeom prst="rect">
            <a:avLst/>
          </a:prstGeom>
        </p:spPr>
        <p:txBody>
          <a:bodyPr wrap="none">
            <a:spAutoFit/>
          </a:bodyPr>
          <a:lstStyle/>
          <a:p>
            <a:r>
              <a:rPr lang="en-US" sz="2400">
                <a:latin typeface="Times New Roman" panose="02020603050405020304" pitchFamily="18" charset="0"/>
              </a:rPr>
              <a:t>Hence, from this analysis we find (substituting in equation 10 ) </a:t>
            </a:r>
            <a:endParaRPr lang="en-US" sz="2400"/>
          </a:p>
        </p:txBody>
      </p:sp>
      <p:graphicFrame>
        <p:nvGraphicFramePr>
          <p:cNvPr id="9" name="Object 8"/>
          <p:cNvGraphicFramePr>
            <a:graphicFrameLocks noChangeAspect="1"/>
          </p:cNvGraphicFramePr>
          <p:nvPr>
            <p:extLst>
              <p:ext uri="{D42A27DB-BD31-4B8C-83A1-F6EECF244321}">
                <p14:modId xmlns:p14="http://schemas.microsoft.com/office/powerpoint/2010/main" val="221132310"/>
              </p:ext>
            </p:extLst>
          </p:nvPr>
        </p:nvGraphicFramePr>
        <p:xfrm>
          <a:off x="957259" y="3870121"/>
          <a:ext cx="3593759" cy="1052911"/>
        </p:xfrm>
        <a:graphic>
          <a:graphicData uri="http://schemas.openxmlformats.org/presentationml/2006/ole">
            <mc:AlternateContent xmlns:mc="http://schemas.openxmlformats.org/markup-compatibility/2006">
              <mc:Choice xmlns:v="urn:schemas-microsoft-com:vml" Requires="v">
                <p:oleObj name="Equation" r:id="rId8" imgW="1562040" imgH="457200" progId="Equation.DSMT4">
                  <p:embed/>
                </p:oleObj>
              </mc:Choice>
              <mc:Fallback>
                <p:oleObj name="Equation" r:id="rId8" imgW="1562040" imgH="457200" progId="Equation.DSMT4">
                  <p:embed/>
                  <p:pic>
                    <p:nvPicPr>
                      <p:cNvPr id="9" name="Object 8"/>
                      <p:cNvPicPr/>
                      <p:nvPr/>
                    </p:nvPicPr>
                    <p:blipFill>
                      <a:blip r:embed="rId9"/>
                      <a:stretch>
                        <a:fillRect/>
                      </a:stretch>
                    </p:blipFill>
                    <p:spPr>
                      <a:xfrm>
                        <a:off x="957259" y="3870121"/>
                        <a:ext cx="3593759" cy="1052911"/>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817638662"/>
              </p:ext>
            </p:extLst>
          </p:nvPr>
        </p:nvGraphicFramePr>
        <p:xfrm>
          <a:off x="6401377" y="4153341"/>
          <a:ext cx="1915521" cy="538740"/>
        </p:xfrm>
        <a:graphic>
          <a:graphicData uri="http://schemas.openxmlformats.org/presentationml/2006/ole">
            <mc:AlternateContent xmlns:mc="http://schemas.openxmlformats.org/markup-compatibility/2006">
              <mc:Choice xmlns:v="urn:schemas-microsoft-com:vml" Requires="v">
                <p:oleObj name="Equation" r:id="rId10" imgW="812520" imgH="228600" progId="Equation.DSMT4">
                  <p:embed/>
                </p:oleObj>
              </mc:Choice>
              <mc:Fallback>
                <p:oleObj name="Equation" r:id="rId10" imgW="812520" imgH="228600" progId="Equation.DSMT4">
                  <p:embed/>
                  <p:pic>
                    <p:nvPicPr>
                      <p:cNvPr id="10" name="Object 9"/>
                      <p:cNvPicPr/>
                      <p:nvPr/>
                    </p:nvPicPr>
                    <p:blipFill>
                      <a:blip r:embed="rId11"/>
                      <a:stretch>
                        <a:fillRect/>
                      </a:stretch>
                    </p:blipFill>
                    <p:spPr>
                      <a:xfrm>
                        <a:off x="6401377" y="4153341"/>
                        <a:ext cx="1915521" cy="538740"/>
                      </a:xfrm>
                      <a:prstGeom prst="rect">
                        <a:avLst/>
                      </a:prstGeom>
                    </p:spPr>
                  </p:pic>
                </p:oleObj>
              </mc:Fallback>
            </mc:AlternateContent>
          </a:graphicData>
        </a:graphic>
      </p:graphicFrame>
      <p:sp>
        <p:nvSpPr>
          <p:cNvPr id="11" name="Rectangle 10"/>
          <p:cNvSpPr/>
          <p:nvPr/>
        </p:nvSpPr>
        <p:spPr>
          <a:xfrm>
            <a:off x="5258183" y="4082646"/>
            <a:ext cx="583814" cy="646331"/>
          </a:xfrm>
          <a:prstGeom prst="rect">
            <a:avLst/>
          </a:prstGeom>
        </p:spPr>
        <p:txBody>
          <a:bodyPr wrap="none">
            <a:spAutoFit/>
          </a:bodyPr>
          <a:lstStyle/>
          <a:p>
            <a:r>
              <a:rPr lang="en-IN" sz="3600">
                <a:latin typeface="MTSYN"/>
              </a:rPr>
              <a:t>⇒</a:t>
            </a:r>
            <a:endParaRPr lang="en-IN" sz="3600"/>
          </a:p>
        </p:txBody>
      </p:sp>
      <p:sp>
        <p:nvSpPr>
          <p:cNvPr id="12" name="Rectangle 11"/>
          <p:cNvSpPr/>
          <p:nvPr/>
        </p:nvSpPr>
        <p:spPr>
          <a:xfrm>
            <a:off x="314746" y="5043104"/>
            <a:ext cx="1835759" cy="461665"/>
          </a:xfrm>
          <a:prstGeom prst="rect">
            <a:avLst/>
          </a:prstGeom>
        </p:spPr>
        <p:txBody>
          <a:bodyPr wrap="none">
            <a:spAutoFit/>
          </a:bodyPr>
          <a:lstStyle/>
          <a:p>
            <a:r>
              <a:rPr lang="en-US" sz="2400" b="1">
                <a:latin typeface="Times New Roman" panose="02020603050405020304" pitchFamily="18" charset="0"/>
              </a:rPr>
              <a:t>Conclusion: </a:t>
            </a:r>
            <a:endParaRPr lang="en-US" sz="2400"/>
          </a:p>
        </p:txBody>
      </p:sp>
      <p:sp>
        <p:nvSpPr>
          <p:cNvPr id="13" name="Rectangle 12"/>
          <p:cNvSpPr/>
          <p:nvPr/>
        </p:nvSpPr>
        <p:spPr>
          <a:xfrm>
            <a:off x="387504" y="5497243"/>
            <a:ext cx="11259551" cy="830997"/>
          </a:xfrm>
          <a:prstGeom prst="rect">
            <a:avLst/>
          </a:prstGeom>
        </p:spPr>
        <p:txBody>
          <a:bodyPr wrap="square">
            <a:spAutoFit/>
          </a:bodyPr>
          <a:lstStyle/>
          <a:p>
            <a:r>
              <a:rPr lang="en-US" sz="2400">
                <a:latin typeface="Times New Roman" panose="02020603050405020304" pitchFamily="18" charset="0"/>
              </a:rPr>
              <a:t>Heat loss from the body is 117 times faster in </a:t>
            </a:r>
            <a:r>
              <a:rPr lang="en-US" sz="2400" i="1">
                <a:latin typeface="Times New Roman" panose="02020603050405020304" pitchFamily="18" charset="0"/>
              </a:rPr>
              <a:t>10°C</a:t>
            </a:r>
            <a:r>
              <a:rPr lang="en-US" sz="2400">
                <a:latin typeface="Times New Roman" panose="02020603050405020304" pitchFamily="18" charset="0"/>
              </a:rPr>
              <a:t> water than in air at the same temperature. </a:t>
            </a:r>
            <a:endParaRPr lang="en-US" sz="2400"/>
          </a:p>
        </p:txBody>
      </p:sp>
    </p:spTree>
    <p:extLst>
      <p:ext uri="{BB962C8B-B14F-4D97-AF65-F5344CB8AC3E}">
        <p14:creationId xmlns:p14="http://schemas.microsoft.com/office/powerpoint/2010/main" val="1723908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73000972E8BDF49A2F9AB46E0B0E777" ma:contentTypeVersion="4" ma:contentTypeDescription="Create a new document." ma:contentTypeScope="" ma:versionID="ae4ee211cf61566f9f63684ac00e9936">
  <xsd:schema xmlns:xsd="http://www.w3.org/2001/XMLSchema" xmlns:xs="http://www.w3.org/2001/XMLSchema" xmlns:p="http://schemas.microsoft.com/office/2006/metadata/properties" xmlns:ns2="66db69af-212f-4fef-b597-7fc4f9d9a4c3" targetNamespace="http://schemas.microsoft.com/office/2006/metadata/properties" ma:root="true" ma:fieldsID="60e183d288fe088424731e756675fb10" ns2:_="">
    <xsd:import namespace="66db69af-212f-4fef-b597-7fc4f9d9a4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db69af-212f-4fef-b597-7fc4f9d9a4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4687EE-635E-4495-9613-B833D8263DD8}">
  <ds:schemaRefs>
    <ds:schemaRef ds:uri="66db69af-212f-4fef-b597-7fc4f9d9a4c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68C0B7D-BB13-4701-99A1-DA3B695A735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Welcome</dc:creator>
  <cp:revision>3</cp:revision>
  <dcterms:created xsi:type="dcterms:W3CDTF">2016-01-13T19:04:32Z</dcterms:created>
  <dcterms:modified xsi:type="dcterms:W3CDTF">2024-04-17T06:53:10Z</dcterms:modified>
</cp:coreProperties>
</file>