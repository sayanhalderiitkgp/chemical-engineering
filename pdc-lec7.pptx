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7" r:id="rId10"/>
    <p:sldId id="278" r:id="rId11"/>
    <p:sldId id="279" r:id="rId12"/>
    <p:sldId id="280" r:id="rId13"/>
    <p:sldId id="258" r:id="rId14"/>
    <p:sldId id="281" r:id="rId15"/>
    <p:sldId id="282" r:id="rId16"/>
    <p:sldId id="283" r:id="rId17"/>
    <p:sldId id="284" r:id="rId18"/>
    <p:sldId id="285" r:id="rId1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State Space realization from Transfer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60000"/>
              </a:lnSpc>
            </a:pPr>
            <a:r>
              <a:rPr lang="en-IN" sz="2400" dirty="0"/>
              <a:t>Process of converting transfer function to state space form is not unique. </a:t>
            </a:r>
          </a:p>
          <a:p>
            <a:pPr lvl="0">
              <a:lnSpc>
                <a:spcPct val="160000"/>
              </a:lnSpc>
            </a:pPr>
            <a:r>
              <a:rPr lang="en-IN" sz="2400" dirty="0"/>
              <a:t>Various realizations possible</a:t>
            </a:r>
          </a:p>
          <a:p>
            <a:pPr lvl="0">
              <a:lnSpc>
                <a:spcPct val="160000"/>
              </a:lnSpc>
            </a:pPr>
            <a:r>
              <a:rPr lang="en-IN" sz="2400" dirty="0"/>
              <a:t>All realizations are equivalent</a:t>
            </a:r>
          </a:p>
          <a:p>
            <a:pPr lvl="0">
              <a:lnSpc>
                <a:spcPct val="160000"/>
              </a:lnSpc>
            </a:pPr>
            <a:r>
              <a:rPr lang="en-IN" sz="2400" dirty="0"/>
              <a:t>One realization may have some advantages over others for a particular task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Possible realizations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First Companion form (Controllable Canonical Form)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Jordan Canonical form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Alternate first companion form (Toeplitz form)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Second Companion form (Observable canonical form)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44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Controllable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Consider Laplace domain transfer function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417973"/>
              </p:ext>
            </p:extLst>
          </p:nvPr>
        </p:nvGraphicFramePr>
        <p:xfrm>
          <a:off x="492125" y="1735138"/>
          <a:ext cx="8228013" cy="358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3" imgW="5244840" imgH="2286000" progId="Equation.DSMT4">
                  <p:embed/>
                </p:oleObj>
              </mc:Choice>
              <mc:Fallback>
                <p:oleObj name="Equation" r:id="rId3" imgW="5244840" imgH="2286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125" y="1735138"/>
                        <a:ext cx="8228013" cy="3586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73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Controllable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Let us choose the states x</a:t>
            </a:r>
            <a:r>
              <a:rPr lang="en-IN" sz="2400" baseline="-25000" dirty="0"/>
              <a:t>1</a:t>
            </a:r>
            <a:r>
              <a:rPr lang="en-IN" sz="2400" dirty="0"/>
              <a:t> to </a:t>
            </a:r>
            <a:r>
              <a:rPr lang="en-IN" sz="2400" dirty="0" err="1"/>
              <a:t>x</a:t>
            </a:r>
            <a:r>
              <a:rPr lang="en-IN" sz="2400" baseline="-25000" dirty="0" err="1"/>
              <a:t>n</a:t>
            </a:r>
            <a:r>
              <a:rPr lang="en-IN" sz="2400" dirty="0"/>
              <a:t> as,</a:t>
            </a:r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612808"/>
              </p:ext>
            </p:extLst>
          </p:nvPr>
        </p:nvGraphicFramePr>
        <p:xfrm>
          <a:off x="945840" y="1613984"/>
          <a:ext cx="5834102" cy="90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3" imgW="2705040" imgH="419040" progId="Equation.DSMT4">
                  <p:embed/>
                </p:oleObj>
              </mc:Choice>
              <mc:Fallback>
                <p:oleObj name="Equation" r:id="rId3" imgW="2705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5840" y="1613984"/>
                        <a:ext cx="5834102" cy="90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682139" y="2755098"/>
            <a:ext cx="4871167" cy="48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the state equations are: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281337"/>
              </p:ext>
            </p:extLst>
          </p:nvPr>
        </p:nvGraphicFramePr>
        <p:xfrm>
          <a:off x="1079654" y="3434863"/>
          <a:ext cx="5700287" cy="2799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5" imgW="2844720" imgH="1396800" progId="Equation.DSMT4">
                  <p:embed/>
                </p:oleObj>
              </mc:Choice>
              <mc:Fallback>
                <p:oleObj name="Equation" r:id="rId5" imgW="284472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9654" y="3434863"/>
                        <a:ext cx="5700287" cy="2799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974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Controllable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Now for the output map,</a:t>
            </a:r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020572"/>
              </p:ext>
            </p:extLst>
          </p:nvPr>
        </p:nvGraphicFramePr>
        <p:xfrm>
          <a:off x="758594" y="1502161"/>
          <a:ext cx="6601212" cy="456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3060360" imgH="2120760" progId="Equation.DSMT4">
                  <p:embed/>
                </p:oleObj>
              </mc:Choice>
              <mc:Fallback>
                <p:oleObj name="Equation" r:id="rId3" imgW="3060360" imgH="21207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8594" y="1502161"/>
                        <a:ext cx="6601212" cy="4569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258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Controllable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So, in standard vector-matrix form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and</a:t>
            </a:r>
          </a:p>
          <a:p>
            <a:pPr marL="0" indent="0">
              <a:buNone/>
            </a:pPr>
            <a:endParaRPr lang="en-IN" sz="28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542648"/>
              </p:ext>
            </p:extLst>
          </p:nvPr>
        </p:nvGraphicFramePr>
        <p:xfrm>
          <a:off x="1910264" y="1450588"/>
          <a:ext cx="5959864" cy="272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3" imgW="4051080" imgH="1854000" progId="Equation.DSMT4">
                  <p:embed/>
                </p:oleObj>
              </mc:Choice>
              <mc:Fallback>
                <p:oleObj name="Equation" r:id="rId3" imgW="4051080" imgH="18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0264" y="1450588"/>
                        <a:ext cx="5959864" cy="272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466238"/>
              </p:ext>
            </p:extLst>
          </p:nvPr>
        </p:nvGraphicFramePr>
        <p:xfrm>
          <a:off x="1611313" y="4344988"/>
          <a:ext cx="6305550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5" imgW="4406760" imgH="1396800" progId="Equation.DSMT4">
                  <p:embed/>
                </p:oleObj>
              </mc:Choice>
              <mc:Fallback>
                <p:oleObj name="Equation" r:id="rId5" imgW="440676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1313" y="4344988"/>
                        <a:ext cx="6305550" cy="199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414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Jordan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40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Consider Laplace domain transfer function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Therefore,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Where,                             are considered as the states of the system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46611"/>
              </p:ext>
            </p:extLst>
          </p:nvPr>
        </p:nvGraphicFramePr>
        <p:xfrm>
          <a:off x="959005" y="1409880"/>
          <a:ext cx="5813657" cy="214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3" imgW="3060360" imgH="1130040" progId="Equation.DSMT4">
                  <p:embed/>
                </p:oleObj>
              </mc:Choice>
              <mc:Fallback>
                <p:oleObj name="Equation" r:id="rId3" imgW="306036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9005" y="1409880"/>
                        <a:ext cx="5813657" cy="214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761243"/>
              </p:ext>
            </p:extLst>
          </p:nvPr>
        </p:nvGraphicFramePr>
        <p:xfrm>
          <a:off x="1300245" y="4030010"/>
          <a:ext cx="6111393" cy="1289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Equation" r:id="rId5" imgW="3251160" imgH="685800" progId="Equation.DSMT4">
                  <p:embed/>
                </p:oleObj>
              </mc:Choice>
              <mc:Fallback>
                <p:oleObj name="Equation" r:id="rId5" imgW="32511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0245" y="4030010"/>
                        <a:ext cx="6111393" cy="12891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12115"/>
              </p:ext>
            </p:extLst>
          </p:nvPr>
        </p:nvGraphicFramePr>
        <p:xfrm>
          <a:off x="1797824" y="5583025"/>
          <a:ext cx="1302215" cy="418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Equation" r:id="rId7" imgW="711000" imgH="228600" progId="Equation.DSMT4">
                  <p:embed/>
                </p:oleObj>
              </mc:Choice>
              <mc:Fallback>
                <p:oleObj name="Equation" r:id="rId7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7824" y="5583025"/>
                        <a:ext cx="1302215" cy="418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493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Jordan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3748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Therefore, the state equations are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and output map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What will happen in case of repeated roots?</a:t>
            </a: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899173"/>
              </p:ext>
            </p:extLst>
          </p:nvPr>
        </p:nvGraphicFramePr>
        <p:xfrm>
          <a:off x="806450" y="1413727"/>
          <a:ext cx="3709794" cy="264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3" imgW="2247840" imgH="1600200" progId="Equation.DSMT4">
                  <p:embed/>
                </p:oleObj>
              </mc:Choice>
              <mc:Fallback>
                <p:oleObj name="Equation" r:id="rId3" imgW="224784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6450" y="1413727"/>
                        <a:ext cx="3709794" cy="2640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14084"/>
              </p:ext>
            </p:extLst>
          </p:nvPr>
        </p:nvGraphicFramePr>
        <p:xfrm>
          <a:off x="4694044" y="1534841"/>
          <a:ext cx="4299105" cy="2398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5" imgW="2958840" imgH="1650960" progId="Equation.DSMT4">
                  <p:embed/>
                </p:oleObj>
              </mc:Choice>
              <mc:Fallback>
                <p:oleObj name="Equation" r:id="rId5" imgW="295884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4044" y="1534841"/>
                        <a:ext cx="4299105" cy="2398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433748"/>
              </p:ext>
            </p:extLst>
          </p:nvPr>
        </p:nvGraphicFramePr>
        <p:xfrm>
          <a:off x="2252545" y="5099205"/>
          <a:ext cx="4047893" cy="43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7" imgW="2108160" imgH="228600" progId="Equation.DSMT4">
                  <p:embed/>
                </p:oleObj>
              </mc:Choice>
              <mc:Fallback>
                <p:oleObj name="Equation" r:id="rId7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52545" y="5099205"/>
                        <a:ext cx="4047893" cy="438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83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Jordan Canonical Form (repeated roots)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374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For repeated roots, the partial fraction expression may be written as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Therefore,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92232"/>
              </p:ext>
            </p:extLst>
          </p:nvPr>
        </p:nvGraphicFramePr>
        <p:xfrm>
          <a:off x="871202" y="1559003"/>
          <a:ext cx="7175811" cy="151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3" imgW="4457520" imgH="939600" progId="Equation.DSMT4">
                  <p:embed/>
                </p:oleObj>
              </mc:Choice>
              <mc:Fallback>
                <p:oleObj name="Equation" r:id="rId3" imgW="44575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202" y="1559003"/>
                        <a:ext cx="7175811" cy="1512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83069"/>
              </p:ext>
            </p:extLst>
          </p:nvPr>
        </p:nvGraphicFramePr>
        <p:xfrm>
          <a:off x="732582" y="3753935"/>
          <a:ext cx="7314431" cy="111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5" imgW="4647960" imgH="711000" progId="Equation.DSMT4">
                  <p:embed/>
                </p:oleObj>
              </mc:Choice>
              <mc:Fallback>
                <p:oleObj name="Equation" r:id="rId5" imgW="4647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2582" y="3753935"/>
                        <a:ext cx="7314431" cy="1119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592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Jordan Canonical Form (repeated roots)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9435"/>
            <a:ext cx="7886700" cy="5731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Now the state equations are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Output map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974308"/>
              </p:ext>
            </p:extLst>
          </p:nvPr>
        </p:nvGraphicFramePr>
        <p:xfrm>
          <a:off x="724830" y="1081668"/>
          <a:ext cx="3433812" cy="424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3" imgW="2247840" imgH="2781000" progId="Equation.DSMT4">
                  <p:embed/>
                </p:oleObj>
              </mc:Choice>
              <mc:Fallback>
                <p:oleObj name="Equation" r:id="rId3" imgW="2247840" imgH="278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830" y="1081668"/>
                        <a:ext cx="3433812" cy="4248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820693"/>
              </p:ext>
            </p:extLst>
          </p:nvPr>
        </p:nvGraphicFramePr>
        <p:xfrm>
          <a:off x="4408849" y="1315844"/>
          <a:ext cx="4338340" cy="2430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quation" r:id="rId5" imgW="2946240" imgH="1650960" progId="Equation.DSMT4">
                  <p:embed/>
                </p:oleObj>
              </mc:Choice>
              <mc:Fallback>
                <p:oleObj name="Equation" r:id="rId5" imgW="294624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8849" y="1315844"/>
                        <a:ext cx="4338340" cy="2430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338725"/>
              </p:ext>
            </p:extLst>
          </p:nvPr>
        </p:nvGraphicFramePr>
        <p:xfrm>
          <a:off x="2359567" y="5801421"/>
          <a:ext cx="5274374" cy="38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7" imgW="3111480" imgH="228600" progId="Equation.DSMT4">
                  <p:embed/>
                </p:oleObj>
              </mc:Choice>
              <mc:Fallback>
                <p:oleObj name="Equation" r:id="rId7" imgW="3111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9567" y="5801421"/>
                        <a:ext cx="5274374" cy="387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0820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Alternate Canonical form (Toeplitz 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9435"/>
            <a:ext cx="7886700" cy="5731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Consider the transfer function as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Define State equations and output map as the following: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928889"/>
              </p:ext>
            </p:extLst>
          </p:nvPr>
        </p:nvGraphicFramePr>
        <p:xfrm>
          <a:off x="776255" y="1304692"/>
          <a:ext cx="7591490" cy="1590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3" imgW="5333760" imgH="1117440" progId="Equation.DSMT4">
                  <p:embed/>
                </p:oleObj>
              </mc:Choice>
              <mc:Fallback>
                <p:oleObj name="Equation" r:id="rId3" imgW="533376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255" y="1304692"/>
                        <a:ext cx="7591490" cy="1590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120022"/>
              </p:ext>
            </p:extLst>
          </p:nvPr>
        </p:nvGraphicFramePr>
        <p:xfrm>
          <a:off x="1142844" y="3635298"/>
          <a:ext cx="4343555" cy="252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5" imgW="2400120" imgH="1396800" progId="Equation.DSMT4">
                  <p:embed/>
                </p:oleObj>
              </mc:Choice>
              <mc:Fallback>
                <p:oleObj name="Equation" r:id="rId5" imgW="240012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2844" y="3635298"/>
                        <a:ext cx="4343555" cy="2527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329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Alternate Canonical form (Toeplitz 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9435"/>
            <a:ext cx="7886700" cy="5731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From the above definition, we can write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818181"/>
              </p:ext>
            </p:extLst>
          </p:nvPr>
        </p:nvGraphicFramePr>
        <p:xfrm>
          <a:off x="694127" y="1624911"/>
          <a:ext cx="7755745" cy="339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3" imgW="5079960" imgH="2222280" progId="Equation.DSMT4">
                  <p:embed/>
                </p:oleObj>
              </mc:Choice>
              <mc:Fallback>
                <p:oleObj name="Equation" r:id="rId3" imgW="5079960" imgH="222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27" y="1624911"/>
                        <a:ext cx="7755745" cy="3393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870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Therefore,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209777"/>
              </p:ext>
            </p:extLst>
          </p:nvPr>
        </p:nvGraphicFramePr>
        <p:xfrm>
          <a:off x="628650" y="1228996"/>
          <a:ext cx="8142288" cy="494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3" imgW="5308560" imgH="3225600" progId="Equation.DSMT4">
                  <p:embed/>
                </p:oleObj>
              </mc:Choice>
              <mc:Fallback>
                <p:oleObj name="Equation" r:id="rId3" imgW="5308560" imgH="322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228996"/>
                        <a:ext cx="8142288" cy="4948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Alternate Canonical form (Toeplitz form)</a:t>
            </a:r>
          </a:p>
        </p:txBody>
      </p:sp>
    </p:spTree>
    <p:extLst>
      <p:ext uri="{BB962C8B-B14F-4D97-AF65-F5344CB8AC3E}">
        <p14:creationId xmlns:p14="http://schemas.microsoft.com/office/powerpoint/2010/main" val="121181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Equating the coefficients of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vector-Matrix form,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Alternate Canonical form (Toeplitz form)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691217"/>
              </p:ext>
            </p:extLst>
          </p:nvPr>
        </p:nvGraphicFramePr>
        <p:xfrm>
          <a:off x="3815043" y="1018446"/>
          <a:ext cx="1769502" cy="614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3" imgW="1206360" imgH="419040" progId="Equation.DSMT4">
                  <p:embed/>
                </p:oleObj>
              </mc:Choice>
              <mc:Fallback>
                <p:oleObj name="Equation" r:id="rId3" imgW="1206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5043" y="1018446"/>
                        <a:ext cx="1769502" cy="614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177097"/>
              </p:ext>
            </p:extLst>
          </p:nvPr>
        </p:nvGraphicFramePr>
        <p:xfrm>
          <a:off x="884237" y="1633115"/>
          <a:ext cx="4256475" cy="1844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5" imgW="2666880" imgH="1155600" progId="Equation.DSMT4">
                  <p:embed/>
                </p:oleObj>
              </mc:Choice>
              <mc:Fallback>
                <p:oleObj name="Equation" r:id="rId5" imgW="266688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4237" y="1633115"/>
                        <a:ext cx="4256475" cy="18444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032391"/>
              </p:ext>
            </p:extLst>
          </p:nvPr>
        </p:nvGraphicFramePr>
        <p:xfrm>
          <a:off x="3419415" y="3668751"/>
          <a:ext cx="4877091" cy="297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7" imgW="2958840" imgH="1803240" progId="Equation.DSMT4">
                  <p:embed/>
                </p:oleObj>
              </mc:Choice>
              <mc:Fallback>
                <p:oleObj name="Equation" r:id="rId7" imgW="2958840" imgH="1803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415" y="3668751"/>
                        <a:ext cx="4877091" cy="2972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242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Consider the transfer function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Rearranging the terms,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Companion form (Observer Canonical form)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436583"/>
              </p:ext>
            </p:extLst>
          </p:nvPr>
        </p:nvGraphicFramePr>
        <p:xfrm>
          <a:off x="731024" y="1237786"/>
          <a:ext cx="7681951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3" imgW="5079960" imgH="1041120" progId="Equation.DSMT4">
                  <p:embed/>
                </p:oleObj>
              </mc:Choice>
              <mc:Fallback>
                <p:oleObj name="Equation" r:id="rId3" imgW="5079960" imgH="1041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1024" y="1237786"/>
                        <a:ext cx="7681951" cy="157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708857"/>
              </p:ext>
            </p:extLst>
          </p:nvPr>
        </p:nvGraphicFramePr>
        <p:xfrm>
          <a:off x="868253" y="3703115"/>
          <a:ext cx="7544722" cy="253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5" imgW="5283000" imgH="1777680" progId="Equation.DSMT4">
                  <p:embed/>
                </p:oleObj>
              </mc:Choice>
              <mc:Fallback>
                <p:oleObj name="Equation" r:id="rId5" imgW="5283000" imgH="1777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8253" y="3703115"/>
                        <a:ext cx="7544722" cy="2539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5890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Rearranging the terms,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equations now can be written as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Companion form (Observer Canonical form)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58984"/>
              </p:ext>
            </p:extLst>
          </p:nvPr>
        </p:nvGraphicFramePr>
        <p:xfrm>
          <a:off x="708413" y="1384609"/>
          <a:ext cx="7297420" cy="181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3" imgW="5410080" imgH="1346040" progId="Equation.DSMT4">
                  <p:embed/>
                </p:oleObj>
              </mc:Choice>
              <mc:Fallback>
                <p:oleObj name="Equation" r:id="rId3" imgW="54100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413" y="1384609"/>
                        <a:ext cx="7297420" cy="1815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63701"/>
              </p:ext>
            </p:extLst>
          </p:nvPr>
        </p:nvGraphicFramePr>
        <p:xfrm>
          <a:off x="1750742" y="3910052"/>
          <a:ext cx="5642517" cy="2607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5" imgW="3517560" imgH="1625400" progId="Equation.DSMT4">
                  <p:embed/>
                </p:oleObj>
              </mc:Choice>
              <mc:Fallback>
                <p:oleObj name="Equation" r:id="rId5" imgW="351756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0742" y="3910052"/>
                        <a:ext cx="5642517" cy="2607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3728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 vector Matrix form,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Companion form (Observer Canonical form)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996945"/>
              </p:ext>
            </p:extLst>
          </p:nvPr>
        </p:nvGraphicFramePr>
        <p:xfrm>
          <a:off x="814037" y="1321419"/>
          <a:ext cx="6668431" cy="306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3" imgW="3593880" imgH="1650960" progId="Equation.DSMT4">
                  <p:embed/>
                </p:oleObj>
              </mc:Choice>
              <mc:Fallback>
                <p:oleObj name="Equation" r:id="rId3" imgW="359388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4037" y="1321419"/>
                        <a:ext cx="6668431" cy="3063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074212"/>
              </p:ext>
            </p:extLst>
          </p:nvPr>
        </p:nvGraphicFramePr>
        <p:xfrm>
          <a:off x="2721152" y="4384655"/>
          <a:ext cx="3253731" cy="210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5" imgW="2158920" imgH="1396800" progId="Equation.DSMT4">
                  <p:embed/>
                </p:oleObj>
              </mc:Choice>
              <mc:Fallback>
                <p:oleObj name="Equation" r:id="rId5" imgW="215892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21152" y="4384655"/>
                        <a:ext cx="3253731" cy="2105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93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8758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On the other hand, if we formulate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Then,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94118"/>
          </a:xfrm>
        </p:spPr>
        <p:txBody>
          <a:bodyPr>
            <a:normAutofit fontScale="90000"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Companion form (Observer Canonical form)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347652"/>
              </p:ext>
            </p:extLst>
          </p:nvPr>
        </p:nvGraphicFramePr>
        <p:xfrm>
          <a:off x="787599" y="1226634"/>
          <a:ext cx="7568802" cy="1883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3" imgW="5410080" imgH="1346040" progId="Equation.DSMT4">
                  <p:embed/>
                </p:oleObj>
              </mc:Choice>
              <mc:Fallback>
                <p:oleObj name="Equation" r:id="rId3" imgW="54100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599" y="1226634"/>
                        <a:ext cx="7568802" cy="1883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29767"/>
              </p:ext>
            </p:extLst>
          </p:nvPr>
        </p:nvGraphicFramePr>
        <p:xfrm>
          <a:off x="1751980" y="3471048"/>
          <a:ext cx="6317597" cy="2851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5" imgW="3657600" imgH="1650960" progId="Equation.DSMT4">
                  <p:embed/>
                </p:oleObj>
              </mc:Choice>
              <mc:Fallback>
                <p:oleObj name="Equation" r:id="rId5" imgW="365760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1980" y="3471048"/>
                        <a:ext cx="6317597" cy="2851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919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</TotalTime>
  <Words>322</Words>
  <Application>Microsoft Office PowerPoint</Application>
  <PresentationFormat>On-screen Show (4:3)</PresentationFormat>
  <Paragraphs>157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MathType 7.0 Equation</vt:lpstr>
      <vt:lpstr>Process Dynamics &amp; Control</vt:lpstr>
      <vt:lpstr>State Space realization from Transfer Function</vt:lpstr>
      <vt:lpstr>Controllable Canonical Form</vt:lpstr>
      <vt:lpstr>Controllable Canonical Form</vt:lpstr>
      <vt:lpstr>Controllable Canonical Form</vt:lpstr>
      <vt:lpstr>Controllable Canonical Form</vt:lpstr>
      <vt:lpstr>Jordan Canonical Form</vt:lpstr>
      <vt:lpstr>Jordan Canonical Form</vt:lpstr>
      <vt:lpstr>Jordan Canonical Form (repeated roots)</vt:lpstr>
      <vt:lpstr>Jordan Canonical Form (repeated roots)</vt:lpstr>
      <vt:lpstr>Alternate Canonical form (Toeplitz form)</vt:lpstr>
      <vt:lpstr>Alternate Canonical form (Toeplitz form)</vt:lpstr>
      <vt:lpstr>Alternate Canonical form (Toeplitz form)</vt:lpstr>
      <vt:lpstr>Alternate Canonical form (Toeplitz form)</vt:lpstr>
      <vt:lpstr>2nd Companion form (Observer Canonical form)</vt:lpstr>
      <vt:lpstr>2nd Companion form (Observer Canonical form)</vt:lpstr>
      <vt:lpstr>2nd Companion form (Observer Canonical form)</vt:lpstr>
      <vt:lpstr>2nd Companion form (Observer Canonical form)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Admin</cp:lastModifiedBy>
  <cp:revision>80</cp:revision>
  <cp:lastPrinted>2019-01-29T13:01:11Z</cp:lastPrinted>
  <dcterms:created xsi:type="dcterms:W3CDTF">2019-01-01T11:22:05Z</dcterms:created>
  <dcterms:modified xsi:type="dcterms:W3CDTF">2024-01-18T13:32:07Z</dcterms:modified>
</cp:coreProperties>
</file>