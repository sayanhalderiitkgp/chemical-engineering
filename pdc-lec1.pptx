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81" r:id="rId4"/>
    <p:sldId id="258" r:id="rId5"/>
    <p:sldId id="259" r:id="rId6"/>
    <p:sldId id="260" r:id="rId7"/>
    <p:sldId id="262" r:id="rId8"/>
    <p:sldId id="264" r:id="rId9"/>
    <p:sldId id="272" r:id="rId10"/>
    <p:sldId id="265" r:id="rId11"/>
    <p:sldId id="266" r:id="rId12"/>
    <p:sldId id="267" r:id="rId13"/>
    <p:sldId id="270" r:id="rId14"/>
    <p:sldId id="271" r:id="rId15"/>
    <p:sldId id="275" r:id="rId16"/>
    <p:sldId id="273" r:id="rId17"/>
    <p:sldId id="274" r:id="rId18"/>
    <p:sldId id="276" r:id="rId19"/>
    <p:sldId id="277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mical" initials="C" lastIdx="0" clrIdx="0">
    <p:extLst>
      <p:ext uri="{19B8F6BF-5375-455C-9EA6-DF929625EA0E}">
        <p15:presenceInfo xmlns:p15="http://schemas.microsoft.com/office/powerpoint/2012/main" userId="Chemi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53BCD-083E-4E88-ADA2-CE1755D02009}" v="290" dt="2024-01-02T17:21:28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205EC-8D76-4DAC-9808-2F3CD1175D31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14BA1-E738-4A28-BF3E-968E14B3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4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62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14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11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662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5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73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643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29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06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88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jpg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96419"/>
          </a:xfrm>
        </p:spPr>
        <p:txBody>
          <a:bodyPr>
            <a:normAutofit/>
          </a:bodyPr>
          <a:lstStyle/>
          <a:p>
            <a:r>
              <a:rPr lang="en-IN" sz="3200" b="1" dirty="0"/>
              <a:t>Process Dynamics &amp; Control (CH 61016)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6702"/>
            <a:ext cx="7886700" cy="5252431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b="1" dirty="0"/>
              <a:t>Class Teacher:    </a:t>
            </a:r>
            <a:r>
              <a:rPr lang="en-IN" dirty="0"/>
              <a:t>		1. Prof Amar Nath Samanta  </a:t>
            </a:r>
          </a:p>
          <a:p>
            <a:pPr marL="0" indent="0">
              <a:buNone/>
            </a:pPr>
            <a:r>
              <a:rPr lang="en-IN" dirty="0"/>
              <a:t>				2. Prof Amiya K Jana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US" b="1" dirty="0"/>
              <a:t>Class TA</a:t>
            </a:r>
          </a:p>
          <a:p>
            <a:pPr marL="0" indent="0">
              <a:buNone/>
            </a:pPr>
            <a:r>
              <a:rPr lang="en-US" dirty="0"/>
              <a:t>	Mr. Shubham Raj		             Mr. Guru Bhattacharya</a:t>
            </a:r>
          </a:p>
          <a:p>
            <a:pPr marL="0" indent="0">
              <a:buNone/>
            </a:pPr>
            <a:r>
              <a:rPr lang="en-US" dirty="0"/>
              <a:t>             Mr. Vishal </a:t>
            </a:r>
            <a:r>
              <a:rPr lang="en-US" dirty="0" err="1"/>
              <a:t>Kamble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Class Timing 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dirty="0"/>
              <a:t>Wednesday 	: 10 AM to 11 AM </a:t>
            </a:r>
          </a:p>
          <a:p>
            <a:pPr marL="0" indent="0">
              <a:buNone/>
            </a:pPr>
            <a:r>
              <a:rPr lang="en-IN" dirty="0"/>
              <a:t>	Thursday	:   9 AM to 10 AM </a:t>
            </a:r>
          </a:p>
          <a:p>
            <a:pPr marL="0" indent="0">
              <a:buNone/>
            </a:pPr>
            <a:r>
              <a:rPr lang="en-IN" dirty="0"/>
              <a:t>	Friday		:  11 AM to 1 PM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Attendance</a:t>
            </a:r>
          </a:p>
          <a:p>
            <a:pPr marL="0" indent="0">
              <a:buNone/>
            </a:pPr>
            <a:r>
              <a:rPr lang="en-US" dirty="0"/>
              <a:t>		Biometric method </a:t>
            </a:r>
          </a:p>
          <a:p>
            <a:pPr marL="0" indent="0">
              <a:buNone/>
            </a:pPr>
            <a:r>
              <a:rPr lang="en-US" dirty="0"/>
              <a:t>		Institute Deregistration Rule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999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62A2-56FE-47D7-BB0D-ACAE82C4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89906"/>
          </a:xfrm>
        </p:spPr>
        <p:txBody>
          <a:bodyPr/>
          <a:lstStyle/>
          <a:p>
            <a:r>
              <a:rPr lang="en-US" dirty="0"/>
              <a:t>Syllabus of PDC (my part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4014-D149-41BB-BBC5-433C0AEDE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8286"/>
            <a:ext cx="7886700" cy="4848677"/>
          </a:xfrm>
        </p:spPr>
        <p:txBody>
          <a:bodyPr/>
          <a:lstStyle/>
          <a:p>
            <a:pPr lvl="1"/>
            <a:r>
              <a:rPr lang="en-IN" sz="2800" dirty="0"/>
              <a:t>Development Process Models</a:t>
            </a:r>
          </a:p>
          <a:p>
            <a:pPr lvl="1"/>
            <a:r>
              <a:rPr lang="en-IN" sz="2800" dirty="0"/>
              <a:t>Development of Control Relevant Models</a:t>
            </a:r>
          </a:p>
          <a:p>
            <a:pPr lvl="1"/>
            <a:r>
              <a:rPr lang="en-IN" sz="2800" dirty="0"/>
              <a:t>Review of linear Dynamics</a:t>
            </a:r>
          </a:p>
          <a:p>
            <a:pPr lvl="1"/>
            <a:r>
              <a:rPr lang="en-IN" sz="2800" dirty="0"/>
              <a:t>Development of controller and observer using state space models</a:t>
            </a:r>
          </a:p>
          <a:p>
            <a:pPr lvl="1"/>
            <a:r>
              <a:rPr lang="en-IN" sz="2800" dirty="0"/>
              <a:t>Non-linear system analysis</a:t>
            </a:r>
          </a:p>
          <a:p>
            <a:pPr lvl="2"/>
            <a:r>
              <a:rPr lang="en-IN" sz="2800" dirty="0"/>
              <a:t>Phase Plane </a:t>
            </a:r>
          </a:p>
          <a:p>
            <a:pPr lvl="2"/>
            <a:r>
              <a:rPr lang="en-IN" sz="2800" dirty="0"/>
              <a:t>Bifurcation </a:t>
            </a:r>
          </a:p>
          <a:p>
            <a:pPr lvl="2"/>
            <a:r>
              <a:rPr lang="en-IN" sz="2800" dirty="0"/>
              <a:t>Stability analysis</a:t>
            </a:r>
          </a:p>
          <a:p>
            <a:pPr lvl="1"/>
            <a:r>
              <a:rPr lang="en-IN" sz="2800" dirty="0"/>
              <a:t>Feedback linearization of nonlinear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4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38845"/>
          </a:xfrm>
        </p:spPr>
        <p:txBody>
          <a:bodyPr/>
          <a:lstStyle/>
          <a:p>
            <a:r>
              <a:rPr lang="en-IN" sz="3600" b="1" dirty="0"/>
              <a:t>Process Dynamics &amp; Control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76" y="1222408"/>
            <a:ext cx="8008274" cy="49545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/>
              <a:t>Books:</a:t>
            </a:r>
          </a:p>
          <a:p>
            <a:pPr marL="0" indent="0">
              <a:buNone/>
            </a:pPr>
            <a:r>
              <a:rPr lang="en-IN" sz="2400" dirty="0"/>
              <a:t>1.Process Dynamics &amp; Control 	-- </a:t>
            </a:r>
            <a:r>
              <a:rPr lang="en-IN" sz="2400" dirty="0" err="1"/>
              <a:t>Seborg</a:t>
            </a:r>
            <a:r>
              <a:rPr lang="en-IN" sz="2400" dirty="0"/>
              <a:t>, Edgar, </a:t>
            </a:r>
            <a:r>
              <a:rPr lang="en-IN" sz="2400" dirty="0" err="1"/>
              <a:t>Mellichamp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						    &amp; Doyle</a:t>
            </a:r>
          </a:p>
          <a:p>
            <a:pPr marL="0" indent="0">
              <a:buNone/>
            </a:pPr>
            <a:endParaRPr lang="en-IN" sz="2400" dirty="0"/>
          </a:p>
          <a:p>
            <a:pPr marL="457200" indent="-457200">
              <a:buAutoNum type="arabicPeriod" startAt="2"/>
            </a:pPr>
            <a:r>
              <a:rPr lang="en-IN" sz="2400" dirty="0"/>
              <a:t>Process Control 			-- W </a:t>
            </a:r>
            <a:r>
              <a:rPr lang="en-IN" sz="2400" dirty="0" err="1"/>
              <a:t>Bequette</a:t>
            </a:r>
            <a:endParaRPr lang="en-IN" sz="2400" dirty="0"/>
          </a:p>
          <a:p>
            <a:pPr marL="457200" indent="-457200">
              <a:buAutoNum type="arabicPeriod" startAt="2"/>
            </a:pPr>
            <a:endParaRPr lang="en-IN" sz="2400" dirty="0"/>
          </a:p>
          <a:p>
            <a:pPr marL="457200" indent="-457200">
              <a:buAutoNum type="arabicPeriod" startAt="3"/>
            </a:pPr>
            <a:r>
              <a:rPr lang="en-US" sz="2400" dirty="0"/>
              <a:t>Process Dynamics, Modelling &amp; Control 									</a:t>
            </a:r>
          </a:p>
          <a:p>
            <a:pPr marL="0" indent="0">
              <a:buNone/>
            </a:pPr>
            <a:r>
              <a:rPr lang="en-US" sz="2400" dirty="0"/>
              <a:t>						– B A </a:t>
            </a:r>
            <a:r>
              <a:rPr lang="en-US" sz="2400" dirty="0" err="1"/>
              <a:t>Ogunnaike</a:t>
            </a:r>
            <a:r>
              <a:rPr lang="en-US" sz="2400" dirty="0"/>
              <a:t> &amp; W H Ray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4.	Modern Control Engineering 	-- K Ogata</a:t>
            </a:r>
          </a:p>
          <a:p>
            <a:pPr marL="342900" lvl="1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Software:    </a:t>
            </a:r>
            <a:r>
              <a:rPr lang="en-US" sz="2400" dirty="0"/>
              <a:t>Knowledge of MATLAB &amp; Simulink desirable</a:t>
            </a:r>
            <a:endParaRPr lang="en-IN" sz="2400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56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6542"/>
          </a:xfrm>
        </p:spPr>
        <p:txBody>
          <a:bodyPr/>
          <a:lstStyle/>
          <a:p>
            <a:r>
              <a:rPr lang="en-IN" b="1" dirty="0"/>
              <a:t>Why study Process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81669"/>
            <a:ext cx="7886700" cy="50952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Let us consider a very simple example of tank level control problem</a:t>
            </a:r>
          </a:p>
          <a:p>
            <a:pPr marL="0" indent="0">
              <a:buNone/>
            </a:pPr>
            <a:r>
              <a:rPr lang="en-IN" dirty="0"/>
              <a:t>Option 1: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4" y="1877433"/>
            <a:ext cx="7054144" cy="421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4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9635"/>
          </a:xfrm>
        </p:spPr>
        <p:txBody>
          <a:bodyPr/>
          <a:lstStyle/>
          <a:p>
            <a:r>
              <a:rPr lang="en-IN" b="1" dirty="0"/>
              <a:t>Tank Level problem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586" y="1471961"/>
            <a:ext cx="7297698" cy="37345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0586" y="5380682"/>
            <a:ext cx="7667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Which configuration is better from the control view point and why?</a:t>
            </a:r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80586" y="1129077"/>
            <a:ext cx="1063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Option 2:</a:t>
            </a:r>
          </a:p>
        </p:txBody>
      </p:sp>
    </p:spTree>
    <p:extLst>
      <p:ext uri="{BB962C8B-B14F-4D97-AF65-F5344CB8AC3E}">
        <p14:creationId xmlns:p14="http://schemas.microsoft.com/office/powerpoint/2010/main" val="5394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1782"/>
          </a:xfrm>
        </p:spPr>
        <p:txBody>
          <a:bodyPr>
            <a:normAutofit fontScale="90000"/>
          </a:bodyPr>
          <a:lstStyle/>
          <a:p>
            <a:br>
              <a:rPr lang="en-IN" sz="3600" b="1" dirty="0"/>
            </a:br>
            <a:r>
              <a:rPr lang="en-IN" sz="3600" b="1" dirty="0"/>
              <a:t>Benchmark Systems to be used for the course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4552"/>
            <a:ext cx="7886700" cy="5151051"/>
          </a:xfrm>
        </p:spPr>
        <p:txBody>
          <a:bodyPr/>
          <a:lstStyle/>
          <a:p>
            <a:pPr lvl="0"/>
            <a:r>
              <a:rPr lang="en-IN" sz="2400" dirty="0"/>
              <a:t>Tank Level System</a:t>
            </a:r>
            <a:endParaRPr lang="en-IN" sz="1200" dirty="0"/>
          </a:p>
          <a:p>
            <a:pPr lvl="1"/>
            <a:r>
              <a:rPr lang="en-IN" sz="2000" dirty="0"/>
              <a:t>3 tank in series</a:t>
            </a:r>
          </a:p>
          <a:p>
            <a:pPr lvl="1"/>
            <a:r>
              <a:rPr lang="en-IN" sz="2000" dirty="0"/>
              <a:t>Quadruple Tank </a:t>
            </a:r>
          </a:p>
          <a:p>
            <a:pPr lvl="0"/>
            <a:r>
              <a:rPr lang="en-IN" sz="2400" dirty="0"/>
              <a:t>Continuous Stirred Tank Heater</a:t>
            </a:r>
            <a:endParaRPr lang="en-IN" sz="1200" dirty="0"/>
          </a:p>
          <a:p>
            <a:pPr lvl="0"/>
            <a:r>
              <a:rPr lang="en-IN" sz="2400" dirty="0"/>
              <a:t>Continuous Stirred Tank Reactor system</a:t>
            </a:r>
            <a:endParaRPr lang="en-IN" sz="1200" dirty="0"/>
          </a:p>
          <a:p>
            <a:pPr lvl="1"/>
            <a:r>
              <a:rPr lang="en-IN" sz="2000" dirty="0"/>
              <a:t>Isothermal Reactor (Van de </a:t>
            </a:r>
            <a:r>
              <a:rPr lang="en-IN" sz="2000" dirty="0" err="1"/>
              <a:t>Vusse</a:t>
            </a:r>
            <a:r>
              <a:rPr lang="en-IN" sz="2000" dirty="0"/>
              <a:t> reaction)</a:t>
            </a:r>
          </a:p>
          <a:p>
            <a:pPr lvl="1"/>
            <a:r>
              <a:rPr lang="en-IN" sz="2000" dirty="0"/>
              <a:t>Non-isothermal Reactor</a:t>
            </a:r>
          </a:p>
          <a:p>
            <a:pPr lvl="1"/>
            <a:r>
              <a:rPr lang="en-US" sz="2000" dirty="0"/>
              <a:t>Polymerization Reactor</a:t>
            </a:r>
            <a:endParaRPr lang="en-IN" sz="2000" dirty="0"/>
          </a:p>
          <a:p>
            <a:pPr lvl="0"/>
            <a:r>
              <a:rPr lang="en-IN" sz="2400" dirty="0"/>
              <a:t>Distillation Column</a:t>
            </a:r>
            <a:endParaRPr lang="en-IN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MATLAB / SIMULINK model will be developed based on nonlinear model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5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5071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Mathematical Model of tank level system</a:t>
            </a:r>
            <a:br>
              <a:rPr lang="en-IN" dirty="0"/>
            </a:br>
            <a:endParaRPr lang="en-IN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248935" y="1483112"/>
            <a:ext cx="112404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337322"/>
              </p:ext>
            </p:extLst>
          </p:nvPr>
        </p:nvGraphicFramePr>
        <p:xfrm>
          <a:off x="735979" y="1141268"/>
          <a:ext cx="3511825" cy="267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1752480" imgH="1333440" progId="Equation.DSMT4">
                  <p:embed/>
                </p:oleObj>
              </mc:Choice>
              <mc:Fallback>
                <p:oleObj name="Equation" r:id="rId4" imgW="1752480" imgH="133344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79" y="1141268"/>
                        <a:ext cx="3511825" cy="2674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98403" y="4214553"/>
            <a:ext cx="4780426" cy="222905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objective: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the 3</a:t>
            </a:r>
            <a:r>
              <a:rPr lang="en-IN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tank level by manipulating pump voltage V,  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F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K V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q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input flow on the tanks 2 and set q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manipulated variable.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one is difficult to control?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70269" y="4214553"/>
            <a:ext cx="3757352" cy="177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for Simulation in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Matlab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/Simulink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28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32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V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 V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/>
              <a:t>0.06725</a:t>
            </a:r>
            <a:r>
              <a:rPr lang="en-IN" dirty="0"/>
              <a:t>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= </a:t>
            </a:r>
            <a:r>
              <a:rPr lang="en-IN" b="1" dirty="0"/>
              <a:t>0.05683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0.07089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K=3.14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643" y="942916"/>
            <a:ext cx="2147255" cy="31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1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522" y="353071"/>
                <a:ext cx="7886700" cy="585276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Transfer Function model</a:t>
                </a:r>
              </a:p>
              <a:p>
                <a:pPr marL="0" indent="0">
                  <a:buNone/>
                </a:pPr>
                <a:r>
                  <a:rPr lang="en-IN" dirty="0"/>
                  <a:t>Define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IN" dirty="0"/>
                  <a:t>   </a:t>
                </a:r>
              </a:p>
              <a:p>
                <a:pPr marL="0" indent="0">
                  <a:buNone/>
                </a:pPr>
                <a:r>
                  <a:rPr lang="en-IN" dirty="0"/>
                  <a:t>Linearizing around steady state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rad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</m:rad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Subtracting above from steady state equation,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rad>
                      </m:den>
                    </m:f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   </a:t>
                </a:r>
                <a:r>
                  <a:rPr lang="en-IN" dirty="0">
                    <a:sym typeface="Wingdings" panose="05000000000000000000" pitchFamily="2" charset="2"/>
                  </a:rPr>
                  <a:t> </a:t>
                </a:r>
                <a:r>
                  <a:rPr lang="en-IN" dirty="0"/>
                  <a:t>Transfer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Similarly,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 and Transfer function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  and Transfer function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IN" dirty="0"/>
                  <a:t>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      for j = 2,3</a:t>
                </a:r>
              </a:p>
              <a:p>
                <a:pPr marL="0" indent="0">
                  <a:buNone/>
                </a:pPr>
                <a:r>
                  <a:rPr lang="en-IN" dirty="0"/>
                  <a:t>So, Process Transfer function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+1)(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522" y="353071"/>
                <a:ext cx="7886700" cy="5852767"/>
              </a:xfrm>
              <a:blipFill>
                <a:blip r:embed="rId2"/>
                <a:stretch>
                  <a:fillRect l="-773" t="-1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284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Quadruple Tank problem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Image result for quadruple tank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28" y="1014413"/>
            <a:ext cx="6206743" cy="516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83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38845"/>
          </a:xfrm>
        </p:spPr>
        <p:txBody>
          <a:bodyPr/>
          <a:lstStyle/>
          <a:p>
            <a:r>
              <a:rPr lang="en-IN" b="1" dirty="0"/>
              <a:t>Quadruple Tank problem</a:t>
            </a:r>
            <a:endParaRPr lang="en-IN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0659" y="1862253"/>
            <a:ext cx="1258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781253"/>
              </p:ext>
            </p:extLst>
          </p:nvPr>
        </p:nvGraphicFramePr>
        <p:xfrm>
          <a:off x="791738" y="1405054"/>
          <a:ext cx="4954184" cy="3612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2438400" imgH="1778000" progId="Equation.DSMT4">
                  <p:embed/>
                </p:oleObj>
              </mc:Choice>
              <mc:Fallback>
                <p:oleObj name="Equation" r:id="rId4" imgW="2438400" imgH="17780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738" y="1405054"/>
                        <a:ext cx="4954184" cy="3612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850171" y="1427357"/>
            <a:ext cx="3033170" cy="48396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Objective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the levels of tank1 and tank2 should be controlled by manipulating voltages to the pumps.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for simulation: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28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32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0.071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0.057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3.33, 3.35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3.0, 3.0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0.7, 0.6</a:t>
            </a: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29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814039" y="171449"/>
            <a:ext cx="7839307" cy="62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 anchor="b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  <a:defRPr/>
            </a:pPr>
            <a:r>
              <a:rPr lang="en-US" altLang="en-US" sz="3200" dirty="0"/>
              <a:t>Jacketed heated stirred tank</a:t>
            </a: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814039" y="857250"/>
            <a:ext cx="7337501" cy="563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/>
          <a:lstStyle>
            <a:lvl1pPr marL="3429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z="1662" dirty="0">
              <a:effectLst/>
            </a:endParaRPr>
          </a:p>
          <a:p>
            <a:pPr marL="0" indent="0">
              <a:buNone/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</p:txBody>
      </p:sp>
      <p:graphicFrame>
        <p:nvGraphicFramePr>
          <p:cNvPr id="20" name="Object 2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793120"/>
              </p:ext>
            </p:extLst>
          </p:nvPr>
        </p:nvGraphicFramePr>
        <p:xfrm>
          <a:off x="4556509" y="1996893"/>
          <a:ext cx="3678541" cy="2157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2273040" imgH="1333440" progId="Equation.DSMT4">
                  <p:embed/>
                </p:oleObj>
              </mc:Choice>
              <mc:Fallback>
                <p:oleObj name="Equation" r:id="rId4" imgW="2273040" imgH="1333440" progId="Equation.DSMT4">
                  <p:embed/>
                  <p:pic>
                    <p:nvPicPr>
                      <p:cNvPr id="2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509" y="1996893"/>
                        <a:ext cx="3678541" cy="2157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3995088" y="7965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Monotype Sorts" charset="2"/>
              <a:buNone/>
              <a:defRPr/>
            </a:pPr>
            <a:r>
              <a:rPr lang="en-US" altLang="en-US" dirty="0"/>
              <a:t>Assumptions: </a:t>
            </a:r>
          </a:p>
          <a:p>
            <a:pPr lvl="1">
              <a:defRPr/>
            </a:pPr>
            <a:r>
              <a:rPr lang="en-US" altLang="en-US" dirty="0"/>
              <a:t>Constant hold-up in tank and jacket</a:t>
            </a:r>
          </a:p>
          <a:p>
            <a:pPr lvl="1">
              <a:defRPr/>
            </a:pPr>
            <a:r>
              <a:rPr lang="en-US" altLang="en-US" dirty="0"/>
              <a:t>Constant heat capacities and densities</a:t>
            </a:r>
          </a:p>
          <a:p>
            <a:pPr lvl="1">
              <a:defRPr/>
            </a:pPr>
            <a:r>
              <a:rPr lang="en-US" altLang="en-US" dirty="0"/>
              <a:t>Incompressible 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03" y="1068610"/>
            <a:ext cx="3366921" cy="3677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4039" y="5354653"/>
                <a:ext cx="7234010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Parameter and Steady State Values</a:t>
                </a:r>
              </a:p>
              <a:p>
                <a:r>
                  <a:rPr lang="en-US" dirty="0"/>
                  <a:t>F = 30 l/min; F</a:t>
                </a:r>
                <a:r>
                  <a:rPr lang="en-US" baseline="-25000" dirty="0"/>
                  <a:t>j</a:t>
                </a:r>
                <a:r>
                  <a:rPr lang="en-US" baseline="30000" dirty="0"/>
                  <a:t>s</a:t>
                </a:r>
                <a:r>
                  <a:rPr lang="en-US" dirty="0"/>
                  <a:t> = 50 l/min; T</a:t>
                </a:r>
                <a:r>
                  <a:rPr lang="en-US" baseline="-25000" dirty="0"/>
                  <a:t>0</a:t>
                </a:r>
                <a:r>
                  <a:rPr lang="en-US" dirty="0"/>
                  <a:t> = 15</a:t>
                </a:r>
                <a:r>
                  <a:rPr lang="en-US" baseline="30000" dirty="0"/>
                  <a:t>0</a:t>
                </a:r>
                <a:r>
                  <a:rPr lang="en-US" dirty="0"/>
                  <a:t>C;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Jin</a:t>
                </a:r>
                <a:r>
                  <a:rPr lang="en-US" dirty="0"/>
                  <a:t> = 93</a:t>
                </a:r>
                <a:r>
                  <a:rPr lang="en-US" baseline="30000" dirty="0"/>
                  <a:t>0</a:t>
                </a:r>
                <a:r>
                  <a:rPr lang="en-US" dirty="0"/>
                  <a:t>C; V = 300 l; 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j</a:t>
                </a:r>
                <a:r>
                  <a:rPr lang="en-US" dirty="0"/>
                  <a:t> = 30 l;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 1 Kcal/K l;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𝑝𝑗</m:t>
                        </m:r>
                      </m:sub>
                    </m:sSub>
                  </m:oMath>
                </a14:m>
                <a:r>
                  <a:rPr lang="en-US" dirty="0"/>
                  <a:t> = 1.384 ; UA = 100 Kcal/min K; </a:t>
                </a:r>
                <a:r>
                  <a:rPr lang="en-US" dirty="0" err="1"/>
                  <a:t>T</a:t>
                </a:r>
                <a:r>
                  <a:rPr lang="en-US" baseline="30000" dirty="0" err="1"/>
                  <a:t>s</a:t>
                </a:r>
                <a:r>
                  <a:rPr lang="en-US" dirty="0"/>
                  <a:t> = 60</a:t>
                </a:r>
                <a:r>
                  <a:rPr lang="en-US" baseline="30000" dirty="0"/>
                  <a:t>0</a:t>
                </a:r>
                <a:r>
                  <a:rPr lang="en-US" dirty="0"/>
                  <a:t>C ; T</a:t>
                </a:r>
                <a:r>
                  <a:rPr lang="en-US" baseline="-25000" dirty="0"/>
                  <a:t>J</a:t>
                </a:r>
                <a:r>
                  <a:rPr lang="en-US" dirty="0"/>
                  <a:t> = 73.5 </a:t>
                </a:r>
                <a:r>
                  <a:rPr lang="en-US" baseline="30000" dirty="0"/>
                  <a:t>0</a:t>
                </a:r>
                <a:r>
                  <a:rPr lang="en-US" dirty="0"/>
                  <a:t>C </a:t>
                </a:r>
                <a:r>
                  <a:rPr lang="en-US" baseline="-25000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9" y="5354653"/>
                <a:ext cx="7234010" cy="944746"/>
              </a:xfrm>
              <a:prstGeom prst="rect">
                <a:avLst/>
              </a:prstGeom>
              <a:blipFill>
                <a:blip r:embed="rId7"/>
                <a:stretch>
                  <a:fillRect l="-759" t="-3226" b="-77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11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697701" cy="906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Continuous Stirred Tank Reactor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84387" y="1382752"/>
            <a:ext cx="5713773" cy="2196847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621521"/>
              </p:ext>
            </p:extLst>
          </p:nvPr>
        </p:nvGraphicFramePr>
        <p:xfrm>
          <a:off x="758284" y="3102167"/>
          <a:ext cx="3122341" cy="117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5" imgW="1206500" imgH="457200" progId="Equation.DSMT4">
                  <p:embed/>
                </p:oleObj>
              </mc:Choice>
              <mc:Fallback>
                <p:oleObj name="Equation" r:id="rId5" imgW="1206500" imgH="4572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284" y="3102167"/>
                        <a:ext cx="3122341" cy="1177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47493" y="522783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7500" y="3841518"/>
            <a:ext cx="4572000" cy="22694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Assumption: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 Condition = Reactor Condition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Isothermal Reaction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 volume,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reactant A in feed is consumed,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other reactant is in large excess. No product in the feed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83835" y="1271239"/>
            <a:ext cx="51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baseline="-25000" dirty="0"/>
              <a:t>in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11229" y="2958365"/>
            <a:ext cx="602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F</a:t>
            </a:r>
            <a:r>
              <a:rPr lang="en-IN" b="1" baseline="-25000" dirty="0" err="1"/>
              <a:t>out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81552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733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/>
              <a:t>Continuous Stirred Tank Reactor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Constant volume : 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dV</a:t>
                </a:r>
                <a:r>
                  <a:rPr lang="en-IN" i="1" dirty="0">
                    <a:latin typeface="Cambria Math" panose="02040503050406030204" pitchFamily="18" charset="0"/>
                  </a:rPr>
                  <a:t>/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dt</a:t>
                </a:r>
                <a:r>
                  <a:rPr lang="en-IN" i="1" dirty="0">
                    <a:latin typeface="Cambria Math" panose="020405030504060302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Dynamic model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Since our objective is to control C</a:t>
                </a:r>
                <a:r>
                  <a:rPr lang="en-IN" baseline="-25000" dirty="0"/>
                  <a:t>B</a:t>
                </a:r>
                <a:r>
                  <a:rPr lang="en-IN" dirty="0"/>
                  <a:t>, the reduced order model should be 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IN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IN" dirty="0"/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  <a:blipFill>
                <a:blip r:embed="rId3"/>
                <a:stretch>
                  <a:fillRect l="-927" t="-1481" r="-20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394037" y="1676049"/>
            <a:ext cx="2475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for the CSTR</a:t>
            </a:r>
          </a:p>
          <a:p>
            <a:r>
              <a:rPr lang="en-IN" i="1" dirty="0"/>
              <a:t>V </a:t>
            </a:r>
            <a:r>
              <a:rPr lang="en-IN" dirty="0"/>
              <a:t>= 1 l</a:t>
            </a:r>
          </a:p>
          <a:p>
            <a:r>
              <a:rPr lang="en-IN" i="1" dirty="0"/>
              <a:t>F </a:t>
            </a:r>
            <a:r>
              <a:rPr lang="en-IN" dirty="0"/>
              <a:t>= 78 l/h</a:t>
            </a:r>
          </a:p>
          <a:p>
            <a:r>
              <a:rPr lang="en-IN" i="1" dirty="0" err="1"/>
              <a:t>C</a:t>
            </a:r>
            <a:r>
              <a:rPr lang="en-IN" i="1" baseline="-25000" dirty="0" err="1"/>
              <a:t>Af</a:t>
            </a:r>
            <a:r>
              <a:rPr lang="en-IN" i="1" dirty="0"/>
              <a:t> </a:t>
            </a:r>
            <a:r>
              <a:rPr lang="en-IN" dirty="0"/>
              <a:t>= 10 </a:t>
            </a:r>
            <a:r>
              <a:rPr lang="en-IN" dirty="0" err="1"/>
              <a:t>mol</a:t>
            </a:r>
            <a:r>
              <a:rPr lang="en-IN" dirty="0"/>
              <a:t>/l</a:t>
            </a:r>
          </a:p>
          <a:p>
            <a:r>
              <a:rPr lang="en-IN" dirty="0"/>
              <a:t>kl = 50 h-1</a:t>
            </a:r>
          </a:p>
          <a:p>
            <a:r>
              <a:rPr lang="en-IN" i="1" dirty="0"/>
              <a:t>k2 </a:t>
            </a:r>
            <a:r>
              <a:rPr lang="en-IN" dirty="0"/>
              <a:t>= 100 h-1</a:t>
            </a:r>
          </a:p>
          <a:p>
            <a:r>
              <a:rPr lang="en-IN" i="1" dirty="0"/>
              <a:t>k3 </a:t>
            </a:r>
            <a:r>
              <a:rPr lang="en-IN" dirty="0"/>
              <a:t>= 10 l.mol-1.h-1</a:t>
            </a:r>
          </a:p>
        </p:txBody>
      </p:sp>
    </p:spTree>
    <p:extLst>
      <p:ext uri="{BB962C8B-B14F-4D97-AF65-F5344CB8AC3E}">
        <p14:creationId xmlns:p14="http://schemas.microsoft.com/office/powerpoint/2010/main" val="86001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11" y="733425"/>
            <a:ext cx="7399183" cy="5549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9240" y="4001729"/>
            <a:ext cx="3018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is the Process Gain at these points ?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28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41209"/>
          </a:xfrm>
        </p:spPr>
        <p:txBody>
          <a:bodyPr>
            <a:normAutofit fontScale="90000"/>
          </a:bodyPr>
          <a:lstStyle/>
          <a:p>
            <a:r>
              <a:rPr lang="en-IN" dirty="0"/>
              <a:t>Non-Isothermal Jacketed CSTR</a:t>
            </a:r>
          </a:p>
        </p:txBody>
      </p:sp>
      <p:pic>
        <p:nvPicPr>
          <p:cNvPr id="7170" name="Picture 2" descr="https://www.rpi.edu/dept/chem-eng/WWW/faculty/bequette/education/links_mods/cstr/fig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008972"/>
            <a:ext cx="3452576" cy="211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54809"/>
              </p:ext>
            </p:extLst>
          </p:nvPr>
        </p:nvGraphicFramePr>
        <p:xfrm>
          <a:off x="1477645" y="3265343"/>
          <a:ext cx="5622520" cy="3200400"/>
        </p:xfrm>
        <a:graphic>
          <a:graphicData uri="http://schemas.openxmlformats.org/drawingml/2006/table">
            <a:tbl>
              <a:tblPr/>
              <a:tblGrid>
                <a:gridCol w="1405630">
                  <a:extLst>
                    <a:ext uri="{9D8B030D-6E8A-4147-A177-3AD203B41FA5}">
                      <a16:colId xmlns:a16="http://schemas.microsoft.com/office/drawing/2014/main" val="3699360910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3178201327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2768645011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869778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7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3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F/V,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97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k</a:t>
                      </a:r>
                      <a:r>
                        <a:rPr lang="en-IN" sz="1200" baseline="-25000" dirty="0"/>
                        <a:t>0</a:t>
                      </a:r>
                      <a:r>
                        <a:rPr lang="en-IN" sz="1200" dirty="0"/>
                        <a:t>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14,825*3600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9,703*3600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18,194*3600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(</a:t>
                      </a:r>
                      <a:r>
                        <a:rPr lang="en-IN" sz="1200" dirty="0">
                          <a:latin typeface="Symbol" panose="05050102010706020507" pitchFamily="18" charset="2"/>
                        </a:rPr>
                        <a:t>-D</a:t>
                      </a:r>
                      <a:r>
                        <a:rPr lang="en-IN" sz="1200" dirty="0"/>
                        <a:t>H),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5960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8195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9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E,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4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Symbol" panose="05050102010706020507" pitchFamily="18" charset="2"/>
                        </a:rPr>
                        <a:t>r</a:t>
                      </a:r>
                      <a:r>
                        <a:rPr lang="en-IN" sz="1200" dirty="0" err="1"/>
                        <a:t>cp</a:t>
                      </a:r>
                      <a:r>
                        <a:rPr lang="en-IN" sz="1200" dirty="0"/>
                        <a:t>, kcal/(m</a:t>
                      </a:r>
                      <a:r>
                        <a:rPr lang="en-IN" sz="1200" baseline="30000" dirty="0"/>
                        <a:t>3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4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T</a:t>
                      </a:r>
                      <a:r>
                        <a:rPr lang="en-IN" sz="1200" baseline="-25000" dirty="0" err="1"/>
                        <a:t>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5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C</a:t>
                      </a:r>
                      <a:r>
                        <a:rPr lang="en-IN" sz="1200" baseline="-25000" dirty="0" err="1"/>
                        <a:t>Af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kgmol</a:t>
                      </a:r>
                      <a:r>
                        <a:rPr lang="en-IN" sz="1200" dirty="0"/>
                        <a:t>/m3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6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UA/V, kcal/(m</a:t>
                      </a:r>
                      <a:r>
                        <a:rPr lang="en-IN" sz="1200" baseline="30000" dirty="0"/>
                        <a:t>3 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 hr)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T</a:t>
                      </a:r>
                      <a:r>
                        <a:rPr lang="en-IN" sz="1200" baseline="-25000" dirty="0"/>
                        <a:t>C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94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77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7" y="889361"/>
            <a:ext cx="6683568" cy="5012675"/>
          </a:xfrm>
        </p:spPr>
      </p:pic>
      <p:sp>
        <p:nvSpPr>
          <p:cNvPr id="5" name="TextBox 4"/>
          <p:cNvSpPr txBox="1"/>
          <p:nvPr/>
        </p:nvSpPr>
        <p:spPr>
          <a:xfrm>
            <a:off x="5172364" y="186574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454400" y="136698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82953" y="3457744"/>
            <a:ext cx="2635133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Steady State for case 2</a:t>
            </a:r>
          </a:p>
          <a:p>
            <a:r>
              <a:rPr lang="en-IN" sz="1400" dirty="0"/>
              <a:t>	C</a:t>
            </a:r>
            <a:r>
              <a:rPr lang="en-IN" sz="1400" baseline="-25000" dirty="0"/>
              <a:t>A</a:t>
            </a:r>
            <a:r>
              <a:rPr lang="en-IN" sz="1400" dirty="0"/>
              <a:t>        	T</a:t>
            </a:r>
          </a:p>
          <a:p>
            <a:r>
              <a:rPr lang="en-IN" sz="1400" dirty="0"/>
              <a:t>   1	8.564	311.2</a:t>
            </a:r>
          </a:p>
          <a:p>
            <a:r>
              <a:rPr lang="en-IN" sz="1400" dirty="0"/>
              <a:t>   2 	5.518	339.1</a:t>
            </a:r>
          </a:p>
          <a:p>
            <a:r>
              <a:rPr lang="en-IN" sz="1400" dirty="0"/>
              <a:t>   3	2.359	368.1</a:t>
            </a:r>
          </a:p>
        </p:txBody>
      </p:sp>
    </p:spTree>
    <p:extLst>
      <p:ext uri="{BB962C8B-B14F-4D97-AF65-F5344CB8AC3E}">
        <p14:creationId xmlns:p14="http://schemas.microsoft.com/office/powerpoint/2010/main" val="249859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3929"/>
          </a:xfrm>
        </p:spPr>
        <p:txBody>
          <a:bodyPr/>
          <a:lstStyle/>
          <a:p>
            <a:r>
              <a:rPr lang="en-US" dirty="0"/>
              <a:t>Styrene Polymerization Reactor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1" y="2180227"/>
            <a:ext cx="3494025" cy="388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0" y="979055"/>
            <a:ext cx="5937433" cy="2478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Initiator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Monomer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Reactor Temp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Jacket Temp.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blipFill>
                <a:blip r:embed="rId4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756" y="3569368"/>
            <a:ext cx="2513819" cy="346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753" y="4121727"/>
            <a:ext cx="5077195" cy="708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dissociation, propagation and termination</a:t>
                </a:r>
              </a:p>
              <a:p>
                <a:r>
                  <a:rPr lang="en-US" dirty="0"/>
                  <a:t>Rate constants follow Arrhenius law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    for I =d, p or t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blipFill>
                <a:blip r:embed="rId7"/>
                <a:stretch>
                  <a:fillRect l="-1216" t="-2778" r="-676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24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3" y="1487055"/>
            <a:ext cx="7524267" cy="442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2151608" y="1034473"/>
            <a:ext cx="5366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Steady State Heat Power vs Reactor Temperature</a:t>
            </a:r>
            <a:endParaRPr lang="en-IN" sz="2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55636" y="3999345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11599" y="3422072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075055" y="2540001"/>
            <a:ext cx="18472" cy="882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2364" y="3786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09913" y="3237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945745" y="3500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034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8" y="851795"/>
            <a:ext cx="8506513" cy="5268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1419" y="633268"/>
            <a:ext cx="165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Phase Portrait</a:t>
            </a:r>
            <a:endParaRPr lang="en-IN" sz="20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131128" y="4479636"/>
            <a:ext cx="314037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883564" y="2041236"/>
            <a:ext cx="138545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597891" y="5163127"/>
            <a:ext cx="563418" cy="4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83564" y="3325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3460576" y="4816886"/>
            <a:ext cx="13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(unstable)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431637" y="4881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263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1104</Words>
  <Application>Microsoft Office PowerPoint</Application>
  <PresentationFormat>On-screen Show (4:3)</PresentationFormat>
  <Paragraphs>225</Paragraphs>
  <Slides>20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Monotype Sorts</vt:lpstr>
      <vt:lpstr>Symbol</vt:lpstr>
      <vt:lpstr>Times New Roman</vt:lpstr>
      <vt:lpstr>Wingdings</vt:lpstr>
      <vt:lpstr>Office Theme</vt:lpstr>
      <vt:lpstr>Equation</vt:lpstr>
      <vt:lpstr>Process Dynamics &amp; Control</vt:lpstr>
      <vt:lpstr>Process Dynamics &amp; Control (CH 61016)</vt:lpstr>
      <vt:lpstr>Syllabus of PDC (my part only)</vt:lpstr>
      <vt:lpstr>Process Dynamics &amp; Control </vt:lpstr>
      <vt:lpstr>Why study Process dynamics</vt:lpstr>
      <vt:lpstr>Tank Level problem</vt:lpstr>
      <vt:lpstr> Benchmark Systems to be used for the course </vt:lpstr>
      <vt:lpstr>Mathematical Model of tank level system </vt:lpstr>
      <vt:lpstr>PowerPoint Presentation</vt:lpstr>
      <vt:lpstr>Quadruple Tank problem </vt:lpstr>
      <vt:lpstr>Quadruple Tank problem</vt:lpstr>
      <vt:lpstr>PowerPoint Presentation</vt:lpstr>
      <vt:lpstr>Continuous Stirred Tank Reactor </vt:lpstr>
      <vt:lpstr> Continuous Stirred Tank Reactor </vt:lpstr>
      <vt:lpstr>PowerPoint Presentation</vt:lpstr>
      <vt:lpstr>Non-Isothermal Jacketed CSTR</vt:lpstr>
      <vt:lpstr>PowerPoint Presentation</vt:lpstr>
      <vt:lpstr>Styrene Polymerization Reactor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amar</cp:lastModifiedBy>
  <cp:revision>55</cp:revision>
  <dcterms:created xsi:type="dcterms:W3CDTF">2019-01-01T11:22:05Z</dcterms:created>
  <dcterms:modified xsi:type="dcterms:W3CDTF">2024-01-03T03:42:35Z</dcterms:modified>
</cp:coreProperties>
</file>