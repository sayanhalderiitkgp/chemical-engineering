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6" r:id="rId2"/>
    <p:sldId id="286" r:id="rId3"/>
    <p:sldId id="287" r:id="rId4"/>
    <p:sldId id="288" r:id="rId5"/>
    <p:sldId id="289" r:id="rId6"/>
    <p:sldId id="273" r:id="rId7"/>
    <p:sldId id="274" r:id="rId8"/>
    <p:sldId id="277" r:id="rId9"/>
    <p:sldId id="294" r:id="rId10"/>
    <p:sldId id="257" r:id="rId11"/>
    <p:sldId id="270" r:id="rId12"/>
    <p:sldId id="258" r:id="rId13"/>
    <p:sldId id="259" r:id="rId14"/>
    <p:sldId id="261" r:id="rId15"/>
    <p:sldId id="260" r:id="rId16"/>
    <p:sldId id="263" r:id="rId17"/>
    <p:sldId id="264" r:id="rId18"/>
    <p:sldId id="265" r:id="rId19"/>
    <p:sldId id="267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0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Effect of Dilution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bn-I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Sheet2!$B$1:$B$13</c:f>
              <c:numCache>
                <c:formatCode>General</c:formatCode>
                <c:ptCount val="13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0.47</c:v>
                </c:pt>
                <c:pt idx="11">
                  <c:v>0.49</c:v>
                </c:pt>
                <c:pt idx="12">
                  <c:v>0.51</c:v>
                </c:pt>
              </c:numCache>
            </c:numRef>
          </c:xVal>
          <c:yVal>
            <c:numRef>
              <c:f>Sheet2!$C$1:$C$13</c:f>
              <c:numCache>
                <c:formatCode>General</c:formatCode>
                <c:ptCount val="13"/>
                <c:pt idx="0">
                  <c:v>0</c:v>
                </c:pt>
                <c:pt idx="1">
                  <c:v>1.2499999999999999E-2</c:v>
                </c:pt>
                <c:pt idx="2">
                  <c:v>2.7906976744186043E-2</c:v>
                </c:pt>
                <c:pt idx="3">
                  <c:v>4.7368421052631574E-2</c:v>
                </c:pt>
                <c:pt idx="4">
                  <c:v>7.2727272727272724E-2</c:v>
                </c:pt>
                <c:pt idx="5">
                  <c:v>0.10714285714285712</c:v>
                </c:pt>
                <c:pt idx="6">
                  <c:v>0.15652173913043474</c:v>
                </c:pt>
                <c:pt idx="7">
                  <c:v>0.23333333333333325</c:v>
                </c:pt>
                <c:pt idx="8">
                  <c:v>0.36923076923076925</c:v>
                </c:pt>
                <c:pt idx="9">
                  <c:v>0.67499999999999982</c:v>
                </c:pt>
                <c:pt idx="10">
                  <c:v>0.93999999999999906</c:v>
                </c:pt>
                <c:pt idx="11">
                  <c:v>1.4699999999999986</c:v>
                </c:pt>
                <c:pt idx="12">
                  <c:v>3.0599999999999969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0CA-4BF6-AA7F-400A8D2FBEA4}"/>
            </c:ext>
          </c:extLst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Sheet2!$B$1:$B$14</c:f>
              <c:numCache>
                <c:formatCode>General</c:formatCode>
                <c:ptCount val="14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0.47</c:v>
                </c:pt>
                <c:pt idx="11">
                  <c:v>0.49</c:v>
                </c:pt>
                <c:pt idx="12">
                  <c:v>0.51</c:v>
                </c:pt>
                <c:pt idx="13">
                  <c:v>0.53</c:v>
                </c:pt>
              </c:numCache>
            </c:numRef>
          </c:xVal>
          <c:yVal>
            <c:numRef>
              <c:f>Sheet2!$D$1:$D$13</c:f>
              <c:numCache>
                <c:formatCode>General</c:formatCode>
                <c:ptCount val="13"/>
                <c:pt idx="0">
                  <c:v>1.6</c:v>
                </c:pt>
                <c:pt idx="1">
                  <c:v>1.595</c:v>
                </c:pt>
                <c:pt idx="2">
                  <c:v>1.5888372093023255</c:v>
                </c:pt>
                <c:pt idx="3">
                  <c:v>1.5810526315789475</c:v>
                </c:pt>
                <c:pt idx="4">
                  <c:v>1.570909090909091</c:v>
                </c:pt>
                <c:pt idx="5">
                  <c:v>1.5571428571428572</c:v>
                </c:pt>
                <c:pt idx="6">
                  <c:v>1.5373913043478262</c:v>
                </c:pt>
                <c:pt idx="7">
                  <c:v>1.5066666666666668</c:v>
                </c:pt>
                <c:pt idx="8">
                  <c:v>1.4523076923076923</c:v>
                </c:pt>
                <c:pt idx="9">
                  <c:v>1.33</c:v>
                </c:pt>
                <c:pt idx="10">
                  <c:v>1.2240000000000004</c:v>
                </c:pt>
                <c:pt idx="11">
                  <c:v>1.0120000000000005</c:v>
                </c:pt>
                <c:pt idx="12">
                  <c:v>0.37600000000000122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0CA-4BF6-AA7F-400A8D2FBEA4}"/>
            </c:ext>
          </c:extLst>
        </c:ser>
        <c:ser>
          <c:idx val="2"/>
          <c:order val="2"/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Sheet2!$B$1:$B$14</c:f>
              <c:numCache>
                <c:formatCode>General</c:formatCode>
                <c:ptCount val="14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0.47</c:v>
                </c:pt>
                <c:pt idx="11">
                  <c:v>0.49</c:v>
                </c:pt>
                <c:pt idx="12">
                  <c:v>0.51</c:v>
                </c:pt>
                <c:pt idx="13">
                  <c:v>0.53</c:v>
                </c:pt>
              </c:numCache>
            </c:numRef>
          </c:xVal>
          <c:yVal>
            <c:numRef>
              <c:f>Sheet2!$E$1:$E$13</c:f>
              <c:numCache>
                <c:formatCode>General</c:formatCode>
                <c:ptCount val="13"/>
                <c:pt idx="0">
                  <c:v>0</c:v>
                </c:pt>
                <c:pt idx="1">
                  <c:v>7.9750000000000001E-2</c:v>
                </c:pt>
                <c:pt idx="2">
                  <c:v>0.15888372093023256</c:v>
                </c:pt>
                <c:pt idx="3">
                  <c:v>0.23715789473684212</c:v>
                </c:pt>
                <c:pt idx="4">
                  <c:v>0.31418181818181823</c:v>
                </c:pt>
                <c:pt idx="5">
                  <c:v>0.38928571428571429</c:v>
                </c:pt>
                <c:pt idx="6">
                  <c:v>0.46121739130434786</c:v>
                </c:pt>
                <c:pt idx="7">
                  <c:v>0.52733333333333332</c:v>
                </c:pt>
                <c:pt idx="8">
                  <c:v>0.58092307692307699</c:v>
                </c:pt>
                <c:pt idx="9">
                  <c:v>0.59850000000000003</c:v>
                </c:pt>
                <c:pt idx="10">
                  <c:v>0.57528000000000012</c:v>
                </c:pt>
                <c:pt idx="11">
                  <c:v>0.49588000000000021</c:v>
                </c:pt>
                <c:pt idx="12">
                  <c:v>0.19176000000000062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30CA-4BF6-AA7F-400A8D2FBE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930191"/>
        <c:axId val="9906479"/>
      </c:scatterChart>
      <c:valAx>
        <c:axId val="99301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b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bn-IN"/>
          </a:p>
        </c:txPr>
        <c:crossAx val="9906479"/>
        <c:crosses val="autoZero"/>
        <c:crossBetween val="midCat"/>
      </c:valAx>
      <c:valAx>
        <c:axId val="9906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/>
                  <a:t>x</a:t>
                </a:r>
                <a:r>
                  <a:rPr lang="en-US" sz="1200" b="1" baseline="-25000"/>
                  <a:t>1</a:t>
                </a:r>
                <a:r>
                  <a:rPr lang="en-US" sz="1200" b="1"/>
                  <a:t>, x</a:t>
                </a:r>
                <a:r>
                  <a:rPr lang="en-US" sz="1200" b="1" baseline="-25000"/>
                  <a:t>2</a:t>
                </a:r>
                <a:r>
                  <a:rPr lang="en-US" sz="1200" b="1"/>
                  <a:t>, Dx</a:t>
                </a:r>
                <a:r>
                  <a:rPr lang="en-US" sz="1200" b="1" baseline="-25000"/>
                  <a:t>1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b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bn-IN"/>
          </a:p>
        </c:txPr>
        <c:crossAx val="993019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bn-I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76B1C-5721-4A40-B6AD-5443D4B36E31}" type="datetimeFigureOut">
              <a:rPr lang="bn-IN" smtClean="0"/>
              <a:t>10-01-24</a:t>
            </a:fld>
            <a:endParaRPr lang="b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E6729-2C25-49B5-8D04-EB3681773F00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783760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26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862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41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10-01-2024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06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10-01-2024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91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10-01-2024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791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10-01-2024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9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10-01-2024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320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10-01-2024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661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86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9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5EB87-604F-4C23-8143-ABDF09FE74D9}" type="datetimeFigureOut">
              <a:rPr lang="en-IN" smtClean="0"/>
              <a:t>10-01-2024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5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0448" y="2919632"/>
            <a:ext cx="6858000" cy="60133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Process Dynamics &amp; Control</a:t>
            </a:r>
          </a:p>
        </p:txBody>
      </p:sp>
    </p:spTree>
    <p:extLst>
      <p:ext uri="{BB962C8B-B14F-4D97-AF65-F5344CB8AC3E}">
        <p14:creationId xmlns:p14="http://schemas.microsoft.com/office/powerpoint/2010/main" val="55216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16181"/>
          </a:xfrm>
        </p:spPr>
        <p:txBody>
          <a:bodyPr/>
          <a:lstStyle/>
          <a:p>
            <a:r>
              <a:rPr lang="en-IN" b="1" dirty="0"/>
              <a:t>Biochemical Reactor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87" y="1382752"/>
            <a:ext cx="5713773" cy="2196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9435" y="1228156"/>
            <a:ext cx="1070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Substrate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9678" y="2352907"/>
            <a:ext cx="958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Cells /</a:t>
            </a:r>
          </a:p>
          <a:p>
            <a:r>
              <a:rPr lang="en-IN" dirty="0"/>
              <a:t>Biomass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7205" y="1683164"/>
            <a:ext cx="602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F, x</a:t>
            </a:r>
            <a:r>
              <a:rPr lang="en-IN" baseline="-25000" dirty="0"/>
              <a:t>2f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5772307" y="2894930"/>
            <a:ext cx="844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F, x</a:t>
            </a:r>
            <a:r>
              <a:rPr lang="en-IN" baseline="-25000" dirty="0"/>
              <a:t>1</a:t>
            </a:r>
            <a:r>
              <a:rPr lang="en-IN" dirty="0"/>
              <a:t>, x</a:t>
            </a:r>
            <a:r>
              <a:rPr lang="en-IN" baseline="-25000" dirty="0"/>
              <a:t>2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554320" y="3542429"/>
            <a:ext cx="56179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  <a:r>
              <a:rPr lang="en-IN" baseline="-25000" dirty="0"/>
              <a:t>1 </a:t>
            </a:r>
            <a:r>
              <a:rPr lang="en-IN" dirty="0"/>
              <a:t> is mass of cells per unit volume in the reactor</a:t>
            </a:r>
          </a:p>
          <a:p>
            <a:r>
              <a:rPr lang="en-IN" baseline="-25000" dirty="0"/>
              <a:t> </a:t>
            </a:r>
            <a:r>
              <a:rPr lang="en-IN" dirty="0"/>
              <a:t>x</a:t>
            </a:r>
            <a:r>
              <a:rPr lang="en-IN" baseline="-25000" dirty="0"/>
              <a:t>2 </a:t>
            </a:r>
            <a:r>
              <a:rPr lang="en-IN" dirty="0"/>
              <a:t> is mass of substrate per unit volume in the reactor</a:t>
            </a:r>
          </a:p>
          <a:p>
            <a:r>
              <a:rPr lang="en-IN" dirty="0"/>
              <a:t>x</a:t>
            </a:r>
            <a:r>
              <a:rPr lang="en-IN" baseline="-25000" dirty="0"/>
              <a:t>2f</a:t>
            </a:r>
            <a:r>
              <a:rPr lang="en-IN" dirty="0"/>
              <a:t> is mass of substrate per unit volume in the feed stream</a:t>
            </a:r>
          </a:p>
          <a:p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1213199" y="4549754"/>
            <a:ext cx="4300189" cy="1973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Assumption: 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Exit Condition = Reactor Condition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Isothermal Reaction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Constant volume,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i.e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</a:t>
            </a:r>
            <a:r>
              <a:rPr lang="en-IN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IN" b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=F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cell/biomass is present in the feed stream.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48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3879"/>
          </a:xfrm>
        </p:spPr>
        <p:txBody>
          <a:bodyPr/>
          <a:lstStyle/>
          <a:p>
            <a:r>
              <a:rPr lang="en-IN" b="1" dirty="0"/>
              <a:t>Biochemical Reactor (Dynamic Model)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959005"/>
                <a:ext cx="7886700" cy="521795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dirty="0"/>
                  <a:t>Dynamic Model</a:t>
                </a:r>
              </a:p>
              <a:p>
                <a:pPr marL="0" indent="0">
                  <a:buNone/>
                </a:pPr>
                <a:r>
                  <a:rPr lang="en-IN" dirty="0"/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sz="2400" b="0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endParaRPr lang="en-I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b="0" dirty="0">
                    <a:ea typeface="Cambria Math" panose="02040503050406030204" pitchFamily="18" charset="0"/>
                  </a:rPr>
                  <a:t>Where yield,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𝑚𝑎𝑠𝑠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𝑜𝑓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𝑐𝑒𝑙𝑙𝑠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𝑝𝑟𝑜𝑑𝑢𝑐𝑒𝑑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𝑚𝑎𝑠𝑠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𝑜𝑓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𝑠𝑢𝑏𝑠𝑟𝑡𝑎𝑡𝑒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𝑐𝑜𝑛𝑠𝑢𝑚𝑒𝑑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IN" b="0" dirty="0">
                    <a:ea typeface="Cambria Math" panose="02040503050406030204" pitchFamily="18" charset="0"/>
                  </a:rPr>
                  <a:t> and </a:t>
                </a:r>
                <a:r>
                  <a:rPr lang="el-GR" b="0" dirty="0">
                    <a:ea typeface="Cambria Math" panose="02040503050406030204" pitchFamily="18" charset="0"/>
                  </a:rPr>
                  <a:t>μ</a:t>
                </a:r>
                <a:r>
                  <a:rPr lang="en-IN" b="0" dirty="0">
                    <a:ea typeface="Cambria Math" panose="02040503050406030204" pitchFamily="18" charset="0"/>
                  </a:rPr>
                  <a:t> is specific growth rate coefficient for cell mass which is not constant but function of substrate concentration. The most common functions are:</a:t>
                </a:r>
              </a:p>
              <a:p>
                <a:pPr marL="0" indent="0">
                  <a:buNone/>
                </a:pPr>
                <a:endParaRPr lang="en-IN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dirty="0">
                    <a:ea typeface="Cambria Math" panose="02040503050406030204" pitchFamily="18" charset="0"/>
                  </a:rPr>
                  <a:t>Monod model:   			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dirty="0">
                    <a:ea typeface="Cambria Math" panose="02040503050406030204" pitchFamily="18" charset="0"/>
                  </a:rPr>
                  <a:t>Substrate inhibition model: 	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59005"/>
                <a:ext cx="7886700" cy="5217958"/>
              </a:xfrm>
              <a:blipFill>
                <a:blip r:embed="rId2"/>
                <a:stretch>
                  <a:fillRect l="-927" t="-1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5206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38484"/>
          </a:xfrm>
        </p:spPr>
        <p:txBody>
          <a:bodyPr/>
          <a:lstStyle/>
          <a:p>
            <a:r>
              <a:rPr lang="en-IN" b="1" dirty="0"/>
              <a:t>Biochemical Reactor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03971"/>
                <a:ext cx="7886700" cy="50729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Steady State equations: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sz="2400" dirty="0">
                    <a:ea typeface="Cambria Math" panose="02040503050406030204" pitchFamily="18" charset="0"/>
                  </a:rPr>
                  <a:t>if,</a:t>
                </a:r>
                <a:r>
                  <a:rPr lang="en-IN" sz="2400" b="1" dirty="0"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ea typeface="Cambria Math" panose="02040503050406030204" pitchFamily="18" charset="0"/>
                  </a:rPr>
                  <a:t>x</a:t>
                </a:r>
                <a:r>
                  <a:rPr lang="en-IN" sz="2400" baseline="-25000" dirty="0">
                    <a:ea typeface="Cambria Math" panose="02040503050406030204" pitchFamily="18" charset="0"/>
                  </a:rPr>
                  <a:t>1</a:t>
                </a:r>
                <a:r>
                  <a:rPr lang="en-IN" sz="2400" dirty="0">
                    <a:ea typeface="Cambria Math" panose="02040503050406030204" pitchFamily="18" charset="0"/>
                  </a:rPr>
                  <a:t> ≠ 0,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endParaRPr lang="en-I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0=</m:t>
                      </m:r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den>
                      </m:f>
                    </m:oMath>
                  </m:oMathPara>
                </a14:m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lang="en-IN" sz="2400" dirty="0"/>
                  <a:t>)</a:t>
                </a:r>
              </a:p>
              <a:p>
                <a:pPr marL="0" indent="0">
                  <a:buNone/>
                </a:pPr>
                <a:r>
                  <a:rPr lang="en-IN" sz="2400" dirty="0"/>
                  <a:t>Dx</a:t>
                </a:r>
                <a:r>
                  <a:rPr lang="en-IN" sz="2400" baseline="-25000" dirty="0"/>
                  <a:t>1</a:t>
                </a:r>
                <a:r>
                  <a:rPr lang="en-IN" sz="2400" dirty="0"/>
                  <a:t> is the rate of cell </a:t>
                </a:r>
              </a:p>
              <a:p>
                <a:pPr marL="0" indent="0">
                  <a:buNone/>
                </a:pPr>
                <a:r>
                  <a:rPr lang="en-IN" sz="2400" dirty="0"/>
                  <a:t>Production per unit reactor</a:t>
                </a:r>
              </a:p>
              <a:p>
                <a:pPr marL="0" indent="0">
                  <a:buNone/>
                </a:pPr>
                <a:r>
                  <a:rPr lang="en-IN" sz="2400" dirty="0"/>
                  <a:t>Volume.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03971"/>
                <a:ext cx="7886700" cy="5072992"/>
              </a:xfrm>
              <a:blipFill>
                <a:blip r:embed="rId2"/>
                <a:stretch>
                  <a:fillRect l="-1159" t="-1322" b="-16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0202139"/>
              </p:ext>
            </p:extLst>
          </p:nvPr>
        </p:nvGraphicFramePr>
        <p:xfrm>
          <a:off x="4270918" y="3127105"/>
          <a:ext cx="4873082" cy="30498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52586" y="4283515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  <a:r>
              <a:rPr lang="en-IN" baseline="-25000" dirty="0"/>
              <a:t>1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7619582" y="5294409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  <a:r>
              <a:rPr lang="en-IN" baseline="-25000" dirty="0"/>
              <a:t>2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943747" y="4925077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Dx</a:t>
            </a:r>
            <a:r>
              <a:rPr lang="en-IN" baseline="-25000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38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60786"/>
          </a:xfrm>
        </p:spPr>
        <p:txBody>
          <a:bodyPr/>
          <a:lstStyle/>
          <a:p>
            <a:r>
              <a:rPr lang="en-IN" b="1" dirty="0"/>
              <a:t>Biochemical Reactor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025913"/>
                <a:ext cx="7886700" cy="51510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dirty="0"/>
                  <a:t>We need to find optimum dilution rate to maximize Dx</a:t>
                </a:r>
                <a:r>
                  <a:rPr lang="en-IN" baseline="-25000" dirty="0"/>
                  <a:t>1</a:t>
                </a:r>
                <a:r>
                  <a:rPr lang="en-IN" dirty="0"/>
                  <a:t>. so,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box>
                            <m:box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den>
                              </m:f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box>
                        </m:num>
                        <m:den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b>
                                  </m:s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Or,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IN" b="0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Adding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IN" b="0" dirty="0"/>
                  <a:t> both sides, we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ad>
                          <m:radPr>
                            <m:degHide m:val="on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IN" b="0" dirty="0"/>
                  <a:t> since D can not be greater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025913"/>
                <a:ext cx="7886700" cy="5151050"/>
              </a:xfrm>
              <a:blipFill>
                <a:blip r:embed="rId2"/>
                <a:stretch>
                  <a:fillRect l="-927" t="-17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23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41209"/>
          </a:xfrm>
        </p:spPr>
        <p:txBody>
          <a:bodyPr>
            <a:normAutofit fontScale="90000"/>
          </a:bodyPr>
          <a:lstStyle/>
          <a:p>
            <a:r>
              <a:rPr lang="en-IN" dirty="0"/>
              <a:t>Non-Isothermal Jacketed CSTR</a:t>
            </a:r>
          </a:p>
        </p:txBody>
      </p:sp>
      <p:pic>
        <p:nvPicPr>
          <p:cNvPr id="7170" name="Picture 2" descr="https://www.rpi.edu/dept/chem-eng/WWW/faculty/bequette/education/links_mods/cstr/fig1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1" y="1008972"/>
            <a:ext cx="3452576" cy="211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288905" y="1033193"/>
                <a:ext cx="4666342" cy="3389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−∆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UA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b="0" i="0" dirty="0">
                  <a:latin typeface="Cambria Math" panose="02040503050406030204" pitchFamily="18" charset="0"/>
                </a:endParaRPr>
              </a:p>
              <a:p>
                <a:pPr/>
                <a:endParaRPr lang="en-I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𝑐𝑖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𝑈𝐴</m:t>
                          </m:r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𝑝𝑐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  <a:p>
                <a:pPr/>
                <a:endParaRPr lang="en-I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𝑅𝑇</m:t>
                              </m:r>
                            </m:den>
                          </m:f>
                        </m:sup>
                      </m:sSup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IN" b="0" dirty="0"/>
              </a:p>
              <a:p>
                <a:r>
                  <a:rPr lang="en-IN" sz="2000" dirty="0"/>
                  <a:t> 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905" y="1033193"/>
                <a:ext cx="4666342" cy="3389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DE56916-7CB5-4609-88B1-1FD0E4B104DB}"/>
                  </a:ext>
                </a:extLst>
              </p:cNvPr>
              <p:cNvSpPr txBox="1"/>
              <p:nvPr/>
            </p:nvSpPr>
            <p:spPr>
              <a:xfrm>
                <a:off x="560916" y="3477773"/>
                <a:ext cx="3452576" cy="944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Data:</a:t>
                </a:r>
              </a:p>
              <a:p>
                <a:r>
                  <a:rPr lang="en-IN" dirty="0"/>
                  <a:t>F/V, hr</a:t>
                </a:r>
                <a:r>
                  <a:rPr lang="en-IN" baseline="30000" dirty="0"/>
                  <a:t>-1</a:t>
                </a:r>
                <a:r>
                  <a:rPr lang="en-IN" dirty="0"/>
                  <a:t> = 1;   E=11843 kcal/</a:t>
                </a:r>
                <a:r>
                  <a:rPr lang="en-IN" dirty="0" err="1"/>
                  <a:t>kgmol</a:t>
                </a:r>
                <a:r>
                  <a:rPr lang="en-IN" dirty="0"/>
                  <a:t>;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IN" dirty="0"/>
                  <a:t>=500; </a:t>
                </a:r>
                <a:r>
                  <a:rPr lang="en-IN" dirty="0" err="1"/>
                  <a:t>T</a:t>
                </a:r>
                <a:r>
                  <a:rPr lang="en-IN" baseline="-25000" dirty="0" err="1"/>
                  <a:t>f</a:t>
                </a:r>
                <a:r>
                  <a:rPr lang="en-IN" dirty="0"/>
                  <a:t> = 25 </a:t>
                </a:r>
                <a:r>
                  <a:rPr lang="en-IN" baseline="30000" dirty="0"/>
                  <a:t>0</a:t>
                </a:r>
                <a:r>
                  <a:rPr lang="en-IN" dirty="0"/>
                  <a:t>C ; </a:t>
                </a:r>
                <a:r>
                  <a:rPr lang="en-IN" dirty="0" err="1"/>
                  <a:t>C</a:t>
                </a:r>
                <a:r>
                  <a:rPr lang="en-IN" baseline="-25000" dirty="0" err="1"/>
                  <a:t>af</a:t>
                </a:r>
                <a:r>
                  <a:rPr lang="en-IN" dirty="0"/>
                  <a:t> = 10,  </a:t>
                </a:r>
                <a:r>
                  <a:rPr lang="en-IN" baseline="30000" dirty="0"/>
                  <a:t> </a:t>
                </a:r>
                <a:endParaRPr lang="bn-IN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DE56916-7CB5-4609-88B1-1FD0E4B10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916" y="3477773"/>
                <a:ext cx="3452576" cy="944746"/>
              </a:xfrm>
              <a:prstGeom prst="rect">
                <a:avLst/>
              </a:prstGeom>
              <a:blipFill>
                <a:blip r:embed="rId4"/>
                <a:stretch>
                  <a:fillRect l="-1413" t="-3896" r="-353" b="-7792"/>
                </a:stretch>
              </a:blipFill>
            </p:spPr>
            <p:txBody>
              <a:bodyPr/>
              <a:lstStyle/>
              <a:p>
                <a:r>
                  <a:rPr lang="b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D8903CB-CFEB-4CEC-BDBD-3BC11E6690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8015018"/>
                  </p:ext>
                </p:extLst>
              </p:nvPr>
            </p:nvGraphicFramePr>
            <p:xfrm>
              <a:off x="719667" y="4764985"/>
              <a:ext cx="3810000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7267">
                      <a:extLst>
                        <a:ext uri="{9D8B030D-6E8A-4147-A177-3AD203B41FA5}">
                          <a16:colId xmlns:a16="http://schemas.microsoft.com/office/drawing/2014/main" val="3611291601"/>
                        </a:ext>
                      </a:extLst>
                    </a:gridCol>
                    <a:gridCol w="1210733">
                      <a:extLst>
                        <a:ext uri="{9D8B030D-6E8A-4147-A177-3AD203B41FA5}">
                          <a16:colId xmlns:a16="http://schemas.microsoft.com/office/drawing/2014/main" val="1529921376"/>
                        </a:ext>
                      </a:extLst>
                    </a:gridCol>
                    <a:gridCol w="1422400">
                      <a:extLst>
                        <a:ext uri="{9D8B030D-6E8A-4147-A177-3AD203B41FA5}">
                          <a16:colId xmlns:a16="http://schemas.microsoft.com/office/drawing/2014/main" val="2739770820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59528728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Case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k</a:t>
                          </a:r>
                          <a:r>
                            <a:rPr lang="en-IN" baseline="-25000" dirty="0"/>
                            <a:t>0</a:t>
                          </a:r>
                          <a:r>
                            <a:rPr lang="en-IN" baseline="0" dirty="0"/>
                            <a:t>, 1/h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−∆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oMath>
                          </a14:m>
                          <a:r>
                            <a:rPr lang="en-IN" dirty="0"/>
                            <a:t>), kcal/</a:t>
                          </a:r>
                          <a:r>
                            <a:rPr lang="en-IN" dirty="0" err="1"/>
                            <a:t>kmol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UA/V</a:t>
                          </a:r>
                          <a:endParaRPr lang="b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6330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14825*3600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5215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250</a:t>
                          </a:r>
                          <a:endParaRPr lang="b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90208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2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9703*3600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5960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150</a:t>
                          </a:r>
                          <a:endParaRPr lang="b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801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3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18194*3600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8195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750</a:t>
                          </a:r>
                          <a:endParaRPr lang="b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90981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D8903CB-CFEB-4CEC-BDBD-3BC11E6690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8015018"/>
                  </p:ext>
                </p:extLst>
              </p:nvPr>
            </p:nvGraphicFramePr>
            <p:xfrm>
              <a:off x="719667" y="4764985"/>
              <a:ext cx="3810000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7267">
                      <a:extLst>
                        <a:ext uri="{9D8B030D-6E8A-4147-A177-3AD203B41FA5}">
                          <a16:colId xmlns:a16="http://schemas.microsoft.com/office/drawing/2014/main" val="3611291601"/>
                        </a:ext>
                      </a:extLst>
                    </a:gridCol>
                    <a:gridCol w="1210733">
                      <a:extLst>
                        <a:ext uri="{9D8B030D-6E8A-4147-A177-3AD203B41FA5}">
                          <a16:colId xmlns:a16="http://schemas.microsoft.com/office/drawing/2014/main" val="1529921376"/>
                        </a:ext>
                      </a:extLst>
                    </a:gridCol>
                    <a:gridCol w="1422400">
                      <a:extLst>
                        <a:ext uri="{9D8B030D-6E8A-4147-A177-3AD203B41FA5}">
                          <a16:colId xmlns:a16="http://schemas.microsoft.com/office/drawing/2014/main" val="2739770820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59528728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Case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k</a:t>
                          </a:r>
                          <a:r>
                            <a:rPr lang="en-IN" baseline="-25000" dirty="0"/>
                            <a:t>0</a:t>
                          </a:r>
                          <a:r>
                            <a:rPr lang="en-IN" baseline="0" dirty="0"/>
                            <a:t>, 1/h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bn-IN"/>
                        </a:p>
                      </a:txBody>
                      <a:tcPr>
                        <a:blipFill>
                          <a:blip r:embed="rId5"/>
                          <a:stretch>
                            <a:fillRect l="-125214" t="-3279" r="-43590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UA/V</a:t>
                          </a:r>
                          <a:endParaRPr lang="b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6330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14825*3600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5215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250</a:t>
                          </a:r>
                          <a:endParaRPr lang="b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90208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2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9703*3600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5960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150</a:t>
                          </a:r>
                          <a:endParaRPr lang="b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801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3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18194*3600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8195</a:t>
                          </a:r>
                          <a:endParaRPr lang="b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750</a:t>
                          </a:r>
                          <a:endParaRPr lang="b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90981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49969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127" y="889361"/>
            <a:ext cx="6683568" cy="5012675"/>
          </a:xfrm>
        </p:spPr>
      </p:pic>
      <p:sp>
        <p:nvSpPr>
          <p:cNvPr id="5" name="TextBox 4"/>
          <p:cNvSpPr txBox="1"/>
          <p:nvPr/>
        </p:nvSpPr>
        <p:spPr>
          <a:xfrm>
            <a:off x="5172364" y="1865745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1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454400" y="1366981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2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382953" y="3457744"/>
            <a:ext cx="2635133" cy="11695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Steady State for case 2</a:t>
            </a:r>
          </a:p>
          <a:p>
            <a:r>
              <a:rPr lang="en-IN" sz="1400" dirty="0"/>
              <a:t>	C</a:t>
            </a:r>
            <a:r>
              <a:rPr lang="en-IN" sz="1400" baseline="-25000" dirty="0"/>
              <a:t>A</a:t>
            </a:r>
            <a:r>
              <a:rPr lang="en-IN" sz="1400" dirty="0"/>
              <a:t>        	T</a:t>
            </a:r>
          </a:p>
          <a:p>
            <a:r>
              <a:rPr lang="en-IN" sz="1400" dirty="0"/>
              <a:t>   1	8.564	311.2</a:t>
            </a:r>
          </a:p>
          <a:p>
            <a:r>
              <a:rPr lang="en-IN" sz="1400" dirty="0"/>
              <a:t>   2 	5.518	339.1</a:t>
            </a:r>
          </a:p>
          <a:p>
            <a:r>
              <a:rPr lang="en-IN" sz="1400" dirty="0"/>
              <a:t>   3	2.359	368.1</a:t>
            </a:r>
          </a:p>
        </p:txBody>
      </p:sp>
    </p:spTree>
    <p:extLst>
      <p:ext uri="{BB962C8B-B14F-4D97-AF65-F5344CB8AC3E}">
        <p14:creationId xmlns:p14="http://schemas.microsoft.com/office/powerpoint/2010/main" val="131918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33" y="1487055"/>
            <a:ext cx="7524267" cy="4428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flipH="1">
            <a:off x="2151608" y="1034473"/>
            <a:ext cx="5366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Steady State Heat Power vs Reactor Temperature</a:t>
            </a:r>
            <a:endParaRPr lang="en-IN" sz="2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955636" y="3999345"/>
            <a:ext cx="0" cy="7296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911599" y="3422072"/>
            <a:ext cx="0" cy="7296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7075055" y="2540001"/>
            <a:ext cx="18472" cy="8820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32364" y="37869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3609913" y="32374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6945745" y="35005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6753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3A253F-F7E9-4407-8CC0-4E11CD8C6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623" y="897467"/>
            <a:ext cx="6818488" cy="511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63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04308"/>
          </a:xfrm>
        </p:spPr>
        <p:txBody>
          <a:bodyPr>
            <a:normAutofit fontScale="90000"/>
          </a:bodyPr>
          <a:lstStyle/>
          <a:p>
            <a:r>
              <a:rPr lang="en-IN" dirty="0"/>
              <a:t>Developing Control Relevant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936702"/>
                <a:ext cx="7886700" cy="5240261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AutoNum type="arabicPeriod"/>
                </a:pPr>
                <a:r>
                  <a:rPr lang="en-IN" dirty="0"/>
                  <a:t>Develop dynamic model from 1</a:t>
                </a:r>
                <a:r>
                  <a:rPr lang="en-IN" baseline="30000" dirty="0"/>
                  <a:t>st</a:t>
                </a:r>
                <a:r>
                  <a:rPr lang="en-IN" dirty="0"/>
                  <a:t> principles </a:t>
                </a:r>
                <a:r>
                  <a:rPr lang="en-IN" dirty="0" err="1"/>
                  <a:t>i.e</a:t>
                </a:r>
                <a:r>
                  <a:rPr lang="en-IN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…(1)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2. Define control objective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…..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IN" b="0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3. Rearrange equation (1) and (2) to get control-affine nonlinear state space form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4. Linearize equation (1) and (2) around nominal values of </a:t>
                </a:r>
                <a:r>
                  <a:rPr lang="en-IN" dirty="0" err="1"/>
                  <a:t>x</a:t>
                </a:r>
                <a:r>
                  <a:rPr lang="en-IN" baseline="-25000" dirty="0" err="1"/>
                  <a:t>s</a:t>
                </a:r>
                <a:r>
                  <a:rPr lang="en-IN" dirty="0"/>
                  <a:t> and u</a:t>
                </a:r>
                <a:r>
                  <a:rPr lang="en-IN" baseline="-25000" dirty="0"/>
                  <a:t>s</a:t>
                </a:r>
                <a:r>
                  <a:rPr lang="en-IN" dirty="0"/>
                  <a:t> and form linear state space equation after subtracting steady state equation f(</a:t>
                </a:r>
                <a:r>
                  <a:rPr lang="en-IN" dirty="0" err="1"/>
                  <a:t>x</a:t>
                </a:r>
                <a:r>
                  <a:rPr lang="en-IN" baseline="-25000" dirty="0" err="1"/>
                  <a:t>s</a:t>
                </a:r>
                <a:r>
                  <a:rPr lang="en-IN" baseline="-25000" dirty="0"/>
                  <a:t>,</a:t>
                </a:r>
                <a:r>
                  <a:rPr lang="en-IN" dirty="0"/>
                  <a:t> u</a:t>
                </a:r>
                <a:r>
                  <a:rPr lang="en-IN" baseline="-25000" dirty="0"/>
                  <a:t>s</a:t>
                </a:r>
                <a:r>
                  <a:rPr lang="en-IN" dirty="0"/>
                  <a:t>) = 0 ; h(</a:t>
                </a:r>
                <a:r>
                  <a:rPr lang="en-IN" dirty="0" err="1"/>
                  <a:t>x</a:t>
                </a:r>
                <a:r>
                  <a:rPr lang="en-IN" baseline="-25000" dirty="0" err="1"/>
                  <a:t>s</a:t>
                </a:r>
                <a:r>
                  <a:rPr lang="en-IN" baseline="-25000" dirty="0"/>
                  <a:t>,</a:t>
                </a:r>
                <a:r>
                  <a:rPr lang="en-IN" dirty="0"/>
                  <a:t> u</a:t>
                </a:r>
                <a:r>
                  <a:rPr lang="en-IN" baseline="-25000" dirty="0"/>
                  <a:t>s</a:t>
                </a:r>
                <a:r>
                  <a:rPr lang="en-IN" dirty="0"/>
                  <a:t>) = 0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𝐵𝑈</m:t>
                      </m:r>
                    </m:oMath>
                  </m:oMathPara>
                </a14:m>
                <a:endParaRPr lang="en-IN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𝐷𝑈</m:t>
                      </m:r>
                    </m:oMath>
                  </m:oMathPara>
                </a14:m>
                <a:endParaRPr lang="en-IN" i="1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36702"/>
                <a:ext cx="7886700" cy="5240261"/>
              </a:xfrm>
              <a:blipFill>
                <a:blip r:embed="rId2"/>
                <a:stretch>
                  <a:fillRect l="-927" t="-1513" r="-14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3440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04308"/>
          </a:xfrm>
        </p:spPr>
        <p:txBody>
          <a:bodyPr>
            <a:normAutofit fontScale="90000"/>
          </a:bodyPr>
          <a:lstStyle/>
          <a:p>
            <a:r>
              <a:rPr lang="en-IN" dirty="0"/>
              <a:t>Developing Control Relevant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936702"/>
                <a:ext cx="7886700" cy="524026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5. Derive transfer function model by taking Laplace transform of linear state space model: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6. Put s=j</a:t>
                </a:r>
                <a:r>
                  <a:rPr lang="el-GR" dirty="0"/>
                  <a:t>ω</a:t>
                </a:r>
                <a:r>
                  <a:rPr lang="en-IN" dirty="0"/>
                  <a:t> and convert Laplace domain model to Frequency Domain transfer function model</a:t>
                </a:r>
              </a:p>
              <a:p>
                <a:pPr marL="0" indent="0">
                  <a:buNone/>
                </a:pPr>
                <a:r>
                  <a:rPr lang="en-IN" dirty="0"/>
                  <a:t> 			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7. Take inversion of Laplace domain transfer function model and get Convolution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M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limLoc m:val="undOvr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nary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τ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36702"/>
                <a:ext cx="7886700" cy="5240261"/>
              </a:xfrm>
              <a:blipFill>
                <a:blip r:embed="rId2"/>
                <a:stretch>
                  <a:fillRect l="-927" r="-2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3735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301084"/>
                <a:ext cx="7886700" cy="587588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𝐵𝑈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𝐷𝑈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Taking Laplace Transform,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𝑠𝑋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𝐴𝑋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𝐵𝑈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𝐶𝑋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𝐷𝑈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Or,</a:t>
                </a:r>
              </a:p>
              <a:p>
                <a:pPr marL="0" indent="0" algn="ctr">
                  <a:buNone/>
                </a:pPr>
                <a:r>
                  <a:rPr lang="en-IN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𝑠𝐼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𝐵𝑈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𝑠𝐼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𝐵𝑈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So,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𝑠𝐼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Normally transfer function model is expressed in terms of process and disturbance transfer function. So, input variables U are partitioned to manipulated M and load/disturbance variable L </a:t>
                </a:r>
                <a:r>
                  <a:rPr lang="en-IN" dirty="0" err="1"/>
                  <a:t>i.e</a:t>
                </a:r>
                <a:r>
                  <a:rPr lang="en-IN" dirty="0"/>
                  <a:t>, U = [M L]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𝑠𝐼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𝑠𝐼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01084"/>
                <a:ext cx="7886700" cy="5875880"/>
              </a:xfrm>
              <a:blipFill>
                <a:blip r:embed="rId2"/>
                <a:stretch>
                  <a:fillRect l="-927" t="-519" r="-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1815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512956"/>
                <a:ext cx="7886700" cy="5664007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Dynamic model: </a:t>
                </a: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   …(1)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…..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Using Taylor series approximation around (</a:t>
                </a:r>
                <a:r>
                  <a:rPr lang="en-IN" dirty="0" err="1"/>
                  <a:t>x</a:t>
                </a:r>
                <a:r>
                  <a:rPr lang="en-IN" baseline="30000" dirty="0" err="1"/>
                  <a:t>s</a:t>
                </a:r>
                <a:r>
                  <a:rPr lang="en-IN" dirty="0"/>
                  <a:t> , u</a:t>
                </a:r>
                <a:r>
                  <a:rPr lang="en-IN" baseline="30000" dirty="0"/>
                  <a:t>s</a:t>
                </a:r>
                <a:r>
                  <a:rPr lang="en-IN" dirty="0"/>
                  <a:t>) and neglecting HOT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,…….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,…..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+. . . . . .+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+. . . . . .+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……</a:t>
                </a:r>
              </a:p>
              <a:p>
                <a:pPr marL="0" indent="0">
                  <a:buNone/>
                </a:pPr>
                <a:r>
                  <a:rPr lang="en-IN" dirty="0"/>
                  <a:t>……</a:t>
                </a:r>
              </a:p>
              <a:p>
                <a:pPr marL="0" indent="0">
                  <a:buNone/>
                </a:pPr>
                <a:r>
                  <a:rPr lang="en-IN" dirty="0"/>
                  <a:t>……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,…….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,…..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+. . . . . .+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+. . . . . .+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512956"/>
                <a:ext cx="7886700" cy="5664007"/>
              </a:xfrm>
              <a:blipFill>
                <a:blip r:embed="rId2"/>
                <a:stretch>
                  <a:fillRect l="-386" t="-13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920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0952" y="457200"/>
                <a:ext cx="7886700" cy="563055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Subtracting the steady state equations, we can write: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I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I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IN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I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 err="1"/>
                  <a:t>i.e</a:t>
                </a:r>
                <a:r>
                  <a:rPr lang="en-IN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𝐵𝑈</m:t>
                      </m:r>
                    </m:oMath>
                  </m:oMathPara>
                </a14:m>
                <a:endParaRPr lang="en-IN" i="1" dirty="0"/>
              </a:p>
              <a:p>
                <a:pPr marL="0" indent="0">
                  <a:buNone/>
                </a:pPr>
                <a:r>
                  <a:rPr lang="en-IN" i="1" dirty="0"/>
                  <a:t>Where,</a:t>
                </a:r>
              </a:p>
              <a:p>
                <a:pPr marL="0" indent="0">
                  <a:buNone/>
                </a:pPr>
                <a:r>
                  <a:rPr lang="en-IN" dirty="0"/>
                  <a:t>A=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IN" i="1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i="1" dirty="0"/>
                  <a:t>  and B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IN" b="0" i="1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i="1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0952" y="457200"/>
                <a:ext cx="7886700" cy="5630553"/>
              </a:xfrm>
              <a:blipFill>
                <a:blip r:embed="rId2"/>
                <a:stretch>
                  <a:fillRect l="-927" t="-11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207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46049"/>
                <a:ext cx="7886700" cy="573091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IN" dirty="0">
                    <a:latin typeface="Cambria Math" panose="02040503050406030204" pitchFamily="18" charset="0"/>
                  </a:rPr>
                  <a:t>Similarly for equation (2),</a:t>
                </a:r>
              </a:p>
              <a:p>
                <a:pPr marL="0" indent="0">
                  <a:buNone/>
                </a:pPr>
                <a:endParaRPr lang="en-I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,…….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,…..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+. . . . . .+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+. . . . . .+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……</a:t>
                </a:r>
              </a:p>
              <a:p>
                <a:pPr marL="0" indent="0">
                  <a:buNone/>
                </a:pPr>
                <a:r>
                  <a:rPr lang="en-IN" dirty="0"/>
                  <a:t>……</a:t>
                </a:r>
              </a:p>
              <a:p>
                <a:pPr marL="0" indent="0">
                  <a:buNone/>
                </a:pPr>
                <a:r>
                  <a:rPr lang="en-IN" dirty="0"/>
                  <a:t>……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,…….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,…..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+. . . . . .+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+. . . . . .+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46049"/>
                <a:ext cx="7886700" cy="5730914"/>
              </a:xfrm>
              <a:blipFill>
                <a:blip r:embed="rId2"/>
                <a:stretch>
                  <a:fillRect l="-696" t="-15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3477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0952" y="457200"/>
                <a:ext cx="7886700" cy="563055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Subtracting the steady state equations, we can write: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I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 err="1"/>
                  <a:t>i.e</a:t>
                </a:r>
                <a:r>
                  <a:rPr lang="en-IN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𝐷𝑈</m:t>
                      </m:r>
                    </m:oMath>
                  </m:oMathPara>
                </a14:m>
                <a:endParaRPr lang="en-IN" i="1" dirty="0"/>
              </a:p>
              <a:p>
                <a:pPr marL="0" indent="0">
                  <a:buNone/>
                </a:pPr>
                <a:r>
                  <a:rPr lang="en-IN" i="1" dirty="0"/>
                  <a:t>Where,</a:t>
                </a:r>
              </a:p>
              <a:p>
                <a:pPr marL="0" indent="0">
                  <a:buNone/>
                </a:pPr>
                <a:r>
                  <a:rPr lang="en-IN" dirty="0"/>
                  <a:t>C=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IN" i="1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i="1" dirty="0"/>
                  <a:t>  and D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IN" b="0" i="1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i="1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0952" y="457200"/>
                <a:ext cx="7886700" cy="5630553"/>
              </a:xfrm>
              <a:blipFill>
                <a:blip r:embed="rId2"/>
                <a:stretch>
                  <a:fillRect l="-927" t="-11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1496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83089"/>
          </a:xfrm>
        </p:spPr>
        <p:txBody>
          <a:bodyPr/>
          <a:lstStyle/>
          <a:p>
            <a:r>
              <a:rPr lang="en-IN" dirty="0"/>
              <a:t>Example: Van De </a:t>
            </a:r>
            <a:r>
              <a:rPr lang="en-IN" dirty="0" err="1"/>
              <a:t>Vusse</a:t>
            </a:r>
            <a:r>
              <a:rPr lang="en-IN" dirty="0"/>
              <a:t> Reactor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048215"/>
                <a:ext cx="7886700" cy="51287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Dynamic Model: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𝐴𝑓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en-IN" dirty="0"/>
                  <a:t>)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en-IN" dirty="0"/>
                  <a:t>)</a:t>
                </a:r>
              </a:p>
              <a:p>
                <a:pPr marL="0" indent="0">
                  <a:buNone/>
                </a:pPr>
                <a:r>
                  <a:rPr lang="en-IN" dirty="0"/>
                  <a:t>Non-linear state space model:</a:t>
                </a:r>
              </a:p>
              <a:p>
                <a:pPr marL="0" indent="0">
                  <a:buNone/>
                </a:pPr>
                <a:r>
                  <a:rPr lang="en-IN" dirty="0"/>
                  <a:t>States are : x</a:t>
                </a:r>
                <a:r>
                  <a:rPr lang="en-IN" baseline="-25000" dirty="0"/>
                  <a:t>1</a:t>
                </a:r>
                <a:r>
                  <a:rPr lang="en-IN" dirty="0"/>
                  <a:t> = C</a:t>
                </a:r>
                <a:r>
                  <a:rPr lang="en-IN" baseline="-25000" dirty="0"/>
                  <a:t>A</a:t>
                </a:r>
                <a:r>
                  <a:rPr lang="en-IN" dirty="0"/>
                  <a:t> , x</a:t>
                </a:r>
                <a:r>
                  <a:rPr lang="en-IN" baseline="-25000" dirty="0"/>
                  <a:t>2</a:t>
                </a:r>
                <a:r>
                  <a:rPr lang="en-IN" dirty="0"/>
                  <a:t> = C</a:t>
                </a:r>
                <a:r>
                  <a:rPr lang="en-IN" baseline="-25000" dirty="0"/>
                  <a:t>B</a:t>
                </a:r>
                <a:r>
                  <a:rPr lang="en-IN" dirty="0"/>
                  <a:t>  input : u = F/V  and output y = C</a:t>
                </a:r>
                <a:r>
                  <a:rPr lang="en-IN" baseline="-25000" dirty="0"/>
                  <a:t>B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State equation: </a:t>
                </a:r>
              </a:p>
              <a:p>
                <a:pPr marL="0" indent="0">
                  <a:buNone/>
                </a:pPr>
                <a:r>
                  <a:rPr lang="en-IN" dirty="0"/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 err="1"/>
                  <a:t>i.e</a:t>
                </a:r>
                <a:r>
                  <a:rPr lang="en-IN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{"/>
                        <m:endChr m:val="}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Output map:		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048215"/>
                <a:ext cx="7886700" cy="5128748"/>
              </a:xfrm>
              <a:blipFill>
                <a:blip r:embed="rId2"/>
                <a:stretch>
                  <a:fillRect l="-927" t="-13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3284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70854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Example: Van De </a:t>
            </a:r>
            <a:r>
              <a:rPr lang="en-IN" dirty="0" err="1"/>
              <a:t>Vusse</a:t>
            </a:r>
            <a:r>
              <a:rPr lang="en-IN" dirty="0"/>
              <a:t> Reactor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735980"/>
                <a:ext cx="7886700" cy="583208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dirty="0"/>
                  <a:t>Linear State Space Model:</a:t>
                </a:r>
              </a:p>
              <a:p>
                <a:pPr marL="0" indent="0">
                  <a:buNone/>
                </a:pPr>
                <a:r>
                  <a:rPr lang="en-IN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m:rPr>
                        <m:nor/>
                      </m:rPr>
                      <a:rPr lang="en-IN" dirty="0"/>
                      <m:t>)</m:t>
                    </m:r>
                    <m:r>
                      <m:rPr>
                        <m:nor/>
                      </m:rPr>
                      <a:rPr lang="en-IN" b="0" i="0" dirty="0" smtClean="0"/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𝐴𝑓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skw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den>
                        </m:f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Let,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 ;  </m:t>
                    </m:r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p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p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den>
                                  </m:f>
                                  <m:r>
                                    <m:rPr>
                                      <m:brk m:alnAt="7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den>
                                  </m:f>
                                  <m:r>
                                    <m:rPr>
                                      <m:brk m:alnAt="7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𝐴𝑓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                           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r>
                  <a:rPr lang="en-IN" dirty="0"/>
                  <a:t>				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𝐴𝑋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𝐵𝑈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					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𝐶𝑋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𝐷𝑈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735980"/>
                <a:ext cx="7886700" cy="5832087"/>
              </a:xfrm>
              <a:blipFill>
                <a:blip r:embed="rId2"/>
                <a:stretch>
                  <a:fillRect l="-927" t="-1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2897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70854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Example: Van De </a:t>
            </a:r>
            <a:r>
              <a:rPr lang="en-IN" dirty="0" err="1"/>
              <a:t>Vusse</a:t>
            </a:r>
            <a:r>
              <a:rPr lang="en-IN" dirty="0"/>
              <a:t> Reactor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735980"/>
                <a:ext cx="8169662" cy="583208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IN" dirty="0"/>
                  <a:t>Transfer Domain Model  -- Laplace Domain: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𝑠𝐼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𝑠𝐼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𝑠𝐼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p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p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𝑠𝐼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𝑑𝑒𝑡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where,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𝑠𝐼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𝑑𝑒𝑡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𝑠𝐼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𝑑𝑒𝑡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735980"/>
                <a:ext cx="8169662" cy="5832087"/>
              </a:xfrm>
              <a:blipFill>
                <a:blip r:embed="rId2"/>
                <a:stretch>
                  <a:fillRect l="-672" t="-10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0157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70854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Example: Van De </a:t>
            </a:r>
            <a:r>
              <a:rPr lang="en-IN" dirty="0" err="1"/>
              <a:t>Vusse</a:t>
            </a:r>
            <a:r>
              <a:rPr lang="en-IN" dirty="0"/>
              <a:t> Reactor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735980"/>
                <a:ext cx="8169662" cy="58320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dirty="0"/>
                  <a:t>Transfer Domain Model  -- Laplace Domain: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𝑠𝐼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𝐴𝑓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f>
                            <m:fPr>
                              <m:type m:val="skw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brk m:alnAt="7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skw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skw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+[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𝐴𝑓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skw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p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brk m:alnAt="7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skw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skw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735980"/>
                <a:ext cx="8169662" cy="5832087"/>
              </a:xfrm>
              <a:blipFill>
                <a:blip r:embed="rId2"/>
                <a:stretch>
                  <a:fillRect l="-896" t="-12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780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1160</TotalTime>
  <Words>1364</Words>
  <Application>Microsoft Office PowerPoint</Application>
  <PresentationFormat>On-screen Show (4:3)</PresentationFormat>
  <Paragraphs>223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Times New Roman</vt:lpstr>
      <vt:lpstr>Vrinda</vt:lpstr>
      <vt:lpstr>Office Theme</vt:lpstr>
      <vt:lpstr>Process Dynamics &amp; Control</vt:lpstr>
      <vt:lpstr>Biochemical Reactor</vt:lpstr>
      <vt:lpstr>Biochemical Reactor (Dynamic Model)</vt:lpstr>
      <vt:lpstr>Biochemical Reactor</vt:lpstr>
      <vt:lpstr>Biochemical Reactor</vt:lpstr>
      <vt:lpstr>Non-Isothermal Jacketed CSTR</vt:lpstr>
      <vt:lpstr>PowerPoint Presentation</vt:lpstr>
      <vt:lpstr>PowerPoint Presentation</vt:lpstr>
      <vt:lpstr>PowerPoint Presentation</vt:lpstr>
      <vt:lpstr>Developing Control Relevant Models</vt:lpstr>
      <vt:lpstr>Developing Control Relevant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Van De Vusse Reactor</vt:lpstr>
      <vt:lpstr>Example: Van De Vusse Reactor</vt:lpstr>
      <vt:lpstr>Example: Van De Vusse Reactor</vt:lpstr>
      <vt:lpstr>Example: Van De Vusse Reactor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Dynamics &amp; Control</dc:title>
  <dc:creator>Amar Samanta</dc:creator>
  <cp:lastModifiedBy>Admin</cp:lastModifiedBy>
  <cp:revision>50</cp:revision>
  <dcterms:created xsi:type="dcterms:W3CDTF">2019-01-01T11:22:05Z</dcterms:created>
  <dcterms:modified xsi:type="dcterms:W3CDTF">2024-01-10T14:44:00Z</dcterms:modified>
</cp:coreProperties>
</file>